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79" autoAdjust="0"/>
    <p:restoredTop sz="94660"/>
  </p:normalViewPr>
  <p:slideViewPr>
    <p:cSldViewPr snapToGrid="0" showGuides="1">
      <p:cViewPr varScale="1">
        <p:scale>
          <a:sx n="60" d="100"/>
          <a:sy n="60" d="100"/>
        </p:scale>
        <p:origin x="38" y="4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simplenumbers.me/" TargetMode="External"/><Relationship Id="rId2" Type="http://schemas.openxmlformats.org/officeDocument/2006/relationships/hyperlink" Target="mailto:Greg.Crabtree@cricpa.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411480" y="1880616"/>
            <a:ext cx="5123688" cy="1124712"/>
          </a:xfrm>
          <a:prstGeom prst="rect">
            <a:avLst/>
          </a:prstGeom>
          <a:solidFill>
            <a:srgbClr val="FFFFFF"/>
          </a:solidFill>
        </p:spPr>
        <p:txBody>
          <a:bodyPr lIns="0" tIns="0" rIns="0" bIns="0">
            <a:noAutofit/>
          </a:bodyPr>
          <a:lstStyle/>
          <a:p>
            <a:pPr marL="0" marR="0" indent="0"/>
            <a:r>
              <a:rPr lang="en-US" sz="3200">
                <a:latin typeface="Calibri"/>
              </a:rPr>
              <a:t>Simple </a:t>
            </a:r>
            <a:r>
              <a:rPr lang="en-US" sz="3200" b="1">
                <a:solidFill>
                  <a:srgbClr val="EF6326"/>
                </a:solidFill>
                <a:latin typeface="Calibri"/>
              </a:rPr>
              <a:t>Numbers</a:t>
            </a:r>
            <a:r>
              <a:rPr lang="en-US" sz="3200">
                <a:latin typeface="Calibri"/>
              </a:rPr>
              <a:t>:</a:t>
            </a:r>
          </a:p>
          <a:p>
            <a:pPr marL="0" marR="0" indent="0"/>
            <a:r>
              <a:rPr lang="en-US" sz="2400">
                <a:latin typeface="Calibri"/>
              </a:rPr>
              <a:t>Rules for Surviving and Thriving in a Crisis</a:t>
            </a:r>
          </a:p>
          <a:p>
            <a:pPr marL="0" marR="0" indent="0">
              <a:lnSpc>
                <a:spcPct val="96000"/>
              </a:lnSpc>
            </a:pPr>
            <a:r>
              <a:rPr lang="en-US" sz="2400">
                <a:latin typeface="Calibri"/>
              </a:rPr>
              <a:t>Developing a Plan on Funding Needs</a:t>
            </a:r>
          </a:p>
        </p:txBody>
      </p:sp>
      <p:sp>
        <p:nvSpPr>
          <p:cNvPr id="3" name="Прямоугольник 2"/>
          <p:cNvSpPr/>
          <p:nvPr/>
        </p:nvSpPr>
        <p:spPr>
          <a:xfrm>
            <a:off x="6653784" y="3099816"/>
            <a:ext cx="777240" cy="97536"/>
          </a:xfrm>
          <a:prstGeom prst="rect">
            <a:avLst/>
          </a:prstGeom>
          <a:solidFill>
            <a:srgbClr val="E26E24"/>
          </a:solidFill>
        </p:spPr>
        <p:txBody>
          <a:bodyPr wrap="none" lIns="0" tIns="0" rIns="0" bIns="0">
            <a:noAutofit/>
          </a:bodyPr>
          <a:lstStyle/>
          <a:p>
            <a:pPr marL="0" marR="0" indent="0" algn="just"/>
            <a:r>
              <a:rPr lang="en-US" sz="400" b="1">
                <a:solidFill>
                  <a:srgbClr val="F29E67"/>
                </a:solidFill>
                <a:latin typeface="Arial"/>
              </a:rPr>
              <a:t>WORD BY </a:t>
            </a:r>
            <a:r>
              <a:rPr lang="en-US" sz="400" b="1">
                <a:solidFill>
                  <a:srgbClr val="F7D8BF"/>
                </a:solidFill>
                <a:latin typeface="Arial"/>
              </a:rPr>
              <a:t>VERNE HA FINISH</a:t>
            </a:r>
          </a:p>
        </p:txBody>
      </p:sp>
      <p:sp>
        <p:nvSpPr>
          <p:cNvPr id="4" name="Прямоугольник 3"/>
          <p:cNvSpPr/>
          <p:nvPr/>
        </p:nvSpPr>
        <p:spPr>
          <a:xfrm>
            <a:off x="929640" y="4175760"/>
            <a:ext cx="2517648" cy="1109472"/>
          </a:xfrm>
          <a:prstGeom prst="rect">
            <a:avLst/>
          </a:prstGeom>
          <a:solidFill>
            <a:srgbClr val="FFFFFF"/>
          </a:solidFill>
        </p:spPr>
        <p:txBody>
          <a:bodyPr lIns="0" tIns="0" rIns="0" bIns="0">
            <a:noAutofit/>
          </a:bodyPr>
          <a:lstStyle/>
          <a:p>
            <a:pPr marL="0" marR="0" indent="0">
              <a:spcAft>
                <a:spcPts val="140"/>
              </a:spcAft>
            </a:pPr>
            <a:r>
              <a:rPr lang="en-US" sz="2000">
                <a:latin typeface="Calibri"/>
              </a:rPr>
              <a:t>Greg Crabtree, CPA</a:t>
            </a:r>
          </a:p>
          <a:p>
            <a:pPr marL="0" marR="0" indent="0">
              <a:lnSpc>
                <a:spcPct val="125000"/>
              </a:lnSpc>
            </a:pPr>
            <a:r>
              <a:rPr lang="en-US" sz="1600">
                <a:latin typeface="Arial"/>
                <a:hlinkClick r:id="rId2"/>
              </a:rPr>
              <a:t>Greg.Crabtree@cricpa.com</a:t>
            </a:r>
            <a:r>
              <a:rPr lang="en-US" sz="1600">
                <a:latin typeface="Arial"/>
              </a:rPr>
              <a:t> </a:t>
            </a:r>
            <a:r>
              <a:rPr lang="en-US" sz="1600" u="sng">
                <a:latin typeface="Arial"/>
                <a:hlinkClick r:id="rId3"/>
              </a:rPr>
              <a:t>www.simplenumbers.me</a:t>
            </a:r>
            <a:r>
              <a:rPr lang="en-US" sz="1600" u="sng">
                <a:latin typeface="Arial"/>
              </a:rPr>
              <a:t> </a:t>
            </a:r>
            <a:r>
              <a:rPr lang="en-US" sz="1600">
                <a:latin typeface="Arial"/>
              </a:rPr>
              <a:t>256-704-0620</a:t>
            </a:r>
          </a:p>
        </p:txBody>
      </p:sp>
      <p:sp>
        <p:nvSpPr>
          <p:cNvPr id="5" name="Прямоугольник 4"/>
          <p:cNvSpPr/>
          <p:nvPr/>
        </p:nvSpPr>
        <p:spPr>
          <a:xfrm>
            <a:off x="6403848" y="3395472"/>
            <a:ext cx="1706880" cy="2435352"/>
          </a:xfrm>
          <a:prstGeom prst="rect">
            <a:avLst/>
          </a:prstGeom>
          <a:solidFill>
            <a:srgbClr val="F47F21"/>
          </a:solidFill>
        </p:spPr>
        <p:txBody>
          <a:bodyPr lIns="0" tIns="0" rIns="0" bIns="0">
            <a:noAutofit/>
          </a:bodyPr>
          <a:lstStyle/>
          <a:p>
            <a:pPr marL="0" marR="0" indent="59944">
              <a:lnSpc>
                <a:spcPct val="77000"/>
              </a:lnSpc>
            </a:pPr>
            <a:r>
              <a:rPr lang="en-US" sz="2375" b="1">
                <a:solidFill>
                  <a:srgbClr val="FFFFFF"/>
                </a:solidFill>
                <a:latin typeface="Arial"/>
              </a:rPr>
              <a:t>SIMPLE NUMBERS, </a:t>
            </a:r>
            <a:r>
              <a:rPr lang="en-US" sz="1250" b="1">
                <a:solidFill>
                  <a:srgbClr val="FDEF07"/>
                </a:solidFill>
                <a:latin typeface="Tahoma"/>
              </a:rPr>
              <a:t>STRAIGHT Till</a:t>
            </a:r>
          </a:p>
          <a:p>
            <a:pPr marL="0" marR="0" indent="0">
              <a:lnSpc>
                <a:spcPct val="115000"/>
              </a:lnSpc>
            </a:pPr>
            <a:r>
              <a:rPr lang="en-US" sz="1950">
                <a:solidFill>
                  <a:srgbClr val="FFFFFF"/>
                </a:solidFill>
                <a:latin typeface="Arial"/>
              </a:rPr>
              <a:t>BIG PROFITS! </a:t>
            </a:r>
            <a:r>
              <a:rPr lang="en-US" sz="1250" b="1">
                <a:solidFill>
                  <a:srgbClr val="FFFFFF"/>
                </a:solidFill>
                <a:latin typeface="Tahoma"/>
              </a:rPr>
              <a:t>GREG CRABTREE</a:t>
            </a: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36448" y="356616"/>
            <a:ext cx="4599432" cy="377952"/>
          </a:xfrm>
          <a:prstGeom prst="rect">
            <a:avLst/>
          </a:prstGeom>
          <a:solidFill>
            <a:srgbClr val="FFFFFF"/>
          </a:solidFill>
        </p:spPr>
        <p:txBody>
          <a:bodyPr wrap="none" lIns="0" tIns="0" rIns="0" bIns="0">
            <a:noAutofit/>
          </a:bodyPr>
          <a:lstStyle/>
          <a:p>
            <a:pPr marL="0" marR="0" indent="0"/>
            <a:r>
              <a:rPr lang="en-US" sz="3600">
                <a:solidFill>
                  <a:srgbClr val="DC5B2B"/>
                </a:solidFill>
                <a:latin typeface="Arial"/>
              </a:rPr>
              <a:t>What Do We Do Now?</a:t>
            </a:r>
          </a:p>
        </p:txBody>
      </p:sp>
      <p:sp>
        <p:nvSpPr>
          <p:cNvPr id="3" name="Прямоугольник 2"/>
          <p:cNvSpPr/>
          <p:nvPr/>
        </p:nvSpPr>
        <p:spPr>
          <a:xfrm>
            <a:off x="829056" y="1499616"/>
            <a:ext cx="2221992" cy="960120"/>
          </a:xfrm>
          <a:prstGeom prst="rect">
            <a:avLst/>
          </a:prstGeom>
          <a:solidFill>
            <a:srgbClr val="DB5B2A"/>
          </a:solidFill>
        </p:spPr>
        <p:txBody>
          <a:bodyPr lIns="0" tIns="0" rIns="0" bIns="0">
            <a:noAutofit/>
          </a:bodyPr>
          <a:lstStyle/>
          <a:p>
            <a:pPr marL="0" marR="0" indent="0" algn="ctr">
              <a:lnSpc>
                <a:spcPct val="89000"/>
              </a:lnSpc>
            </a:pPr>
            <a:r>
              <a:rPr lang="en-US" sz="3800">
                <a:solidFill>
                  <a:srgbClr val="FFFFFF"/>
                </a:solidFill>
                <a:latin typeface="Calibri"/>
              </a:rPr>
              <a:t>Create a 90 Day Plan</a:t>
            </a:r>
          </a:p>
        </p:txBody>
      </p:sp>
      <p:sp>
        <p:nvSpPr>
          <p:cNvPr id="4" name="Прямоугольник 3"/>
          <p:cNvSpPr/>
          <p:nvPr/>
        </p:nvSpPr>
        <p:spPr>
          <a:xfrm>
            <a:off x="3541776" y="1600200"/>
            <a:ext cx="4611624" cy="731520"/>
          </a:xfrm>
          <a:prstGeom prst="rect">
            <a:avLst/>
          </a:prstGeom>
          <a:solidFill>
            <a:srgbClr val="FFFFFF"/>
          </a:solidFill>
        </p:spPr>
        <p:txBody>
          <a:bodyPr lIns="0" tIns="0" rIns="0" bIns="0">
            <a:noAutofit/>
          </a:bodyPr>
          <a:lstStyle/>
          <a:p>
            <a:pPr marL="228160" marR="0" indent="-279400">
              <a:lnSpc>
                <a:spcPct val="89000"/>
              </a:lnSpc>
            </a:pPr>
            <a:r>
              <a:rPr lang="en-US" sz="2800">
                <a:latin typeface="Calibri"/>
              </a:rPr>
              <a:t>• Forecast through the initial 90 days of uncertainty</a:t>
            </a:r>
          </a:p>
        </p:txBody>
      </p:sp>
      <p:sp>
        <p:nvSpPr>
          <p:cNvPr id="5" name="Прямоугольник 4"/>
          <p:cNvSpPr/>
          <p:nvPr/>
        </p:nvSpPr>
        <p:spPr>
          <a:xfrm>
            <a:off x="707136" y="3380232"/>
            <a:ext cx="2465832" cy="960120"/>
          </a:xfrm>
          <a:prstGeom prst="rect">
            <a:avLst/>
          </a:prstGeom>
          <a:solidFill>
            <a:srgbClr val="DB5B2A"/>
          </a:solidFill>
        </p:spPr>
        <p:txBody>
          <a:bodyPr lIns="0" tIns="0" rIns="0" bIns="0">
            <a:noAutofit/>
          </a:bodyPr>
          <a:lstStyle/>
          <a:p>
            <a:pPr marL="0" marR="0" indent="0" algn="ctr">
              <a:lnSpc>
                <a:spcPct val="89000"/>
              </a:lnSpc>
            </a:pPr>
            <a:r>
              <a:rPr lang="en-US" sz="3800">
                <a:solidFill>
                  <a:srgbClr val="FFFFFF"/>
                </a:solidFill>
                <a:latin typeface="Calibri"/>
              </a:rPr>
              <a:t>Create a 180 Day Plan</a:t>
            </a:r>
          </a:p>
        </p:txBody>
      </p:sp>
      <p:sp>
        <p:nvSpPr>
          <p:cNvPr id="6" name="Прямоугольник 5"/>
          <p:cNvSpPr/>
          <p:nvPr/>
        </p:nvSpPr>
        <p:spPr>
          <a:xfrm>
            <a:off x="3541776" y="3285744"/>
            <a:ext cx="4803648" cy="1121664"/>
          </a:xfrm>
          <a:prstGeom prst="rect">
            <a:avLst/>
          </a:prstGeom>
          <a:solidFill>
            <a:srgbClr val="FFFFFF"/>
          </a:solidFill>
        </p:spPr>
        <p:txBody>
          <a:bodyPr lIns="0" tIns="0" rIns="0" bIns="0">
            <a:noAutofit/>
          </a:bodyPr>
          <a:lstStyle/>
          <a:p>
            <a:pPr marL="230700" marR="0" indent="-266700">
              <a:lnSpc>
                <a:spcPct val="89000"/>
              </a:lnSpc>
            </a:pPr>
            <a:r>
              <a:rPr lang="en-US" sz="2800">
                <a:latin typeface="Calibri"/>
              </a:rPr>
              <a:t>• Will consumers immediately return after 90 days? Or slowly scale up?</a:t>
            </a:r>
          </a:p>
        </p:txBody>
      </p:sp>
      <p:sp>
        <p:nvSpPr>
          <p:cNvPr id="7" name="Прямоугольник 6"/>
          <p:cNvSpPr/>
          <p:nvPr/>
        </p:nvSpPr>
        <p:spPr>
          <a:xfrm>
            <a:off x="975360" y="5529072"/>
            <a:ext cx="1938528" cy="344424"/>
          </a:xfrm>
          <a:prstGeom prst="rect">
            <a:avLst/>
          </a:prstGeom>
          <a:solidFill>
            <a:srgbClr val="DB5B2A"/>
          </a:solidFill>
        </p:spPr>
        <p:txBody>
          <a:bodyPr wrap="none" lIns="0" tIns="0" rIns="0" bIns="0">
            <a:noAutofit/>
          </a:bodyPr>
          <a:lstStyle/>
          <a:p>
            <a:pPr marL="0" marR="0" indent="0"/>
            <a:r>
              <a:rPr lang="en-US" sz="3800">
                <a:solidFill>
                  <a:srgbClr val="FFFFFF"/>
                </a:solidFill>
                <a:latin typeface="Calibri"/>
              </a:rPr>
              <a:t>EVALUATE</a:t>
            </a:r>
          </a:p>
        </p:txBody>
      </p:sp>
      <p:sp>
        <p:nvSpPr>
          <p:cNvPr id="8" name="Прямоугольник 7"/>
          <p:cNvSpPr/>
          <p:nvPr/>
        </p:nvSpPr>
        <p:spPr>
          <a:xfrm>
            <a:off x="3541776" y="5166360"/>
            <a:ext cx="4709160" cy="1060704"/>
          </a:xfrm>
          <a:prstGeom prst="rect">
            <a:avLst/>
          </a:prstGeom>
          <a:solidFill>
            <a:srgbClr val="FFFFFF"/>
          </a:solidFill>
        </p:spPr>
        <p:txBody>
          <a:bodyPr lIns="0" tIns="0" rIns="0" bIns="0">
            <a:noAutofit/>
          </a:bodyPr>
          <a:lstStyle/>
          <a:p>
            <a:pPr marL="228160" marR="0" indent="-279400">
              <a:lnSpc>
                <a:spcPct val="89000"/>
              </a:lnSpc>
            </a:pPr>
            <a:r>
              <a:rPr lang="en-US" sz="2800">
                <a:latin typeface="Calibri"/>
              </a:rPr>
              <a:t>• Evaluate cash required. Is it readily available? Will we need to borrow? Is it worth it?</a:t>
            </a:r>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1618488" y="326136"/>
            <a:ext cx="5888736" cy="518160"/>
          </a:xfrm>
          <a:prstGeom prst="rect">
            <a:avLst/>
          </a:prstGeom>
          <a:solidFill>
            <a:srgbClr val="FFFFFF"/>
          </a:solidFill>
        </p:spPr>
        <p:txBody>
          <a:bodyPr wrap="none" lIns="0" tIns="0" rIns="0" bIns="0">
            <a:noAutofit/>
          </a:bodyPr>
          <a:lstStyle/>
          <a:p>
            <a:pPr marL="0" marR="0" indent="0" algn="ctr">
              <a:spcBef>
                <a:spcPts val="420"/>
              </a:spcBef>
            </a:pPr>
            <a:r>
              <a:rPr lang="en-US" sz="4400">
                <a:latin typeface="Calibri"/>
              </a:rPr>
              <a:t>Art of Forecasting in Crisis</a:t>
            </a:r>
          </a:p>
        </p:txBody>
      </p:sp>
      <p:sp>
        <p:nvSpPr>
          <p:cNvPr id="3" name="Прямоугольник 2"/>
          <p:cNvSpPr/>
          <p:nvPr/>
        </p:nvSpPr>
        <p:spPr>
          <a:xfrm>
            <a:off x="694944" y="1152144"/>
            <a:ext cx="2718816" cy="207264"/>
          </a:xfrm>
          <a:prstGeom prst="rect">
            <a:avLst/>
          </a:prstGeom>
          <a:solidFill>
            <a:srgbClr val="C0504E"/>
          </a:solidFill>
        </p:spPr>
        <p:txBody>
          <a:bodyPr wrap="none" lIns="0" tIns="0" rIns="0" bIns="0">
            <a:noAutofit/>
          </a:bodyPr>
          <a:lstStyle/>
          <a:p>
            <a:pPr marL="0" marR="0" indent="0"/>
            <a:r>
              <a:rPr lang="en-US" sz="1200">
                <a:solidFill>
                  <a:srgbClr val="FFFFFF"/>
                </a:solidFill>
                <a:latin typeface="Tahoma"/>
              </a:rPr>
              <a:t>Plan out monthly gross margin first</a:t>
            </a:r>
          </a:p>
        </p:txBody>
      </p:sp>
      <p:sp>
        <p:nvSpPr>
          <p:cNvPr id="4" name="Прямоугольник 3"/>
          <p:cNvSpPr/>
          <p:nvPr/>
        </p:nvSpPr>
        <p:spPr>
          <a:xfrm>
            <a:off x="1155192" y="1956816"/>
            <a:ext cx="4733544" cy="414528"/>
          </a:xfrm>
          <a:prstGeom prst="rect">
            <a:avLst/>
          </a:prstGeom>
          <a:solidFill>
            <a:srgbClr val="BF774F"/>
          </a:solidFill>
        </p:spPr>
        <p:txBody>
          <a:bodyPr lIns="0" tIns="0" rIns="0" bIns="0">
            <a:noAutofit/>
          </a:bodyPr>
          <a:lstStyle/>
          <a:p>
            <a:pPr marL="0" marR="0" indent="0">
              <a:lnSpc>
                <a:spcPct val="115000"/>
              </a:lnSpc>
            </a:pPr>
            <a:r>
              <a:rPr lang="en-US" sz="1200">
                <a:solidFill>
                  <a:srgbClr val="FFFFFF"/>
                </a:solidFill>
                <a:latin typeface="Tahoma"/>
              </a:rPr>
              <a:t>Look a non-labor expenses second to see what can be turned off or delayed</a:t>
            </a:r>
          </a:p>
        </p:txBody>
      </p:sp>
      <p:sp>
        <p:nvSpPr>
          <p:cNvPr id="5" name="Прямоугольник 4"/>
          <p:cNvSpPr/>
          <p:nvPr/>
        </p:nvSpPr>
        <p:spPr>
          <a:xfrm>
            <a:off x="1600200" y="3325368"/>
            <a:ext cx="3730752" cy="204216"/>
          </a:xfrm>
          <a:prstGeom prst="rect">
            <a:avLst/>
          </a:prstGeom>
          <a:solidFill>
            <a:srgbClr val="BD9B53"/>
          </a:solidFill>
        </p:spPr>
        <p:txBody>
          <a:bodyPr wrap="none" lIns="0" tIns="0" rIns="0" bIns="0">
            <a:noAutofit/>
          </a:bodyPr>
          <a:lstStyle/>
          <a:p>
            <a:pPr marL="0" marR="0" indent="0"/>
            <a:r>
              <a:rPr lang="en-US" sz="1200">
                <a:solidFill>
                  <a:srgbClr val="FFFFFF"/>
                </a:solidFill>
                <a:latin typeface="Tahoma"/>
              </a:rPr>
              <a:t>Look a direct labor to what is needed to operate</a:t>
            </a:r>
          </a:p>
        </p:txBody>
      </p:sp>
      <p:sp>
        <p:nvSpPr>
          <p:cNvPr id="6" name="Прямоугольник 5"/>
          <p:cNvSpPr/>
          <p:nvPr/>
        </p:nvSpPr>
        <p:spPr>
          <a:xfrm>
            <a:off x="2057400" y="4270248"/>
            <a:ext cx="2410968" cy="204216"/>
          </a:xfrm>
          <a:prstGeom prst="rect">
            <a:avLst/>
          </a:prstGeom>
          <a:solidFill>
            <a:srgbClr val="BBBC56"/>
          </a:solidFill>
        </p:spPr>
        <p:txBody>
          <a:bodyPr wrap="none" lIns="0" tIns="0" rIns="0" bIns="0">
            <a:noAutofit/>
          </a:bodyPr>
          <a:lstStyle/>
          <a:p>
            <a:pPr marL="0" marR="0" indent="0"/>
            <a:r>
              <a:rPr lang="en-US" sz="1200">
                <a:solidFill>
                  <a:srgbClr val="FFFFFF"/>
                </a:solidFill>
                <a:latin typeface="Tahoma"/>
              </a:rPr>
              <a:t>Look at management labor last</a:t>
            </a:r>
          </a:p>
        </p:txBody>
      </p:sp>
      <p:sp>
        <p:nvSpPr>
          <p:cNvPr id="7" name="Прямоугольник 6"/>
          <p:cNvSpPr/>
          <p:nvPr/>
        </p:nvSpPr>
        <p:spPr>
          <a:xfrm>
            <a:off x="2520696" y="5562600"/>
            <a:ext cx="4773168" cy="621792"/>
          </a:xfrm>
          <a:prstGeom prst="rect">
            <a:avLst/>
          </a:prstGeom>
          <a:solidFill>
            <a:srgbClr val="9BBB58"/>
          </a:solidFill>
        </p:spPr>
        <p:txBody>
          <a:bodyPr lIns="0" tIns="0" rIns="0" bIns="0">
            <a:noAutofit/>
          </a:bodyPr>
          <a:lstStyle/>
          <a:p>
            <a:pPr marL="0" marR="0" indent="0">
              <a:lnSpc>
                <a:spcPct val="115000"/>
              </a:lnSpc>
            </a:pPr>
            <a:r>
              <a:rPr lang="en-US" sz="1200">
                <a:solidFill>
                  <a:srgbClr val="FFFFFF"/>
                </a:solidFill>
                <a:latin typeface="Tahoma"/>
              </a:rPr>
              <a:t>Evaluate resources and runway consider cash, access to debt or disaster loan assistance and then decide if you can support more labor at full or reduce pay or if you have to cut faster.</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60832" y="411480"/>
            <a:ext cx="7839456" cy="5757672"/>
          </a:xfrm>
          <a:prstGeom prst="rect">
            <a:avLst/>
          </a:prstGeom>
          <a:solidFill>
            <a:srgbClr val="FFFFFF"/>
          </a:solidFill>
        </p:spPr>
        <p:txBody>
          <a:bodyPr lIns="0" tIns="0" rIns="0" bIns="0">
            <a:noAutofit/>
          </a:bodyPr>
          <a:lstStyle/>
          <a:p>
            <a:pPr marL="0" marR="0" indent="0">
              <a:spcAft>
                <a:spcPts val="1190"/>
              </a:spcAft>
            </a:pPr>
            <a:r>
              <a:rPr lang="en-US" sz="3600">
                <a:solidFill>
                  <a:srgbClr val="DC5B2B"/>
                </a:solidFill>
                <a:latin typeface="Arial"/>
              </a:rPr>
              <a:t>Profit is Different than Cash Flow</a:t>
            </a:r>
          </a:p>
          <a:p>
            <a:pPr marL="294708" marR="0" indent="-342900" defTabSz="629988">
              <a:spcAft>
                <a:spcPts val="280"/>
              </a:spcAft>
              <a:tabLst>
                <a:tab pos="629988" algn="l"/>
              </a:tabLst>
            </a:pPr>
            <a:r>
              <a:rPr lang="en-US" sz="1950">
                <a:solidFill>
                  <a:srgbClr val="DC5B2B"/>
                </a:solidFill>
                <a:latin typeface="Arial"/>
              </a:rPr>
              <a:t>■</a:t>
            </a:r>
            <a:r>
              <a:rPr lang="en-US" sz="2800">
                <a:latin typeface="Arial"/>
              </a:rPr>
              <a:t>	Every business model has a distinct profit and cash flow signature</a:t>
            </a:r>
          </a:p>
          <a:p>
            <a:pPr marL="294708" marR="0" indent="-342900" defTabSz="629988">
              <a:spcAft>
                <a:spcPts val="280"/>
              </a:spcAft>
              <a:tabLst>
                <a:tab pos="629988" algn="l"/>
              </a:tabLst>
            </a:pPr>
            <a:r>
              <a:rPr lang="en-US" sz="1950">
                <a:solidFill>
                  <a:srgbClr val="DC5B2B"/>
                </a:solidFill>
                <a:latin typeface="Arial"/>
              </a:rPr>
              <a:t>■</a:t>
            </a:r>
            <a:r>
              <a:rPr lang="en-US" sz="2800">
                <a:latin typeface="Arial"/>
              </a:rPr>
              <a:t>	In a time of crisis, you need a keen understanding of when profit turns into cash</a:t>
            </a:r>
          </a:p>
          <a:p>
            <a:pPr marL="0" marR="0" indent="0" defTabSz="335280">
              <a:lnSpc>
                <a:spcPct val="105000"/>
              </a:lnSpc>
              <a:spcAft>
                <a:spcPts val="280"/>
              </a:spcAft>
              <a:tabLst>
                <a:tab pos="335280" algn="l"/>
              </a:tabLst>
            </a:pPr>
            <a:r>
              <a:rPr lang="en-US" sz="1950">
                <a:solidFill>
                  <a:srgbClr val="DC5B2B"/>
                </a:solidFill>
                <a:latin typeface="Arial"/>
              </a:rPr>
              <a:t>■</a:t>
            </a:r>
            <a:r>
              <a:rPr lang="en-US" sz="2800">
                <a:latin typeface="Arial"/>
              </a:rPr>
              <a:t>	Expect disruption of normal terms</a:t>
            </a:r>
          </a:p>
          <a:p>
            <a:pPr marL="0" marR="0" indent="330708" defTabSz="335280">
              <a:spcAft>
                <a:spcPts val="280"/>
              </a:spcAft>
              <a:tabLst>
                <a:tab pos="335280" algn="l"/>
              </a:tabLst>
            </a:pPr>
            <a:r>
              <a:rPr lang="en-US" sz="1500">
                <a:solidFill>
                  <a:srgbClr val="DC5B2B"/>
                </a:solidFill>
                <a:latin typeface="Arial"/>
              </a:rPr>
              <a:t>■</a:t>
            </a:r>
            <a:r>
              <a:rPr lang="en-US" sz="2400">
                <a:latin typeface="Arial"/>
              </a:rPr>
              <a:t>	You will get paid slower</a:t>
            </a:r>
          </a:p>
          <a:p>
            <a:pPr marL="0" marR="0" indent="330708" defTabSz="335280">
              <a:spcAft>
                <a:spcPts val="280"/>
              </a:spcAft>
              <a:tabLst>
                <a:tab pos="335280" algn="l"/>
              </a:tabLst>
            </a:pPr>
            <a:r>
              <a:rPr lang="en-US" sz="1500">
                <a:solidFill>
                  <a:srgbClr val="DC5B2B"/>
                </a:solidFill>
                <a:latin typeface="Arial"/>
              </a:rPr>
              <a:t>■</a:t>
            </a:r>
            <a:r>
              <a:rPr lang="en-US" sz="2400">
                <a:latin typeface="Arial"/>
              </a:rPr>
              <a:t>	You may have to pay faster</a:t>
            </a:r>
          </a:p>
          <a:p>
            <a:pPr marL="294708" marR="0" indent="-342900" defTabSz="629988">
              <a:lnSpc>
                <a:spcPct val="105000"/>
              </a:lnSpc>
              <a:spcAft>
                <a:spcPts val="280"/>
              </a:spcAft>
              <a:tabLst>
                <a:tab pos="629988" algn="l"/>
              </a:tabLst>
            </a:pPr>
            <a:r>
              <a:rPr lang="en-US" sz="1950">
                <a:solidFill>
                  <a:srgbClr val="DC5B2B"/>
                </a:solidFill>
                <a:latin typeface="Arial"/>
              </a:rPr>
              <a:t>■</a:t>
            </a:r>
            <a:r>
              <a:rPr lang="en-US" sz="2800">
                <a:latin typeface="Arial"/>
              </a:rPr>
              <a:t>	If you carry Accounts Receivable or Inventory, it will be easier to get loan assistance than a business that does not have those.</a:t>
            </a:r>
          </a:p>
          <a:p>
            <a:pPr marL="0" marR="0" indent="0" defTabSz="335280">
              <a:lnSpc>
                <a:spcPct val="105000"/>
              </a:lnSpc>
              <a:tabLst>
                <a:tab pos="335280" algn="l"/>
              </a:tabLst>
            </a:pPr>
            <a:r>
              <a:rPr lang="en-US" sz="1950">
                <a:solidFill>
                  <a:srgbClr val="DC5B2B"/>
                </a:solidFill>
                <a:latin typeface="Arial"/>
              </a:rPr>
              <a:t>■</a:t>
            </a:r>
            <a:r>
              <a:rPr lang="en-US" sz="2800">
                <a:latin typeface="Arial"/>
              </a:rPr>
              <a:t>	Let’s look a 3 examples</a:t>
            </a:r>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3917659" y="1252727"/>
            <a:ext cx="3071405" cy="618017"/>
          </a:xfrm>
          <a:prstGeom prst="rect">
            <a:avLst/>
          </a:prstGeom>
          <a:solidFill>
            <a:srgbClr val="C0504E"/>
          </a:solidFill>
        </p:spPr>
        <p:txBody>
          <a:bodyPr wrap="none" lIns="0" tIns="0" rIns="0" bIns="0">
            <a:noAutofit/>
          </a:bodyPr>
          <a:lstStyle/>
          <a:p>
            <a:pPr marL="0" marR="0" indent="0"/>
            <a:r>
              <a:rPr lang="en-US" sz="3100" dirty="0">
                <a:solidFill>
                  <a:srgbClr val="FFFFFF"/>
                </a:solidFill>
                <a:latin typeface="Calibri"/>
              </a:rPr>
              <a:t>Do Stuff (Services)</a:t>
            </a:r>
          </a:p>
        </p:txBody>
      </p:sp>
      <p:sp>
        <p:nvSpPr>
          <p:cNvPr id="3" name="Прямоугольник 2"/>
          <p:cNvSpPr/>
          <p:nvPr/>
        </p:nvSpPr>
        <p:spPr>
          <a:xfrm>
            <a:off x="1039367" y="2545080"/>
            <a:ext cx="2341395" cy="1959808"/>
          </a:xfrm>
          <a:prstGeom prst="rect">
            <a:avLst/>
          </a:prstGeom>
          <a:solidFill>
            <a:srgbClr val="808080"/>
          </a:solidFill>
        </p:spPr>
        <p:txBody>
          <a:bodyPr lIns="0" tIns="0" rIns="0" bIns="0">
            <a:noAutofit/>
          </a:bodyPr>
          <a:lstStyle/>
          <a:p>
            <a:pPr marL="0" marR="0" indent="0" algn="ctr">
              <a:lnSpc>
                <a:spcPct val="97000"/>
              </a:lnSpc>
              <a:spcBef>
                <a:spcPts val="7350"/>
              </a:spcBef>
            </a:pPr>
            <a:r>
              <a:rPr lang="en-US" sz="4400" dirty="0">
                <a:solidFill>
                  <a:srgbClr val="FFFFFF"/>
                </a:solidFill>
                <a:latin typeface="Calibri"/>
              </a:rPr>
              <a:t>3 Primary Business Models</a:t>
            </a:r>
          </a:p>
        </p:txBody>
      </p:sp>
      <p:sp>
        <p:nvSpPr>
          <p:cNvPr id="4" name="Прямоугольник 3"/>
          <p:cNvSpPr/>
          <p:nvPr/>
        </p:nvSpPr>
        <p:spPr>
          <a:xfrm>
            <a:off x="3766657" y="2572512"/>
            <a:ext cx="4725071" cy="1959808"/>
          </a:xfrm>
          <a:prstGeom prst="rect">
            <a:avLst/>
          </a:prstGeom>
          <a:solidFill>
            <a:srgbClr val="BF8351"/>
          </a:solidFill>
        </p:spPr>
        <p:txBody>
          <a:bodyPr lIns="0" tIns="0" rIns="0" bIns="0">
            <a:noAutofit/>
          </a:bodyPr>
          <a:lstStyle/>
          <a:p>
            <a:pPr marL="0" marR="0" indent="0">
              <a:spcAft>
                <a:spcPts val="4410"/>
              </a:spcAft>
            </a:pPr>
            <a:r>
              <a:rPr lang="en-US" sz="3100" dirty="0">
                <a:solidFill>
                  <a:srgbClr val="FFFFFF"/>
                </a:solidFill>
                <a:latin typeface="Calibri"/>
              </a:rPr>
              <a:t>Sell Stuff (Product Sales)</a:t>
            </a:r>
          </a:p>
          <a:p>
            <a:pPr marL="0" marR="0" indent="0"/>
            <a:r>
              <a:rPr lang="en-US" sz="3100" dirty="0">
                <a:solidFill>
                  <a:srgbClr val="FFFFFF"/>
                </a:solidFill>
                <a:latin typeface="Calibri"/>
              </a:rPr>
              <a:t>Make Stuff (Manufacturing)</a:t>
            </a:r>
          </a:p>
        </p:txBody>
      </p:sp>
      <p:sp>
        <p:nvSpPr>
          <p:cNvPr id="5" name="Прямоугольник 4"/>
          <p:cNvSpPr/>
          <p:nvPr/>
        </p:nvSpPr>
        <p:spPr>
          <a:xfrm>
            <a:off x="4062984" y="5352288"/>
            <a:ext cx="4517136" cy="804672"/>
          </a:xfrm>
          <a:prstGeom prst="rect">
            <a:avLst/>
          </a:prstGeom>
          <a:solidFill>
            <a:srgbClr val="9BBB58"/>
          </a:solidFill>
        </p:spPr>
        <p:txBody>
          <a:bodyPr lIns="0" tIns="0" rIns="0" bIns="0">
            <a:noAutofit/>
          </a:bodyPr>
          <a:lstStyle/>
          <a:p>
            <a:pPr marL="0" marR="0" indent="0">
              <a:lnSpc>
                <a:spcPct val="88000"/>
              </a:lnSpc>
            </a:pPr>
            <a:r>
              <a:rPr lang="en-US" sz="3100">
                <a:solidFill>
                  <a:srgbClr val="FFFFFF"/>
                </a:solidFill>
                <a:latin typeface="Calibri"/>
              </a:rPr>
              <a:t>All other models are hybrids mixing 2 or more of these.</a:t>
            </a: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nvGraphicFramePr>
        <p:xfrm>
          <a:off x="265176" y="67056"/>
          <a:ext cx="8840216" cy="6636132"/>
        </p:xfrm>
        <a:graphic>
          <a:graphicData uri="http://schemas.openxmlformats.org/drawingml/2006/table">
            <a:tbl>
              <a:tblPr/>
              <a:tblGrid>
                <a:gridCol w="3081528">
                  <a:extLst>
                    <a:ext uri="{9D8B030D-6E8A-4147-A177-3AD203B41FA5}">
                      <a16:colId xmlns:a16="http://schemas.microsoft.com/office/drawing/2014/main" val="20000"/>
                    </a:ext>
                  </a:extLst>
                </a:gridCol>
                <a:gridCol w="1310640">
                  <a:extLst>
                    <a:ext uri="{9D8B030D-6E8A-4147-A177-3AD203B41FA5}">
                      <a16:colId xmlns:a16="http://schemas.microsoft.com/office/drawing/2014/main" val="20001"/>
                    </a:ext>
                  </a:extLst>
                </a:gridCol>
                <a:gridCol w="1411224">
                  <a:extLst>
                    <a:ext uri="{9D8B030D-6E8A-4147-A177-3AD203B41FA5}">
                      <a16:colId xmlns:a16="http://schemas.microsoft.com/office/drawing/2014/main" val="20002"/>
                    </a:ext>
                  </a:extLst>
                </a:gridCol>
                <a:gridCol w="1417320">
                  <a:extLst>
                    <a:ext uri="{9D8B030D-6E8A-4147-A177-3AD203B41FA5}">
                      <a16:colId xmlns:a16="http://schemas.microsoft.com/office/drawing/2014/main" val="20003"/>
                    </a:ext>
                  </a:extLst>
                </a:gridCol>
                <a:gridCol w="1411224">
                  <a:extLst>
                    <a:ext uri="{9D8B030D-6E8A-4147-A177-3AD203B41FA5}">
                      <a16:colId xmlns:a16="http://schemas.microsoft.com/office/drawing/2014/main" val="20004"/>
                    </a:ext>
                  </a:extLst>
                </a:gridCol>
                <a:gridCol w="208280">
                  <a:extLst>
                    <a:ext uri="{9D8B030D-6E8A-4147-A177-3AD203B41FA5}">
                      <a16:colId xmlns:a16="http://schemas.microsoft.com/office/drawing/2014/main" val="20005"/>
                    </a:ext>
                  </a:extLst>
                </a:gridCol>
              </a:tblGrid>
              <a:tr h="198120">
                <a:tc gridSpan="2">
                  <a:txBody>
                    <a:bodyPr/>
                    <a:lstStyle/>
                    <a:p>
                      <a:pPr marL="0" marR="0" indent="0"/>
                      <a:r>
                        <a:rPr lang="en-US" sz="1500" b="1" i="1">
                          <a:latin typeface="Arial"/>
                        </a:rPr>
                        <a:t>Simple Numbers P&amp;L Mode!</a:t>
                      </a:r>
                    </a:p>
                  </a:txBody>
                  <a:tcPr marL="0" marR="0" marT="0" marB="0" anchor="b"/>
                </a:tc>
                <a:tc hMerge="1">
                  <a:txBody>
                    <a:bodyPr/>
                    <a:lstStyle/>
                    <a:p>
                      <a:endParaRPr sz="1000"/>
                    </a:p>
                  </a:txBody>
                  <a:tcPr marL="0" marR="0" marT="0" marB="0"/>
                </a:tc>
                <a:tc rowSpan="2">
                  <a:txBody>
                    <a:bodyPr/>
                    <a:lstStyle/>
                    <a:p>
                      <a:pPr marL="0" marR="0" indent="431800"/>
                      <a:r>
                        <a:rPr lang="en-US" sz="1800">
                          <a:solidFill>
                            <a:srgbClr val="FFFFFF"/>
                          </a:solidFill>
                          <a:latin typeface="Calibri"/>
                        </a:rPr>
                        <a:t>Make</a:t>
                      </a:r>
                    </a:p>
                  </a:txBody>
                  <a:tcPr marL="0" marR="0" marT="0" marB="0" anchor="ctr">
                    <a:solidFill>
                      <a:srgbClr val="01B0F1"/>
                    </a:solidFill>
                  </a:tcPr>
                </a:tc>
                <a:tc rowSpan="2">
                  <a:txBody>
                    <a:bodyPr/>
                    <a:lstStyle/>
                    <a:p>
                      <a:pPr marL="0" marR="0" indent="508000"/>
                      <a:r>
                        <a:rPr lang="en-US" sz="1800">
                          <a:solidFill>
                            <a:srgbClr val="FFFFFF"/>
                          </a:solidFill>
                          <a:latin typeface="Calibri"/>
                        </a:rPr>
                        <a:t>Sell</a:t>
                      </a:r>
                    </a:p>
                  </a:txBody>
                  <a:tcPr marL="0" marR="0" marT="0" marB="0" anchor="ctr">
                    <a:solidFill>
                      <a:srgbClr val="01B0F1"/>
                    </a:solidFill>
                  </a:tcPr>
                </a:tc>
                <a:tc rowSpan="2">
                  <a:txBody>
                    <a:bodyPr/>
                    <a:lstStyle/>
                    <a:p>
                      <a:pPr marL="0" marR="0" indent="520700"/>
                      <a:r>
                        <a:rPr lang="en-US" sz="1800">
                          <a:solidFill>
                            <a:srgbClr val="FFFFFF"/>
                          </a:solidFill>
                          <a:latin typeface="Calibri"/>
                        </a:rPr>
                        <a:t>Do</a:t>
                      </a:r>
                    </a:p>
                  </a:txBody>
                  <a:tcPr marL="0" marR="0" marT="0" marB="0" anchor="ctr">
                    <a:solidFill>
                      <a:srgbClr val="01B0F1"/>
                    </a:solidFill>
                  </a:tcPr>
                </a:tc>
                <a:tc>
                  <a:txBody>
                    <a:bodyPr/>
                    <a:lstStyle/>
                    <a:p>
                      <a:endParaRPr sz="1000"/>
                    </a:p>
                  </a:txBody>
                  <a:tcPr marL="0" marR="0" marT="0" marB="0"/>
                </a:tc>
                <a:extLst>
                  <a:ext uri="{0D108BD9-81ED-4DB2-BD59-A6C34878D82A}">
                    <a16:rowId xmlns:a16="http://schemas.microsoft.com/office/drawing/2014/main" val="10000"/>
                  </a:ext>
                </a:extLst>
              </a:tr>
              <a:tr h="179832">
                <a:tc gridSpan="2">
                  <a:txBody>
                    <a:bodyPr/>
                    <a:lstStyle/>
                    <a:p>
                      <a:endParaRPr sz="900"/>
                    </a:p>
                  </a:txBody>
                  <a:tcPr marL="0" marR="0" marT="0" marB="0">
                    <a:solidFill>
                      <a:srgbClr val="FEFB99"/>
                    </a:solidFill>
                  </a:tcPr>
                </a:tc>
                <a:tc hMerge="1">
                  <a:txBody>
                    <a:bodyPr/>
                    <a:lstStyle/>
                    <a:p>
                      <a:endParaRPr sz="900"/>
                    </a:p>
                  </a:txBody>
                  <a:tcPr marL="0" marR="0" marT="0" marB="0"/>
                </a:tc>
                <a:tc vMerge="1">
                  <a:txBody>
                    <a:bodyPr/>
                    <a:lstStyle/>
                    <a:p>
                      <a:endParaRPr sz="900"/>
                    </a:p>
                  </a:txBody>
                  <a:tcPr marL="0" marR="0" marT="0" marB="0"/>
                </a:tc>
                <a:tc vMerge="1">
                  <a:txBody>
                    <a:bodyPr/>
                    <a:lstStyle/>
                    <a:p>
                      <a:endParaRPr sz="900"/>
                    </a:p>
                  </a:txBody>
                  <a:tcPr marL="0" marR="0" marT="0" marB="0"/>
                </a:tc>
                <a:tc vMerge="1">
                  <a:txBody>
                    <a:bodyPr/>
                    <a:lstStyle/>
                    <a:p>
                      <a:endParaRPr sz="900"/>
                    </a:p>
                  </a:txBody>
                  <a:tcPr marL="0" marR="0" marT="0" marB="0"/>
                </a:tc>
                <a:tc>
                  <a:txBody>
                    <a:bodyPr/>
                    <a:lstStyle/>
                    <a:p>
                      <a:endParaRPr sz="900"/>
                    </a:p>
                  </a:txBody>
                  <a:tcPr marL="0" marR="0" marT="0" marB="0"/>
                </a:tc>
                <a:extLst>
                  <a:ext uri="{0D108BD9-81ED-4DB2-BD59-A6C34878D82A}">
                    <a16:rowId xmlns:a16="http://schemas.microsoft.com/office/drawing/2014/main" val="10001"/>
                  </a:ext>
                </a:extLst>
              </a:tr>
              <a:tr h="173736">
                <a:tc>
                  <a:txBody>
                    <a:bodyPr/>
                    <a:lstStyle/>
                    <a:p>
                      <a:endParaRPr sz="900"/>
                    </a:p>
                  </a:txBody>
                  <a:tcPr marL="0" marR="0" marT="0" marB="0">
                    <a:solidFill>
                      <a:srgbClr val="FEFB99"/>
                    </a:solidFill>
                  </a:tcPr>
                </a:tc>
                <a:tc>
                  <a:txBody>
                    <a:bodyPr/>
                    <a:lstStyle/>
                    <a:p>
                      <a:endParaRPr sz="900"/>
                    </a:p>
                  </a:txBody>
                  <a:tcPr marL="0" marR="0" marT="0" marB="0">
                    <a:solidFill>
                      <a:srgbClr val="FEFB99"/>
                    </a:solidFill>
                  </a:tcPr>
                </a:tc>
                <a:tc gridSpan="3">
                  <a:txBody>
                    <a:bodyPr/>
                    <a:lstStyle/>
                    <a:p>
                      <a:endParaRPr sz="900"/>
                    </a:p>
                  </a:txBody>
                  <a:tcPr marL="0" marR="0" marT="0" marB="0"/>
                </a:tc>
                <a:tc hMerge="1">
                  <a:txBody>
                    <a:bodyPr/>
                    <a:lstStyle/>
                    <a:p>
                      <a:endParaRPr sz="900"/>
                    </a:p>
                  </a:txBody>
                  <a:tcPr marL="0" marR="0" marT="0" marB="0"/>
                </a:tc>
                <a:tc hMerge="1">
                  <a:txBody>
                    <a:bodyPr/>
                    <a:lstStyle/>
                    <a:p>
                      <a:endParaRPr sz="900"/>
                    </a:p>
                  </a:txBody>
                  <a:tcPr marL="0" marR="0" marT="0" marB="0"/>
                </a:tc>
                <a:tc>
                  <a:txBody>
                    <a:bodyPr/>
                    <a:lstStyle/>
                    <a:p>
                      <a:endParaRPr sz="900"/>
                    </a:p>
                  </a:txBody>
                  <a:tcPr marL="0" marR="0" marT="0" marB="0"/>
                </a:tc>
                <a:extLst>
                  <a:ext uri="{0D108BD9-81ED-4DB2-BD59-A6C34878D82A}">
                    <a16:rowId xmlns:a16="http://schemas.microsoft.com/office/drawing/2014/main" val="10002"/>
                  </a:ext>
                </a:extLst>
              </a:tr>
              <a:tr h="173736">
                <a:tc>
                  <a:txBody>
                    <a:bodyPr/>
                    <a:lstStyle/>
                    <a:p>
                      <a:pPr marL="0" marR="0" indent="0"/>
                      <a:r>
                        <a:rPr lang="en-US" sz="1000">
                          <a:latin typeface="Arial"/>
                        </a:rPr>
                        <a:t>Revenue</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0" marR="0" indent="533400"/>
                      <a:r>
                        <a:rPr lang="en-US" sz="1000">
                          <a:solidFill>
                            <a:srgbClr val="221B28"/>
                          </a:solidFill>
                          <a:latin typeface="Arial"/>
                        </a:rPr>
                        <a:t>4.4D0,000</a:t>
                      </a:r>
                    </a:p>
                  </a:txBody>
                  <a:tcPr marL="0" marR="0" marT="0" marB="0" anchor="b"/>
                </a:tc>
                <a:tc>
                  <a:txBody>
                    <a:bodyPr/>
                    <a:lstStyle/>
                    <a:p>
                      <a:pPr marL="0" marR="0" indent="431800" algn="just"/>
                      <a:r>
                        <a:rPr lang="en-US" sz="1000">
                          <a:solidFill>
                            <a:srgbClr val="221B28"/>
                          </a:solidFill>
                          <a:latin typeface="Arial"/>
                        </a:rPr>
                        <a:t>4D,000.ODD</a:t>
                      </a:r>
                    </a:p>
                  </a:txBody>
                  <a:tcPr marL="0" marR="0" marT="0" marB="0" anchor="b"/>
                </a:tc>
                <a:tc>
                  <a:txBody>
                    <a:bodyPr/>
                    <a:lstStyle/>
                    <a:p>
                      <a:pPr marL="0" marR="0" indent="0" algn="r"/>
                      <a:r>
                        <a:rPr lang="en-US" sz="1000">
                          <a:solidFill>
                            <a:srgbClr val="221B28"/>
                          </a:solidFill>
                          <a:latin typeface="Arial"/>
                        </a:rPr>
                        <a:t>ID,000.ODD</a:t>
                      </a:r>
                    </a:p>
                  </a:txBody>
                  <a:tcPr marL="0" marR="0" marT="0" marB="0" anchor="b"/>
                </a:tc>
                <a:tc>
                  <a:txBody>
                    <a:bodyPr/>
                    <a:lstStyle/>
                    <a:p>
                      <a:endParaRPr sz="900"/>
                    </a:p>
                  </a:txBody>
                  <a:tcPr marL="0" marR="0" marT="0" marB="0"/>
                </a:tc>
                <a:extLst>
                  <a:ext uri="{0D108BD9-81ED-4DB2-BD59-A6C34878D82A}">
                    <a16:rowId xmlns:a16="http://schemas.microsoft.com/office/drawing/2014/main" val="10003"/>
                  </a:ext>
                </a:extLst>
              </a:tr>
              <a:tr h="182880">
                <a:tc>
                  <a:txBody>
                    <a:bodyPr/>
                    <a:lstStyle/>
                    <a:p>
                      <a:pPr marL="0" marR="0" indent="0"/>
                      <a:r>
                        <a:rPr lang="en-US" sz="1000">
                          <a:solidFill>
                            <a:srgbClr val="221B28"/>
                          </a:solidFill>
                          <a:latin typeface="Arial"/>
                        </a:rPr>
                        <a:t>Cost of Goods Sold</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0" marR="0" indent="533400" algn="just"/>
                      <a:r>
                        <a:rPr lang="en-US" sz="1000">
                          <a:latin typeface="Arial"/>
                        </a:rPr>
                        <a:t>1</a:t>
                      </a:r>
                      <a:r>
                        <a:rPr lang="en-US" sz="1000">
                          <a:solidFill>
                            <a:srgbClr val="221B28"/>
                          </a:solidFill>
                          <a:latin typeface="Arial"/>
                        </a:rPr>
                        <a:t>.300,000</a:t>
                      </a:r>
                    </a:p>
                  </a:txBody>
                  <a:tcPr marL="0" marR="0" marT="0" marB="0" anchor="b"/>
                </a:tc>
                <a:tc>
                  <a:txBody>
                    <a:bodyPr/>
                    <a:lstStyle/>
                    <a:p>
                      <a:pPr marL="0" marR="0" indent="431800" algn="just"/>
                      <a:r>
                        <a:rPr lang="en-US" sz="1000">
                          <a:solidFill>
                            <a:srgbClr val="221B28"/>
                          </a:solidFill>
                          <a:latin typeface="Arial"/>
                        </a:rPr>
                        <a:t>34,650.0 </a:t>
                      </a:r>
                      <a:r>
                        <a:rPr lang="en-US" sz="1000">
                          <a:solidFill>
                            <a:srgbClr val="052F48"/>
                          </a:solidFill>
                          <a:latin typeface="Arial"/>
                        </a:rPr>
                        <a:t>DD</a:t>
                      </a:r>
                    </a:p>
                  </a:txBody>
                  <a:tcPr marL="0" marR="0" marT="0" marB="0" anchor="b"/>
                </a:tc>
                <a:tc>
                  <a:txBody>
                    <a:bodyPr/>
                    <a:lstStyle/>
                    <a:p>
                      <a:pPr marL="649800" marR="0" indent="0" algn="just"/>
                      <a:r>
                        <a:rPr lang="en-US" sz="1000">
                          <a:solidFill>
                            <a:srgbClr val="221B28"/>
                          </a:solidFill>
                          <a:latin typeface="Arial"/>
                        </a:rPr>
                        <a:t>500,000</a:t>
                      </a:r>
                    </a:p>
                  </a:txBody>
                  <a:tcPr marL="0" marR="0" marT="0" marB="0" anchor="b"/>
                </a:tc>
                <a:tc>
                  <a:txBody>
                    <a:bodyPr/>
                    <a:lstStyle/>
                    <a:p>
                      <a:endParaRPr sz="900"/>
                    </a:p>
                  </a:txBody>
                  <a:tcPr marL="0" marR="0" marT="0" marB="0"/>
                </a:tc>
                <a:extLst>
                  <a:ext uri="{0D108BD9-81ED-4DB2-BD59-A6C34878D82A}">
                    <a16:rowId xmlns:a16="http://schemas.microsoft.com/office/drawing/2014/main" val="10004"/>
                  </a:ext>
                </a:extLst>
              </a:tr>
              <a:tr h="179832">
                <a:tc>
                  <a:txBody>
                    <a:bodyPr/>
                    <a:lstStyle/>
                    <a:p>
                      <a:endParaRPr sz="900"/>
                    </a:p>
                  </a:txBody>
                  <a:tcPr marL="0" marR="0" marT="0" marB="0">
                    <a:solidFill>
                      <a:srgbClr val="FEFB99"/>
                    </a:solidFill>
                  </a:tcPr>
                </a:tc>
                <a:tc>
                  <a:txBody>
                    <a:bodyPr/>
                    <a:lstStyle/>
                    <a:p>
                      <a:endParaRPr sz="900"/>
                    </a:p>
                  </a:txBody>
                  <a:tcPr marL="0" marR="0" marT="0" marB="0">
                    <a:solidFill>
                      <a:srgbClr val="FEFB99"/>
                    </a:solidFill>
                  </a:tcPr>
                </a:tc>
                <a:tc>
                  <a:txBody>
                    <a:bodyPr/>
                    <a:lstStyle/>
                    <a:p>
                      <a:endParaRPr sz="900"/>
                    </a:p>
                  </a:txBody>
                  <a:tcPr marL="0" marR="0" marT="0" marB="0"/>
                </a:tc>
                <a:tc>
                  <a:txBody>
                    <a:bodyPr/>
                    <a:lstStyle/>
                    <a:p>
                      <a:endParaRPr sz="900"/>
                    </a:p>
                  </a:txBody>
                  <a:tcPr marL="0" marR="0" marT="0" marB="0"/>
                </a:tc>
                <a:tc>
                  <a:txBody>
                    <a:bodyPr/>
                    <a:lstStyle/>
                    <a:p>
                      <a:endParaRPr sz="900"/>
                    </a:p>
                  </a:txBody>
                  <a:tcPr marL="0" marR="0" marT="0" marB="0"/>
                </a:tc>
                <a:tc>
                  <a:txBody>
                    <a:bodyPr/>
                    <a:lstStyle/>
                    <a:p>
                      <a:endParaRPr sz="900"/>
                    </a:p>
                  </a:txBody>
                  <a:tcPr marL="0" marR="0" marT="0" marB="0"/>
                </a:tc>
                <a:extLst>
                  <a:ext uri="{0D108BD9-81ED-4DB2-BD59-A6C34878D82A}">
                    <a16:rowId xmlns:a16="http://schemas.microsoft.com/office/drawing/2014/main" val="10005"/>
                  </a:ext>
                </a:extLst>
              </a:tr>
              <a:tr h="173736">
                <a:tc>
                  <a:txBody>
                    <a:bodyPr/>
                    <a:lstStyle/>
                    <a:p>
                      <a:pPr marL="0" marR="0" indent="393700"/>
                      <a:r>
                        <a:rPr lang="en-US" sz="1000" b="1">
                          <a:latin typeface="Arial"/>
                        </a:rPr>
                        <a:t>Gross Margin</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0" marR="0" indent="533400"/>
                      <a:r>
                        <a:rPr lang="en-US" sz="1000">
                          <a:solidFill>
                            <a:srgbClr val="221B28"/>
                          </a:solidFill>
                          <a:latin typeface="Arial"/>
                        </a:rPr>
                        <a:t>2,600,000</a:t>
                      </a:r>
                    </a:p>
                  </a:txBody>
                  <a:tcPr marL="0" marR="0" marT="0" marB="0" anchor="b"/>
                </a:tc>
                <a:tc>
                  <a:txBody>
                    <a:bodyPr/>
                    <a:lstStyle/>
                    <a:p>
                      <a:pPr marL="0" marR="0" indent="508000"/>
                      <a:r>
                        <a:rPr lang="en-US" sz="1000">
                          <a:solidFill>
                            <a:srgbClr val="221B28"/>
                          </a:solidFill>
                          <a:latin typeface="Arial"/>
                        </a:rPr>
                        <a:t>5,350,000</a:t>
                      </a:r>
                    </a:p>
                  </a:txBody>
                  <a:tcPr marL="0" marR="0" marT="0" marB="0" anchor="b"/>
                </a:tc>
                <a:tc>
                  <a:txBody>
                    <a:bodyPr/>
                    <a:lstStyle/>
                    <a:p>
                      <a:pPr marL="0" marR="0" indent="520700"/>
                      <a:r>
                        <a:rPr lang="en-US" sz="1000">
                          <a:solidFill>
                            <a:srgbClr val="221B28"/>
                          </a:solidFill>
                          <a:latin typeface="Arial"/>
                        </a:rPr>
                        <a:t>9,500.000</a:t>
                      </a:r>
                    </a:p>
                  </a:txBody>
                  <a:tcPr marL="0" marR="0" marT="0" marB="0" anchor="b"/>
                </a:tc>
                <a:tc>
                  <a:txBody>
                    <a:bodyPr/>
                    <a:lstStyle/>
                    <a:p>
                      <a:endParaRPr sz="900"/>
                    </a:p>
                  </a:txBody>
                  <a:tcPr marL="0" marR="0" marT="0" marB="0"/>
                </a:tc>
                <a:extLst>
                  <a:ext uri="{0D108BD9-81ED-4DB2-BD59-A6C34878D82A}">
                    <a16:rowId xmlns:a16="http://schemas.microsoft.com/office/drawing/2014/main" val="10006"/>
                  </a:ext>
                </a:extLst>
              </a:tr>
              <a:tr h="173736">
                <a:tc>
                  <a:txBody>
                    <a:bodyPr/>
                    <a:lstStyle/>
                    <a:p>
                      <a:endParaRPr sz="900"/>
                    </a:p>
                  </a:txBody>
                  <a:tcPr marL="0" marR="0" marT="0" marB="0">
                    <a:solidFill>
                      <a:srgbClr val="FEFB99"/>
                    </a:solidFill>
                  </a:tcPr>
                </a:tc>
                <a:tc>
                  <a:txBody>
                    <a:bodyPr/>
                    <a:lstStyle/>
                    <a:p>
                      <a:pPr marL="0" marR="0" indent="0" algn="just"/>
                      <a:r>
                        <a:rPr lang="en-US" sz="1000">
                          <a:solidFill>
                            <a:srgbClr val="221B28"/>
                          </a:solidFill>
                          <a:latin typeface="Arial"/>
                        </a:rPr>
                        <a:t>as </a:t>
                      </a:r>
                      <a:r>
                        <a:rPr lang="en-US" sz="1000">
                          <a:solidFill>
                            <a:srgbClr val="403C3D"/>
                          </a:solidFill>
                          <a:latin typeface="Arial"/>
                        </a:rPr>
                        <a:t>54? </a:t>
                      </a:r>
                      <a:r>
                        <a:rPr lang="en-US" sz="1000">
                          <a:solidFill>
                            <a:srgbClr val="221B28"/>
                          </a:solidFill>
                          <a:latin typeface="Arial"/>
                        </a:rPr>
                        <a:t>to </a:t>
                      </a:r>
                      <a:r>
                        <a:rPr lang="en-US" sz="1000" i="1">
                          <a:solidFill>
                            <a:srgbClr val="221B28"/>
                          </a:solidFill>
                          <a:latin typeface="Arial"/>
                        </a:rPr>
                        <a:t>Sales</a:t>
                      </a:r>
                    </a:p>
                  </a:txBody>
                  <a:tcPr marL="0" marR="0" marT="0" marB="0" anchor="b">
                    <a:solidFill>
                      <a:srgbClr val="FEFB99"/>
                    </a:solidFill>
                  </a:tcPr>
                </a:tc>
                <a:tc>
                  <a:txBody>
                    <a:bodyPr/>
                    <a:lstStyle/>
                    <a:p>
                      <a:pPr marL="726000" marR="0" indent="0"/>
                      <a:r>
                        <a:rPr lang="ru" sz="1000">
                          <a:latin typeface="Arial"/>
                        </a:rPr>
                        <a:t>5Я.О9%</a:t>
                      </a:r>
                    </a:p>
                  </a:txBody>
                  <a:tcPr marL="0" marR="0" marT="0" marB="0" anchor="b">
                    <a:solidFill>
                      <a:srgbClr val="C0C0C0"/>
                    </a:solidFill>
                  </a:tcPr>
                </a:tc>
                <a:tc>
                  <a:txBody>
                    <a:bodyPr/>
                    <a:lstStyle/>
                    <a:p>
                      <a:pPr marL="751400" marR="0" indent="0" algn="just"/>
                      <a:r>
                        <a:rPr lang="en-US" sz="1000" i="1">
                          <a:solidFill>
                            <a:srgbClr val="221B28"/>
                          </a:solidFill>
                          <a:latin typeface="Arial"/>
                        </a:rPr>
                        <a:t>13.38%</a:t>
                      </a:r>
                    </a:p>
                  </a:txBody>
                  <a:tcPr marL="0" marR="0" marT="0" marB="0" anchor="b">
                    <a:solidFill>
                      <a:srgbClr val="C0C0C0"/>
                    </a:solidFill>
                  </a:tcPr>
                </a:tc>
                <a:tc>
                  <a:txBody>
                    <a:bodyPr/>
                    <a:lstStyle/>
                    <a:p>
                      <a:pPr marL="751400" marR="0" indent="0" algn="just"/>
                      <a:r>
                        <a:rPr lang="en-US" sz="1000" i="1">
                          <a:latin typeface="Arial"/>
                        </a:rPr>
                        <a:t>95.00%</a:t>
                      </a:r>
                    </a:p>
                  </a:txBody>
                  <a:tcPr marL="0" marR="0" marT="0" marB="0" anchor="b">
                    <a:solidFill>
                      <a:srgbClr val="C0C0C0"/>
                    </a:solidFill>
                  </a:tcPr>
                </a:tc>
                <a:tc>
                  <a:txBody>
                    <a:bodyPr/>
                    <a:lstStyle/>
                    <a:p>
                      <a:endParaRPr sz="900"/>
                    </a:p>
                  </a:txBody>
                  <a:tcPr marL="0" marR="0" marT="0" marB="0"/>
                </a:tc>
                <a:extLst>
                  <a:ext uri="{0D108BD9-81ED-4DB2-BD59-A6C34878D82A}">
                    <a16:rowId xmlns:a16="http://schemas.microsoft.com/office/drawing/2014/main" val="10007"/>
                  </a:ext>
                </a:extLst>
              </a:tr>
              <a:tr h="176784">
                <a:tc>
                  <a:txBody>
                    <a:bodyPr/>
                    <a:lstStyle/>
                    <a:p>
                      <a:endParaRPr sz="900"/>
                    </a:p>
                  </a:txBody>
                  <a:tcPr marL="0" marR="0" marT="0" marB="0">
                    <a:solidFill>
                      <a:srgbClr val="FEFB99"/>
                    </a:solidFill>
                  </a:tcPr>
                </a:tc>
                <a:tc>
                  <a:txBody>
                    <a:bodyPr/>
                    <a:lstStyle/>
                    <a:p>
                      <a:endParaRPr sz="900"/>
                    </a:p>
                  </a:txBody>
                  <a:tcPr marL="0" marR="0" marT="0" marB="0">
                    <a:solidFill>
                      <a:srgbClr val="FEFB99"/>
                    </a:solidFill>
                  </a:tcPr>
                </a:tc>
                <a:tc>
                  <a:txBody>
                    <a:bodyPr/>
                    <a:lstStyle/>
                    <a:p>
                      <a:endParaRPr sz="900"/>
                    </a:p>
                  </a:txBody>
                  <a:tcPr marL="0" marR="0" marT="0" marB="0"/>
                </a:tc>
                <a:tc>
                  <a:txBody>
                    <a:bodyPr/>
                    <a:lstStyle/>
                    <a:p>
                      <a:endParaRPr sz="900"/>
                    </a:p>
                  </a:txBody>
                  <a:tcPr marL="0" marR="0" marT="0" marB="0"/>
                </a:tc>
                <a:tc>
                  <a:txBody>
                    <a:bodyPr/>
                    <a:lstStyle/>
                    <a:p>
                      <a:endParaRPr sz="900"/>
                    </a:p>
                  </a:txBody>
                  <a:tcPr marL="0" marR="0" marT="0" marB="0"/>
                </a:tc>
                <a:tc>
                  <a:txBody>
                    <a:bodyPr/>
                    <a:lstStyle/>
                    <a:p>
                      <a:endParaRPr sz="900"/>
                    </a:p>
                  </a:txBody>
                  <a:tcPr marL="0" marR="0" marT="0" marB="0"/>
                </a:tc>
                <a:extLst>
                  <a:ext uri="{0D108BD9-81ED-4DB2-BD59-A6C34878D82A}">
                    <a16:rowId xmlns:a16="http://schemas.microsoft.com/office/drawing/2014/main" val="10008"/>
                  </a:ext>
                </a:extLst>
              </a:tr>
              <a:tr h="179832">
                <a:tc>
                  <a:txBody>
                    <a:bodyPr/>
                    <a:lstStyle/>
                    <a:p>
                      <a:pPr marL="0" marR="0" indent="0"/>
                      <a:r>
                        <a:rPr lang="en-US" sz="1000">
                          <a:solidFill>
                            <a:srgbClr val="221B28"/>
                          </a:solidFill>
                          <a:latin typeface="Arial"/>
                        </a:rPr>
                        <a:t>Direct Labor</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637100" marR="0" indent="0" algn="just"/>
                      <a:r>
                        <a:rPr lang="en-US" sz="1000">
                          <a:solidFill>
                            <a:srgbClr val="221B28"/>
                          </a:solidFill>
                          <a:latin typeface="Arial"/>
                        </a:rPr>
                        <a:t>900,000</a:t>
                      </a:r>
                    </a:p>
                  </a:txBody>
                  <a:tcPr marL="0" marR="0" marT="0" marB="0" anchor="b"/>
                </a:tc>
                <a:tc>
                  <a:txBody>
                    <a:bodyPr/>
                    <a:lstStyle/>
                    <a:p>
                      <a:pPr marL="0" marR="0" indent="508000" algn="just"/>
                      <a:r>
                        <a:rPr lang="en-US" sz="1000" i="1">
                          <a:solidFill>
                            <a:srgbClr val="221B28"/>
                          </a:solidFill>
                          <a:latin typeface="Arial"/>
                        </a:rPr>
                        <a:t>1,100,000</a:t>
                      </a:r>
                    </a:p>
                  </a:txBody>
                  <a:tcPr marL="0" marR="0" marT="0" marB="0" anchor="b"/>
                </a:tc>
                <a:tc>
                  <a:txBody>
                    <a:bodyPr/>
                    <a:lstStyle/>
                    <a:p>
                      <a:pPr marL="0" marR="0" indent="520700"/>
                      <a:r>
                        <a:rPr lang="en-US" sz="1000">
                          <a:solidFill>
                            <a:srgbClr val="221B28"/>
                          </a:solidFill>
                          <a:latin typeface="Arial"/>
                        </a:rPr>
                        <a:t>4.750,000</a:t>
                      </a:r>
                    </a:p>
                  </a:txBody>
                  <a:tcPr marL="0" marR="0" marT="0" marB="0" anchor="b"/>
                </a:tc>
                <a:tc>
                  <a:txBody>
                    <a:bodyPr/>
                    <a:lstStyle/>
                    <a:p>
                      <a:endParaRPr sz="900"/>
                    </a:p>
                  </a:txBody>
                  <a:tcPr marL="0" marR="0" marT="0" marB="0"/>
                </a:tc>
                <a:extLst>
                  <a:ext uri="{0D108BD9-81ED-4DB2-BD59-A6C34878D82A}">
                    <a16:rowId xmlns:a16="http://schemas.microsoft.com/office/drawing/2014/main" val="10009"/>
                  </a:ext>
                </a:extLst>
              </a:tr>
              <a:tr h="167640">
                <a:tc>
                  <a:txBody>
                    <a:bodyPr/>
                    <a:lstStyle/>
                    <a:p>
                      <a:endParaRPr sz="800"/>
                    </a:p>
                  </a:txBody>
                  <a:tcPr marL="0" marR="0" marT="0" marB="0">
                    <a:solidFill>
                      <a:srgbClr val="FEFB99"/>
                    </a:solidFill>
                  </a:tcPr>
                </a:tc>
                <a:tc>
                  <a:txBody>
                    <a:bodyPr/>
                    <a:lstStyle/>
                    <a:p>
                      <a:endParaRPr sz="800"/>
                    </a:p>
                  </a:txBody>
                  <a:tcPr marL="0" marR="0" marT="0" marB="0">
                    <a:solidFill>
                      <a:srgbClr val="FEFB99"/>
                    </a:solidFill>
                  </a:tcPr>
                </a:tc>
                <a:tc gridSpan="3">
                  <a:txBody>
                    <a:bodyPr/>
                    <a:lstStyle/>
                    <a:p>
                      <a:endParaRPr sz="800"/>
                    </a:p>
                  </a:txBody>
                  <a:tcPr marL="0" marR="0" marT="0" marB="0"/>
                </a:tc>
                <a:tc hMerge="1">
                  <a:txBody>
                    <a:bodyPr/>
                    <a:lstStyle/>
                    <a:p>
                      <a:endParaRPr sz="800"/>
                    </a:p>
                  </a:txBody>
                  <a:tcPr marL="0" marR="0" marT="0" marB="0"/>
                </a:tc>
                <a:tc hMerge="1">
                  <a:txBody>
                    <a:bodyPr/>
                    <a:lstStyle/>
                    <a:p>
                      <a:endParaRPr sz="800"/>
                    </a:p>
                  </a:txBody>
                  <a:tcPr marL="0" marR="0" marT="0" marB="0"/>
                </a:tc>
                <a:tc>
                  <a:txBody>
                    <a:bodyPr/>
                    <a:lstStyle/>
                    <a:p>
                      <a:endParaRPr sz="800"/>
                    </a:p>
                  </a:txBody>
                  <a:tcPr marL="0" marR="0" marT="0" marB="0"/>
                </a:tc>
                <a:extLst>
                  <a:ext uri="{0D108BD9-81ED-4DB2-BD59-A6C34878D82A}">
                    <a16:rowId xmlns:a16="http://schemas.microsoft.com/office/drawing/2014/main" val="10010"/>
                  </a:ext>
                </a:extLst>
              </a:tr>
              <a:tr h="167640">
                <a:tc>
                  <a:txBody>
                    <a:bodyPr/>
                    <a:lstStyle/>
                    <a:p>
                      <a:pPr marL="0" marR="0" indent="393700"/>
                      <a:r>
                        <a:rPr lang="en-US" sz="1000" b="1">
                          <a:latin typeface="Arial"/>
                        </a:rPr>
                        <a:t>Corrtribution Margin (CM)</a:t>
                      </a:r>
                    </a:p>
                  </a:txBody>
                  <a:tcPr marL="0" marR="0" marT="0" marB="0" anchor="b">
                    <a:solidFill>
                      <a:srgbClr val="FEFB99"/>
                    </a:solidFill>
                  </a:tcPr>
                </a:tc>
                <a:tc>
                  <a:txBody>
                    <a:bodyPr/>
                    <a:lstStyle/>
                    <a:p>
                      <a:endParaRPr sz="800"/>
                    </a:p>
                  </a:txBody>
                  <a:tcPr marL="0" marR="0" marT="0" marB="0">
                    <a:solidFill>
                      <a:srgbClr val="FEFB99"/>
                    </a:solidFill>
                  </a:tcPr>
                </a:tc>
                <a:tc>
                  <a:txBody>
                    <a:bodyPr/>
                    <a:lstStyle/>
                    <a:p>
                      <a:pPr marL="0" marR="0" indent="533400"/>
                      <a:r>
                        <a:rPr lang="en-US" sz="1000">
                          <a:solidFill>
                            <a:srgbClr val="403C3D"/>
                          </a:solidFill>
                          <a:latin typeface="Arial"/>
                        </a:rPr>
                        <a:t>1,700,000</a:t>
                      </a:r>
                    </a:p>
                  </a:txBody>
                  <a:tcPr marL="0" marR="0" marT="0" marB="0" anchor="b"/>
                </a:tc>
                <a:tc>
                  <a:txBody>
                    <a:bodyPr/>
                    <a:lstStyle/>
                    <a:p>
                      <a:pPr marL="0" marR="0" indent="508000"/>
                      <a:r>
                        <a:rPr lang="en-US" sz="1000">
                          <a:solidFill>
                            <a:srgbClr val="221B28"/>
                          </a:solidFill>
                          <a:latin typeface="Arial"/>
                        </a:rPr>
                        <a:t>4.250,000</a:t>
                      </a:r>
                    </a:p>
                  </a:txBody>
                  <a:tcPr marL="0" marR="0" marT="0" marB="0" anchor="b"/>
                </a:tc>
                <a:tc>
                  <a:txBody>
                    <a:bodyPr/>
                    <a:lstStyle/>
                    <a:p>
                      <a:pPr marL="0" marR="0" indent="520700"/>
                      <a:r>
                        <a:rPr lang="en-US" sz="1000">
                          <a:solidFill>
                            <a:srgbClr val="221B28"/>
                          </a:solidFill>
                          <a:latin typeface="Arial"/>
                        </a:rPr>
                        <a:t>4.750,000</a:t>
                      </a:r>
                    </a:p>
                  </a:txBody>
                  <a:tcPr marL="0" marR="0" marT="0" marB="0" anchor="b"/>
                </a:tc>
                <a:tc>
                  <a:txBody>
                    <a:bodyPr/>
                    <a:lstStyle/>
                    <a:p>
                      <a:endParaRPr sz="800"/>
                    </a:p>
                  </a:txBody>
                  <a:tcPr marL="0" marR="0" marT="0" marB="0"/>
                </a:tc>
                <a:extLst>
                  <a:ext uri="{0D108BD9-81ED-4DB2-BD59-A6C34878D82A}">
                    <a16:rowId xmlns:a16="http://schemas.microsoft.com/office/drawing/2014/main" val="10011"/>
                  </a:ext>
                </a:extLst>
              </a:tr>
              <a:tr h="335280">
                <a:tc>
                  <a:txBody>
                    <a:bodyPr/>
                    <a:lstStyle/>
                    <a:p>
                      <a:pPr marL="2123000" marR="0" indent="0"/>
                      <a:r>
                        <a:rPr lang="en-US" sz="1000" i="1">
                          <a:solidFill>
                            <a:srgbClr val="221B28"/>
                          </a:solidFill>
                          <a:latin typeface="Arial"/>
                        </a:rPr>
                        <a:t>dLER (GM</a:t>
                      </a:r>
                      <a:r>
                        <a:rPr lang="en-US" sz="1000" i="1">
                          <a:latin typeface="Arial"/>
                        </a:rPr>
                        <a:t>.</a:t>
                      </a:r>
                    </a:p>
                  </a:txBody>
                  <a:tcPr marL="0" marR="0" marT="0" marB="0" anchor="b">
                    <a:solidFill>
                      <a:srgbClr val="FEFB99"/>
                    </a:solidFill>
                  </a:tcPr>
                </a:tc>
                <a:tc>
                  <a:txBody>
                    <a:bodyPr/>
                    <a:lstStyle/>
                    <a:p>
                      <a:pPr marL="0" marR="0" indent="0" algn="r">
                        <a:lnSpc>
                          <a:spcPct val="115000"/>
                        </a:lnSpc>
                      </a:pPr>
                      <a:r>
                        <a:rPr lang="en-US" sz="1000">
                          <a:solidFill>
                            <a:srgbClr val="221B28"/>
                          </a:solidFill>
                          <a:latin typeface="Arial"/>
                        </a:rPr>
                        <a:t>as </a:t>
                      </a:r>
                      <a:r>
                        <a:rPr lang="en-US" sz="1000">
                          <a:solidFill>
                            <a:srgbClr val="403C3D"/>
                          </a:solidFill>
                          <a:latin typeface="Arial"/>
                        </a:rPr>
                        <a:t>54? </a:t>
                      </a:r>
                      <a:r>
                        <a:rPr lang="en-US" sz="1000">
                          <a:solidFill>
                            <a:srgbClr val="221B28"/>
                          </a:solidFill>
                          <a:latin typeface="Arial"/>
                        </a:rPr>
                        <a:t>to </a:t>
                      </a:r>
                      <a:r>
                        <a:rPr lang="en-US" sz="1000" i="1">
                          <a:solidFill>
                            <a:srgbClr val="221B28"/>
                          </a:solidFill>
                          <a:latin typeface="Arial"/>
                        </a:rPr>
                        <a:t>Sales </a:t>
                      </a:r>
                      <a:r>
                        <a:rPr lang="ru" sz="1000" i="1">
                          <a:solidFill>
                            <a:srgbClr val="403C3D"/>
                          </a:solidFill>
                          <a:latin typeface="Arial"/>
                        </a:rPr>
                        <a:t>/ </a:t>
                      </a:r>
                      <a:r>
                        <a:rPr lang="en-US" sz="1000" i="1">
                          <a:solidFill>
                            <a:srgbClr val="221B28"/>
                          </a:solidFill>
                          <a:latin typeface="Arial"/>
                        </a:rPr>
                        <a:t>Direct Labor)</a:t>
                      </a:r>
                    </a:p>
                  </a:txBody>
                  <a:tcPr marL="0" marR="0" marT="0" marB="0" anchor="b">
                    <a:solidFill>
                      <a:srgbClr val="FEFB99"/>
                    </a:solidFill>
                  </a:tcPr>
                </a:tc>
                <a:tc>
                  <a:txBody>
                    <a:bodyPr/>
                    <a:lstStyle/>
                    <a:p>
                      <a:pPr marL="726000" marR="0" indent="0" algn="just"/>
                      <a:r>
                        <a:rPr lang="en-US" sz="1000">
                          <a:solidFill>
                            <a:srgbClr val="221B28"/>
                          </a:solidFill>
                          <a:latin typeface="Arial"/>
                        </a:rPr>
                        <a:t>38.</a:t>
                      </a:r>
                      <a:r>
                        <a:rPr lang="en-US" sz="1000" i="1">
                          <a:solidFill>
                            <a:srgbClr val="221B28"/>
                          </a:solidFill>
                          <a:latin typeface="Arial"/>
                        </a:rPr>
                        <a:t>64 %</a:t>
                      </a:r>
                    </a:p>
                    <a:p>
                      <a:pPr marL="0" marR="0" indent="0" algn="r"/>
                      <a:r>
                        <a:rPr lang="en-US" sz="1000" i="1">
                          <a:solidFill>
                            <a:srgbClr val="221B28"/>
                          </a:solidFill>
                          <a:latin typeface="Arial"/>
                        </a:rPr>
                        <a:t>2.89</a:t>
                      </a:r>
                    </a:p>
                  </a:txBody>
                  <a:tcPr marL="0" marR="0" marT="0" marB="0" anchor="b">
                    <a:solidFill>
                      <a:srgbClr val="C0C0C0"/>
                    </a:solidFill>
                  </a:tcPr>
                </a:tc>
                <a:tc>
                  <a:txBody>
                    <a:bodyPr/>
                    <a:lstStyle/>
                    <a:p>
                      <a:pPr marL="751400" marR="0" indent="0" algn="just"/>
                      <a:r>
                        <a:rPr lang="en-US" sz="1000" i="1">
                          <a:solidFill>
                            <a:srgbClr val="221B28"/>
                          </a:solidFill>
                          <a:latin typeface="Arial"/>
                        </a:rPr>
                        <a:t>10.63%</a:t>
                      </a:r>
                    </a:p>
                    <a:p>
                      <a:pPr marL="941900" marR="0" indent="0" algn="just"/>
                      <a:r>
                        <a:rPr lang="en-US" sz="1000" i="1">
                          <a:solidFill>
                            <a:srgbClr val="221B28"/>
                          </a:solidFill>
                          <a:latin typeface="Arial"/>
                        </a:rPr>
                        <a:t>4.86</a:t>
                      </a:r>
                    </a:p>
                  </a:txBody>
                  <a:tcPr marL="0" marR="0" marT="0" marB="0" anchor="b">
                    <a:solidFill>
                      <a:srgbClr val="C0C0C0"/>
                    </a:solidFill>
                  </a:tcPr>
                </a:tc>
                <a:tc>
                  <a:txBody>
                    <a:bodyPr/>
                    <a:lstStyle/>
                    <a:p>
                      <a:pPr marL="751400" marR="0" indent="0" algn="just"/>
                      <a:r>
                        <a:rPr lang="en-US" sz="1000" i="1">
                          <a:latin typeface="Arial"/>
                        </a:rPr>
                        <a:t>47.50%</a:t>
                      </a:r>
                    </a:p>
                    <a:p>
                      <a:pPr marL="0" marR="0" indent="0" algn="r"/>
                      <a:r>
                        <a:rPr lang="en-US" sz="1000" i="1">
                          <a:latin typeface="Arial"/>
                        </a:rPr>
                        <a:t>2.00</a:t>
                      </a:r>
                    </a:p>
                  </a:txBody>
                  <a:tcPr marL="0" marR="0" marT="0" marB="0" anchor="b">
                    <a:solidFill>
                      <a:srgbClr val="C0C0C0"/>
                    </a:solidFill>
                  </a:tcPr>
                </a:tc>
                <a:tc>
                  <a:txBody>
                    <a:bodyPr/>
                    <a:lstStyle/>
                    <a:p>
                      <a:endParaRPr sz="1600"/>
                    </a:p>
                  </a:txBody>
                  <a:tcPr marL="0" marR="0" marT="0" marB="0"/>
                </a:tc>
                <a:extLst>
                  <a:ext uri="{0D108BD9-81ED-4DB2-BD59-A6C34878D82A}">
                    <a16:rowId xmlns:a16="http://schemas.microsoft.com/office/drawing/2014/main" val="10012"/>
                  </a:ext>
                </a:extLst>
              </a:tr>
              <a:tr h="164592">
                <a:tc>
                  <a:txBody>
                    <a:bodyPr/>
                    <a:lstStyle/>
                    <a:p>
                      <a:pPr marL="0" marR="0" indent="0"/>
                      <a:r>
                        <a:rPr lang="en-US" sz="1000" b="1">
                          <a:latin typeface="Arial"/>
                        </a:rPr>
                        <a:t>Operating Expenses:</a:t>
                      </a:r>
                    </a:p>
                  </a:txBody>
                  <a:tcPr marL="0" marR="0" marT="0" marB="0" anchor="b">
                    <a:solidFill>
                      <a:srgbClr val="FEFB99"/>
                    </a:solidFill>
                  </a:tcPr>
                </a:tc>
                <a:tc>
                  <a:txBody>
                    <a:bodyPr/>
                    <a:lstStyle/>
                    <a:p>
                      <a:endParaRPr sz="800"/>
                    </a:p>
                  </a:txBody>
                  <a:tcPr marL="0" marR="0" marT="0" marB="0">
                    <a:solidFill>
                      <a:srgbClr val="FEFB99"/>
                    </a:solidFill>
                  </a:tcPr>
                </a:tc>
                <a:tc>
                  <a:txBody>
                    <a:bodyPr/>
                    <a:lstStyle/>
                    <a:p>
                      <a:endParaRPr sz="800"/>
                    </a:p>
                  </a:txBody>
                  <a:tcPr marL="0" marR="0" marT="0" marB="0"/>
                </a:tc>
                <a:tc>
                  <a:txBody>
                    <a:bodyPr/>
                    <a:lstStyle/>
                    <a:p>
                      <a:endParaRPr sz="800"/>
                    </a:p>
                  </a:txBody>
                  <a:tcPr marL="0" marR="0" marT="0" marB="0"/>
                </a:tc>
                <a:tc>
                  <a:txBody>
                    <a:bodyPr/>
                    <a:lstStyle/>
                    <a:p>
                      <a:endParaRPr sz="800"/>
                    </a:p>
                  </a:txBody>
                  <a:tcPr marL="0" marR="0" marT="0" marB="0"/>
                </a:tc>
                <a:tc>
                  <a:txBody>
                    <a:bodyPr/>
                    <a:lstStyle/>
                    <a:p>
                      <a:endParaRPr sz="800"/>
                    </a:p>
                  </a:txBody>
                  <a:tcPr marL="0" marR="0" marT="0" marB="0"/>
                </a:tc>
                <a:extLst>
                  <a:ext uri="{0D108BD9-81ED-4DB2-BD59-A6C34878D82A}">
                    <a16:rowId xmlns:a16="http://schemas.microsoft.com/office/drawing/2014/main" val="10013"/>
                  </a:ext>
                </a:extLst>
              </a:tr>
              <a:tr h="179832">
                <a:tc>
                  <a:txBody>
                    <a:bodyPr/>
                    <a:lstStyle/>
                    <a:p>
                      <a:pPr marL="0" marR="0" indent="203200"/>
                      <a:r>
                        <a:rPr lang="en-US" sz="1000">
                          <a:solidFill>
                            <a:srgbClr val="403C3D"/>
                          </a:solidFill>
                          <a:latin typeface="Arial"/>
                        </a:rPr>
                        <a:t>Facilities</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637100" marR="0" indent="0" algn="just"/>
                      <a:r>
                        <a:rPr lang="en-US" sz="1000">
                          <a:solidFill>
                            <a:srgbClr val="221B28"/>
                          </a:solidFill>
                          <a:latin typeface="Arial"/>
                        </a:rPr>
                        <a:t>240,000</a:t>
                      </a:r>
                    </a:p>
                  </a:txBody>
                  <a:tcPr marL="0" marR="0" marT="0" marB="0" anchor="b"/>
                </a:tc>
                <a:tc>
                  <a:txBody>
                    <a:bodyPr/>
                    <a:lstStyle/>
                    <a:p>
                      <a:pPr marL="637100" marR="0" indent="0" algn="just"/>
                      <a:r>
                        <a:rPr lang="en-US" sz="1000">
                          <a:solidFill>
                            <a:srgbClr val="221B28"/>
                          </a:solidFill>
                          <a:latin typeface="Arial"/>
                        </a:rPr>
                        <a:t>270,000</a:t>
                      </a:r>
                    </a:p>
                  </a:txBody>
                  <a:tcPr marL="0" marR="0" marT="0" marB="0" anchor="b"/>
                </a:tc>
                <a:tc>
                  <a:txBody>
                    <a:bodyPr/>
                    <a:lstStyle/>
                    <a:p>
                      <a:pPr marL="649800" marR="0" indent="0" algn="just"/>
                      <a:r>
                        <a:rPr lang="en-US" sz="1000">
                          <a:solidFill>
                            <a:srgbClr val="221B28"/>
                          </a:solidFill>
                          <a:latin typeface="Arial"/>
                        </a:rPr>
                        <a:t>330,000</a:t>
                      </a:r>
                    </a:p>
                  </a:txBody>
                  <a:tcPr marL="0" marR="0" marT="0" marB="0" anchor="b"/>
                </a:tc>
                <a:tc>
                  <a:txBody>
                    <a:bodyPr/>
                    <a:lstStyle/>
                    <a:p>
                      <a:endParaRPr sz="900"/>
                    </a:p>
                  </a:txBody>
                  <a:tcPr marL="0" marR="0" marT="0" marB="0"/>
                </a:tc>
                <a:extLst>
                  <a:ext uri="{0D108BD9-81ED-4DB2-BD59-A6C34878D82A}">
                    <a16:rowId xmlns:a16="http://schemas.microsoft.com/office/drawing/2014/main" val="10014"/>
                  </a:ext>
                </a:extLst>
              </a:tr>
              <a:tr h="179832">
                <a:tc>
                  <a:txBody>
                    <a:bodyPr/>
                    <a:lstStyle/>
                    <a:p>
                      <a:pPr marL="0" marR="0" indent="203200"/>
                      <a:r>
                        <a:rPr lang="en-US" sz="1000">
                          <a:solidFill>
                            <a:srgbClr val="221B28"/>
                          </a:solidFill>
                          <a:latin typeface="Arial"/>
                        </a:rPr>
                        <a:t>Marketing</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726000" marR="0" indent="0" algn="just"/>
                      <a:r>
                        <a:rPr lang="en-US" sz="1000">
                          <a:solidFill>
                            <a:srgbClr val="221B28"/>
                          </a:solidFill>
                          <a:latin typeface="Arial"/>
                        </a:rPr>
                        <a:t>36, DOO</a:t>
                      </a:r>
                    </a:p>
                  </a:txBody>
                  <a:tcPr marL="0" marR="0" marT="0" marB="0" anchor="b"/>
                </a:tc>
                <a:tc>
                  <a:txBody>
                    <a:bodyPr/>
                    <a:lstStyle/>
                    <a:p>
                      <a:pPr marL="637100" marR="0" indent="0" algn="just"/>
                      <a:r>
                        <a:rPr lang="en-US" sz="1000">
                          <a:solidFill>
                            <a:srgbClr val="221B28"/>
                          </a:solidFill>
                          <a:latin typeface="Arial"/>
                        </a:rPr>
                        <a:t>130,000</a:t>
                      </a:r>
                    </a:p>
                  </a:txBody>
                  <a:tcPr marL="0" marR="0" marT="0" marB="0" anchor="b"/>
                </a:tc>
                <a:tc>
                  <a:txBody>
                    <a:bodyPr/>
                    <a:lstStyle/>
                    <a:p>
                      <a:pPr marL="649800" marR="0" indent="0" algn="just"/>
                      <a:r>
                        <a:rPr lang="en-US" sz="1000">
                          <a:solidFill>
                            <a:srgbClr val="221B28"/>
                          </a:solidFill>
                          <a:latin typeface="Arial"/>
                        </a:rPr>
                        <a:t>160,000</a:t>
                      </a:r>
                    </a:p>
                  </a:txBody>
                  <a:tcPr marL="0" marR="0" marT="0" marB="0" anchor="b"/>
                </a:tc>
                <a:tc>
                  <a:txBody>
                    <a:bodyPr/>
                    <a:lstStyle/>
                    <a:p>
                      <a:endParaRPr sz="900"/>
                    </a:p>
                  </a:txBody>
                  <a:tcPr marL="0" marR="0" marT="0" marB="0"/>
                </a:tc>
                <a:extLst>
                  <a:ext uri="{0D108BD9-81ED-4DB2-BD59-A6C34878D82A}">
                    <a16:rowId xmlns:a16="http://schemas.microsoft.com/office/drawing/2014/main" val="10015"/>
                  </a:ext>
                </a:extLst>
              </a:tr>
              <a:tr h="179832">
                <a:tc>
                  <a:txBody>
                    <a:bodyPr/>
                    <a:lstStyle/>
                    <a:p>
                      <a:pPr marL="0" marR="0" indent="203200"/>
                      <a:r>
                        <a:rPr lang="en-US" sz="1000">
                          <a:solidFill>
                            <a:srgbClr val="221B28"/>
                          </a:solidFill>
                          <a:latin typeface="Arial"/>
                        </a:rPr>
                        <a:t>Management Labor</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637100" marR="0" indent="0" algn="just"/>
                      <a:r>
                        <a:rPr lang="en-US" sz="1000">
                          <a:solidFill>
                            <a:srgbClr val="221B28"/>
                          </a:solidFill>
                          <a:latin typeface="Arial"/>
                        </a:rPr>
                        <a:t>450,000</a:t>
                      </a:r>
                    </a:p>
                  </a:txBody>
                  <a:tcPr marL="0" marR="0" marT="0" marB="0" anchor="b"/>
                </a:tc>
                <a:tc>
                  <a:txBody>
                    <a:bodyPr/>
                    <a:lstStyle/>
                    <a:p>
                      <a:pPr marL="0" marR="0" indent="508000" algn="just"/>
                      <a:r>
                        <a:rPr lang="en-US" sz="1000">
                          <a:solidFill>
                            <a:srgbClr val="221B28"/>
                          </a:solidFill>
                          <a:latin typeface="Arial"/>
                        </a:rPr>
                        <a:t>l,5D0,000</a:t>
                      </a:r>
                    </a:p>
                  </a:txBody>
                  <a:tcPr marL="0" marR="0" marT="0" marB="0" anchor="b"/>
                </a:tc>
                <a:tc>
                  <a:txBody>
                    <a:bodyPr/>
                    <a:lstStyle/>
                    <a:p>
                      <a:pPr marL="0" marR="0" indent="520700" algn="just"/>
                      <a:r>
                        <a:rPr lang="en-US" sz="1000">
                          <a:solidFill>
                            <a:srgbClr val="5E5650"/>
                          </a:solidFill>
                          <a:latin typeface="Arial"/>
                        </a:rPr>
                        <a:t>1,</a:t>
                      </a:r>
                      <a:r>
                        <a:rPr lang="en-US" sz="1000">
                          <a:solidFill>
                            <a:srgbClr val="221B28"/>
                          </a:solidFill>
                          <a:latin typeface="Arial"/>
                        </a:rPr>
                        <a:t>1D0,000</a:t>
                      </a:r>
                    </a:p>
                  </a:txBody>
                  <a:tcPr marL="0" marR="0" marT="0" marB="0" anchor="b"/>
                </a:tc>
                <a:tc>
                  <a:txBody>
                    <a:bodyPr/>
                    <a:lstStyle/>
                    <a:p>
                      <a:endParaRPr sz="900"/>
                    </a:p>
                  </a:txBody>
                  <a:tcPr marL="0" marR="0" marT="0" marB="0"/>
                </a:tc>
                <a:extLst>
                  <a:ext uri="{0D108BD9-81ED-4DB2-BD59-A6C34878D82A}">
                    <a16:rowId xmlns:a16="http://schemas.microsoft.com/office/drawing/2014/main" val="10016"/>
                  </a:ext>
                </a:extLst>
              </a:tr>
              <a:tr h="176784">
                <a:tc>
                  <a:txBody>
                    <a:bodyPr/>
                    <a:lstStyle/>
                    <a:p>
                      <a:pPr marL="0" marR="0" indent="203200"/>
                      <a:r>
                        <a:rPr lang="en-US" sz="1000">
                          <a:solidFill>
                            <a:srgbClr val="221B28"/>
                          </a:solidFill>
                          <a:latin typeface="Arial"/>
                        </a:rPr>
                        <a:t>Payroll taxes &amp;. benefits</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637100" marR="0" indent="0" algn="just"/>
                      <a:r>
                        <a:rPr lang="en-US" sz="1000">
                          <a:solidFill>
                            <a:srgbClr val="221B28"/>
                          </a:solidFill>
                          <a:latin typeface="Arial"/>
                        </a:rPr>
                        <a:t>130,000</a:t>
                      </a:r>
                    </a:p>
                  </a:txBody>
                  <a:tcPr marL="0" marR="0" marT="0" marB="0" anchor="b"/>
                </a:tc>
                <a:tc>
                  <a:txBody>
                    <a:bodyPr/>
                    <a:lstStyle/>
                    <a:p>
                      <a:pPr marL="637100" marR="0" indent="0" algn="just"/>
                      <a:r>
                        <a:rPr lang="en-US" sz="1000">
                          <a:solidFill>
                            <a:srgbClr val="221B28"/>
                          </a:solidFill>
                          <a:latin typeface="Arial"/>
                        </a:rPr>
                        <a:t>4D0,000</a:t>
                      </a:r>
                    </a:p>
                  </a:txBody>
                  <a:tcPr marL="0" marR="0" marT="0" marB="0" anchor="b"/>
                </a:tc>
                <a:tc>
                  <a:txBody>
                    <a:bodyPr/>
                    <a:lstStyle/>
                    <a:p>
                      <a:pPr marL="649800" marR="0" indent="0" algn="just"/>
                      <a:r>
                        <a:rPr lang="en-US" sz="1000">
                          <a:solidFill>
                            <a:srgbClr val="221B28"/>
                          </a:solidFill>
                          <a:latin typeface="Arial"/>
                        </a:rPr>
                        <a:t>3D0,000</a:t>
                      </a:r>
                    </a:p>
                  </a:txBody>
                  <a:tcPr marL="0" marR="0" marT="0" marB="0" anchor="b"/>
                </a:tc>
                <a:tc>
                  <a:txBody>
                    <a:bodyPr/>
                    <a:lstStyle/>
                    <a:p>
                      <a:endParaRPr sz="900"/>
                    </a:p>
                  </a:txBody>
                  <a:tcPr marL="0" marR="0" marT="0" marB="0"/>
                </a:tc>
                <a:extLst>
                  <a:ext uri="{0D108BD9-81ED-4DB2-BD59-A6C34878D82A}">
                    <a16:rowId xmlns:a16="http://schemas.microsoft.com/office/drawing/2014/main" val="10017"/>
                  </a:ext>
                </a:extLst>
              </a:tr>
              <a:tr h="179832">
                <a:tc>
                  <a:txBody>
                    <a:bodyPr/>
                    <a:lstStyle/>
                    <a:p>
                      <a:pPr marL="0" marR="0" indent="203200"/>
                      <a:r>
                        <a:rPr lang="en-US" sz="1000">
                          <a:solidFill>
                            <a:srgbClr val="221B28"/>
                          </a:solidFill>
                          <a:latin typeface="Arial"/>
                        </a:rPr>
                        <a:t>Other operating expenses</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637100" marR="0" indent="0" algn="just"/>
                      <a:r>
                        <a:rPr lang="en-US" sz="1000">
                          <a:solidFill>
                            <a:srgbClr val="221B28"/>
                          </a:solidFill>
                          <a:latin typeface="Arial"/>
                        </a:rPr>
                        <a:t>100,000</a:t>
                      </a:r>
                    </a:p>
                  </a:txBody>
                  <a:tcPr marL="0" marR="0" marT="0" marB="0" anchor="b"/>
                </a:tc>
                <a:tc>
                  <a:txBody>
                    <a:bodyPr/>
                    <a:lstStyle/>
                    <a:p>
                      <a:pPr marL="637100" marR="0" indent="0" algn="just"/>
                      <a:r>
                        <a:rPr lang="en-US" sz="1000">
                          <a:solidFill>
                            <a:srgbClr val="221B28"/>
                          </a:solidFill>
                          <a:latin typeface="Arial"/>
                        </a:rPr>
                        <a:t>430,000</a:t>
                      </a:r>
                    </a:p>
                  </a:txBody>
                  <a:tcPr marL="0" marR="0" marT="0" marB="0" anchor="b"/>
                </a:tc>
                <a:tc>
                  <a:txBody>
                    <a:bodyPr/>
                    <a:lstStyle/>
                    <a:p>
                      <a:pPr marL="649800" marR="0" indent="0" algn="just"/>
                      <a:r>
                        <a:rPr lang="en-US" sz="1000">
                          <a:solidFill>
                            <a:srgbClr val="221B28"/>
                          </a:solidFill>
                          <a:latin typeface="Arial"/>
                        </a:rPr>
                        <a:t>600,000</a:t>
                      </a:r>
                    </a:p>
                  </a:txBody>
                  <a:tcPr marL="0" marR="0" marT="0" marB="0" anchor="b"/>
                </a:tc>
                <a:tc>
                  <a:txBody>
                    <a:bodyPr/>
                    <a:lstStyle/>
                    <a:p>
                      <a:endParaRPr sz="900"/>
                    </a:p>
                  </a:txBody>
                  <a:tcPr marL="0" marR="0" marT="0" marB="0"/>
                </a:tc>
                <a:extLst>
                  <a:ext uri="{0D108BD9-81ED-4DB2-BD59-A6C34878D82A}">
                    <a16:rowId xmlns:a16="http://schemas.microsoft.com/office/drawing/2014/main" val="10018"/>
                  </a:ext>
                </a:extLst>
              </a:tr>
              <a:tr h="167640">
                <a:tc>
                  <a:txBody>
                    <a:bodyPr/>
                    <a:lstStyle/>
                    <a:p>
                      <a:endParaRPr sz="800"/>
                    </a:p>
                  </a:txBody>
                  <a:tcPr marL="0" marR="0" marT="0" marB="0">
                    <a:solidFill>
                      <a:srgbClr val="FEFB99"/>
                    </a:solidFill>
                  </a:tcPr>
                </a:tc>
                <a:tc>
                  <a:txBody>
                    <a:bodyPr/>
                    <a:lstStyle/>
                    <a:p>
                      <a:endParaRPr sz="800"/>
                    </a:p>
                  </a:txBody>
                  <a:tcPr marL="0" marR="0" marT="0" marB="0">
                    <a:solidFill>
                      <a:srgbClr val="FEFB99"/>
                    </a:solidFill>
                  </a:tcPr>
                </a:tc>
                <a:tc gridSpan="3">
                  <a:txBody>
                    <a:bodyPr/>
                    <a:lstStyle/>
                    <a:p>
                      <a:endParaRPr sz="800"/>
                    </a:p>
                  </a:txBody>
                  <a:tcPr marL="0" marR="0" marT="0" marB="0"/>
                </a:tc>
                <a:tc hMerge="1">
                  <a:txBody>
                    <a:bodyPr/>
                    <a:lstStyle/>
                    <a:p>
                      <a:endParaRPr sz="800"/>
                    </a:p>
                  </a:txBody>
                  <a:tcPr marL="0" marR="0" marT="0" marB="0"/>
                </a:tc>
                <a:tc hMerge="1">
                  <a:txBody>
                    <a:bodyPr/>
                    <a:lstStyle/>
                    <a:p>
                      <a:endParaRPr sz="800"/>
                    </a:p>
                  </a:txBody>
                  <a:tcPr marL="0" marR="0" marT="0" marB="0"/>
                </a:tc>
                <a:tc>
                  <a:txBody>
                    <a:bodyPr/>
                    <a:lstStyle/>
                    <a:p>
                      <a:endParaRPr sz="800"/>
                    </a:p>
                  </a:txBody>
                  <a:tcPr marL="0" marR="0" marT="0" marB="0"/>
                </a:tc>
                <a:extLst>
                  <a:ext uri="{0D108BD9-81ED-4DB2-BD59-A6C34878D82A}">
                    <a16:rowId xmlns:a16="http://schemas.microsoft.com/office/drawing/2014/main" val="10019"/>
                  </a:ext>
                </a:extLst>
              </a:tr>
              <a:tr h="167640">
                <a:tc>
                  <a:txBody>
                    <a:bodyPr/>
                    <a:lstStyle/>
                    <a:p>
                      <a:pPr marL="0" marR="0" indent="393700"/>
                      <a:r>
                        <a:rPr lang="en-US" sz="1000" b="1">
                          <a:latin typeface="Arial"/>
                        </a:rPr>
                        <a:t>Total Operating Expenses</a:t>
                      </a:r>
                    </a:p>
                  </a:txBody>
                  <a:tcPr marL="0" marR="0" marT="0" marB="0" anchor="b">
                    <a:solidFill>
                      <a:srgbClr val="FEFB99"/>
                    </a:solidFill>
                  </a:tcPr>
                </a:tc>
                <a:tc>
                  <a:txBody>
                    <a:bodyPr/>
                    <a:lstStyle/>
                    <a:p>
                      <a:endParaRPr sz="800"/>
                    </a:p>
                  </a:txBody>
                  <a:tcPr marL="0" marR="0" marT="0" marB="0">
                    <a:solidFill>
                      <a:srgbClr val="FEFB99"/>
                    </a:solidFill>
                  </a:tcPr>
                </a:tc>
                <a:tc>
                  <a:txBody>
                    <a:bodyPr/>
                    <a:lstStyle/>
                    <a:p>
                      <a:pPr marL="0" marR="0" indent="533400"/>
                      <a:r>
                        <a:rPr lang="en-US" sz="1000">
                          <a:solidFill>
                            <a:srgbClr val="403C3D"/>
                          </a:solidFill>
                          <a:latin typeface="Arial"/>
                        </a:rPr>
                        <a:t>1,006,000</a:t>
                      </a:r>
                    </a:p>
                  </a:txBody>
                  <a:tcPr marL="0" marR="0" marT="0" marB="0" anchor="b"/>
                </a:tc>
                <a:tc>
                  <a:txBody>
                    <a:bodyPr/>
                    <a:lstStyle/>
                    <a:p>
                      <a:pPr marL="0" marR="0" indent="508000"/>
                      <a:r>
                        <a:rPr lang="en-US" sz="1000">
                          <a:solidFill>
                            <a:srgbClr val="221B28"/>
                          </a:solidFill>
                          <a:latin typeface="Arial"/>
                        </a:rPr>
                        <a:t>2,780,000</a:t>
                      </a:r>
                    </a:p>
                  </a:txBody>
                  <a:tcPr marL="0" marR="0" marT="0" marB="0" anchor="b"/>
                </a:tc>
                <a:tc>
                  <a:txBody>
                    <a:bodyPr/>
                    <a:lstStyle/>
                    <a:p>
                      <a:pPr marL="0" marR="0" indent="520700"/>
                      <a:r>
                        <a:rPr lang="en-US" sz="1000">
                          <a:solidFill>
                            <a:srgbClr val="221B28"/>
                          </a:solidFill>
                          <a:latin typeface="Arial"/>
                        </a:rPr>
                        <a:t>3,550,000</a:t>
                      </a:r>
                    </a:p>
                  </a:txBody>
                  <a:tcPr marL="0" marR="0" marT="0" marB="0" anchor="b"/>
                </a:tc>
                <a:tc>
                  <a:txBody>
                    <a:bodyPr/>
                    <a:lstStyle/>
                    <a:p>
                      <a:endParaRPr sz="800"/>
                    </a:p>
                  </a:txBody>
                  <a:tcPr marL="0" marR="0" marT="0" marB="0"/>
                </a:tc>
                <a:extLst>
                  <a:ext uri="{0D108BD9-81ED-4DB2-BD59-A6C34878D82A}">
                    <a16:rowId xmlns:a16="http://schemas.microsoft.com/office/drawing/2014/main" val="10020"/>
                  </a:ext>
                </a:extLst>
              </a:tr>
              <a:tr h="335280">
                <a:tc gridSpan="2">
                  <a:txBody>
                    <a:bodyPr/>
                    <a:lstStyle/>
                    <a:p>
                      <a:pPr marL="1424500" marR="0" indent="0" algn="r">
                        <a:lnSpc>
                          <a:spcPct val="115000"/>
                        </a:lnSpc>
                      </a:pPr>
                      <a:r>
                        <a:rPr lang="en-US" sz="1000">
                          <a:solidFill>
                            <a:srgbClr val="221B28"/>
                          </a:solidFill>
                          <a:latin typeface="Arial"/>
                        </a:rPr>
                        <a:t>es </a:t>
                      </a:r>
                      <a:r>
                        <a:rPr lang="en-US" sz="1000">
                          <a:solidFill>
                            <a:srgbClr val="403C3D"/>
                          </a:solidFill>
                          <a:latin typeface="Arial"/>
                        </a:rPr>
                        <a:t>54? </a:t>
                      </a:r>
                      <a:r>
                        <a:rPr lang="en-US" sz="1000">
                          <a:solidFill>
                            <a:srgbClr val="221B28"/>
                          </a:solidFill>
                          <a:latin typeface="Arial"/>
                        </a:rPr>
                        <a:t>to SaVes </a:t>
                      </a:r>
                      <a:r>
                        <a:rPr lang="en-US" sz="1000" i="1">
                          <a:solidFill>
                            <a:srgbClr val="221B28"/>
                          </a:solidFill>
                          <a:latin typeface="Arial"/>
                        </a:rPr>
                        <a:t>mLER </a:t>
                      </a:r>
                      <a:r>
                        <a:rPr lang="en-US" sz="1000" i="1">
                          <a:solidFill>
                            <a:srgbClr val="403C3D"/>
                          </a:solidFill>
                          <a:latin typeface="Arial"/>
                        </a:rPr>
                        <a:t>(GM </a:t>
                      </a:r>
                      <a:r>
                        <a:rPr lang="ru" sz="1000" i="1">
                          <a:solidFill>
                            <a:srgbClr val="221B28"/>
                          </a:solidFill>
                          <a:latin typeface="Arial"/>
                        </a:rPr>
                        <a:t>/ </a:t>
                      </a:r>
                      <a:r>
                        <a:rPr lang="en-US" sz="1000" i="1">
                          <a:solidFill>
                            <a:srgbClr val="221B28"/>
                          </a:solidFill>
                          <a:latin typeface="Arial"/>
                        </a:rPr>
                        <a:t>Munagemen</a:t>
                      </a:r>
                      <a:r>
                        <a:rPr lang="en-US" sz="1000">
                          <a:solidFill>
                            <a:srgbClr val="221B28"/>
                          </a:solidFill>
                          <a:latin typeface="Arial"/>
                        </a:rPr>
                        <a:t> t </a:t>
                      </a:r>
                      <a:r>
                        <a:rPr lang="en-US" sz="1000" i="1">
                          <a:solidFill>
                            <a:srgbClr val="221B28"/>
                          </a:solidFill>
                          <a:latin typeface="Arial"/>
                        </a:rPr>
                        <a:t>Labor)</a:t>
                      </a:r>
                    </a:p>
                  </a:txBody>
                  <a:tcPr marL="0" marR="0" marT="0" marB="0" anchor="b">
                    <a:solidFill>
                      <a:srgbClr val="FEFB99"/>
                    </a:solidFill>
                  </a:tcPr>
                </a:tc>
                <a:tc hMerge="1">
                  <a:txBody>
                    <a:bodyPr/>
                    <a:lstStyle/>
                    <a:p>
                      <a:endParaRPr sz="1600"/>
                    </a:p>
                  </a:txBody>
                  <a:tcPr marL="0" marR="0" marT="0" marB="0"/>
                </a:tc>
                <a:tc>
                  <a:txBody>
                    <a:bodyPr/>
                    <a:lstStyle/>
                    <a:p>
                      <a:pPr marL="726000" marR="0" indent="0" algn="just"/>
                      <a:r>
                        <a:rPr lang="en-US" sz="1000" i="1">
                          <a:solidFill>
                            <a:srgbClr val="221B28"/>
                          </a:solidFill>
                          <a:latin typeface="Arial"/>
                        </a:rPr>
                        <a:t>22.86%,</a:t>
                      </a:r>
                    </a:p>
                    <a:p>
                      <a:pPr marL="0" marR="0" indent="0" algn="r"/>
                      <a:r>
                        <a:rPr lang="en-US" sz="1000" i="1">
                          <a:solidFill>
                            <a:srgbClr val="221B28"/>
                          </a:solidFill>
                          <a:latin typeface="Arial"/>
                        </a:rPr>
                        <a:t>3.78</a:t>
                      </a:r>
                    </a:p>
                  </a:txBody>
                  <a:tcPr marL="0" marR="0" marT="0" marB="0" anchor="b">
                    <a:solidFill>
                      <a:srgbClr val="C0C0C0"/>
                    </a:solidFill>
                  </a:tcPr>
                </a:tc>
                <a:tc>
                  <a:txBody>
                    <a:bodyPr/>
                    <a:lstStyle/>
                    <a:p>
                      <a:pPr marL="840300" marR="0" indent="0" algn="just"/>
                      <a:r>
                        <a:rPr lang="en-US" sz="1000" i="1">
                          <a:solidFill>
                            <a:srgbClr val="221B28"/>
                          </a:solidFill>
                          <a:latin typeface="Arial"/>
                        </a:rPr>
                        <a:t>6.95%</a:t>
                      </a:r>
                    </a:p>
                    <a:p>
                      <a:pPr marL="941900" marR="0" indent="0" algn="just"/>
                      <a:r>
                        <a:rPr lang="en-US" sz="1000" i="1">
                          <a:solidFill>
                            <a:srgbClr val="221B28"/>
                          </a:solidFill>
                          <a:latin typeface="Arial"/>
                        </a:rPr>
                        <a:t>2.83</a:t>
                      </a:r>
                    </a:p>
                  </a:txBody>
                  <a:tcPr marL="0" marR="0" marT="0" marB="0" anchor="b">
                    <a:solidFill>
                      <a:srgbClr val="C0C0C0"/>
                    </a:solidFill>
                  </a:tcPr>
                </a:tc>
                <a:tc>
                  <a:txBody>
                    <a:bodyPr/>
                    <a:lstStyle/>
                    <a:p>
                      <a:pPr marL="751400" marR="0" indent="0" algn="just"/>
                      <a:r>
                        <a:rPr lang="en-US" sz="1000">
                          <a:solidFill>
                            <a:srgbClr val="221B28"/>
                          </a:solidFill>
                          <a:latin typeface="Arial"/>
                        </a:rPr>
                        <a:t>35.50%</a:t>
                      </a:r>
                    </a:p>
                    <a:p>
                      <a:pPr marL="0" marR="0" indent="0" algn="r"/>
                      <a:r>
                        <a:rPr lang="en-US" sz="1000" i="1">
                          <a:solidFill>
                            <a:srgbClr val="221B28"/>
                          </a:solidFill>
                          <a:latin typeface="Arial"/>
                        </a:rPr>
                        <a:t>4.32</a:t>
                      </a:r>
                    </a:p>
                  </a:txBody>
                  <a:tcPr marL="0" marR="0" marT="0" marB="0" anchor="b">
                    <a:solidFill>
                      <a:srgbClr val="C0C0C0"/>
                    </a:solidFill>
                  </a:tcPr>
                </a:tc>
                <a:tc>
                  <a:txBody>
                    <a:bodyPr/>
                    <a:lstStyle/>
                    <a:p>
                      <a:endParaRPr sz="1600"/>
                    </a:p>
                  </a:txBody>
                  <a:tcPr marL="0" marR="0" marT="0" marB="0"/>
                </a:tc>
                <a:extLst>
                  <a:ext uri="{0D108BD9-81ED-4DB2-BD59-A6C34878D82A}">
                    <a16:rowId xmlns:a16="http://schemas.microsoft.com/office/drawing/2014/main" val="10021"/>
                  </a:ext>
                </a:extLst>
              </a:tr>
              <a:tr h="158496">
                <a:tc>
                  <a:txBody>
                    <a:bodyPr/>
                    <a:lstStyle/>
                    <a:p>
                      <a:pPr marL="0" marR="0" indent="393700"/>
                      <a:r>
                        <a:rPr lang="en-US" sz="1000" b="1">
                          <a:latin typeface="Arial"/>
                        </a:rPr>
                        <a:t>Net Operating Income</a:t>
                      </a:r>
                    </a:p>
                  </a:txBody>
                  <a:tcPr marL="0" marR="0" marT="0" marB="0" anchor="b">
                    <a:solidFill>
                      <a:srgbClr val="FEFB99"/>
                    </a:solidFill>
                  </a:tcPr>
                </a:tc>
                <a:tc>
                  <a:txBody>
                    <a:bodyPr/>
                    <a:lstStyle/>
                    <a:p>
                      <a:endParaRPr sz="800"/>
                    </a:p>
                  </a:txBody>
                  <a:tcPr marL="0" marR="0" marT="0" marB="0">
                    <a:solidFill>
                      <a:srgbClr val="FEFB99"/>
                    </a:solidFill>
                  </a:tcPr>
                </a:tc>
                <a:tc>
                  <a:txBody>
                    <a:bodyPr/>
                    <a:lstStyle/>
                    <a:p>
                      <a:pPr marL="637100" marR="0" indent="0" algn="just"/>
                      <a:r>
                        <a:rPr lang="en-US" sz="1000">
                          <a:solidFill>
                            <a:srgbClr val="221B28"/>
                          </a:solidFill>
                          <a:latin typeface="Arial"/>
                        </a:rPr>
                        <a:t>694.000</a:t>
                      </a:r>
                    </a:p>
                  </a:txBody>
                  <a:tcPr marL="0" marR="0" marT="0" marB="0" anchor="b"/>
                </a:tc>
                <a:tc>
                  <a:txBody>
                    <a:bodyPr/>
                    <a:lstStyle/>
                    <a:p>
                      <a:pPr marL="0" marR="0" indent="508000"/>
                      <a:r>
                        <a:rPr lang="en-US" sz="1000">
                          <a:solidFill>
                            <a:srgbClr val="221B28"/>
                          </a:solidFill>
                          <a:latin typeface="Arial"/>
                        </a:rPr>
                        <a:t>1,470,000</a:t>
                      </a:r>
                    </a:p>
                  </a:txBody>
                  <a:tcPr marL="0" marR="0" marT="0" marB="0" anchor="b"/>
                </a:tc>
                <a:tc>
                  <a:txBody>
                    <a:bodyPr/>
                    <a:lstStyle/>
                    <a:p>
                      <a:pPr marL="0" marR="0" indent="520700"/>
                      <a:r>
                        <a:rPr lang="en-US" sz="1000">
                          <a:solidFill>
                            <a:srgbClr val="221B28"/>
                          </a:solidFill>
                          <a:latin typeface="Arial"/>
                        </a:rPr>
                        <a:t>1,200 .ODD</a:t>
                      </a:r>
                    </a:p>
                  </a:txBody>
                  <a:tcPr marL="0" marR="0" marT="0" marB="0" anchor="b"/>
                </a:tc>
                <a:tc>
                  <a:txBody>
                    <a:bodyPr/>
                    <a:lstStyle/>
                    <a:p>
                      <a:endParaRPr sz="800"/>
                    </a:p>
                  </a:txBody>
                  <a:tcPr marL="0" marR="0" marT="0" marB="0"/>
                </a:tc>
                <a:extLst>
                  <a:ext uri="{0D108BD9-81ED-4DB2-BD59-A6C34878D82A}">
                    <a16:rowId xmlns:a16="http://schemas.microsoft.com/office/drawing/2014/main" val="10022"/>
                  </a:ext>
                </a:extLst>
              </a:tr>
              <a:tr h="344424">
                <a:tc>
                  <a:txBody>
                    <a:bodyPr/>
                    <a:lstStyle/>
                    <a:p>
                      <a:endParaRPr sz="1700"/>
                    </a:p>
                  </a:txBody>
                  <a:tcPr marL="0" marR="0" marT="0" marB="0">
                    <a:solidFill>
                      <a:srgbClr val="FEFB99"/>
                    </a:solidFill>
                  </a:tcPr>
                </a:tc>
                <a:tc>
                  <a:txBody>
                    <a:bodyPr/>
                    <a:lstStyle/>
                    <a:p>
                      <a:pPr marL="0" marR="0" indent="0" algn="r">
                        <a:lnSpc>
                          <a:spcPct val="115000"/>
                        </a:lnSpc>
                      </a:pPr>
                      <a:r>
                        <a:rPr lang="en-US" sz="1000" i="1">
                          <a:solidFill>
                            <a:srgbClr val="221B28"/>
                          </a:solidFill>
                          <a:latin typeface="Arial"/>
                        </a:rPr>
                        <a:t>as</a:t>
                      </a:r>
                      <a:r>
                        <a:rPr lang="en-US" sz="1000">
                          <a:solidFill>
                            <a:srgbClr val="221B28"/>
                          </a:solidFill>
                          <a:latin typeface="Arial"/>
                        </a:rPr>
                        <a:t> </a:t>
                      </a:r>
                      <a:r>
                        <a:rPr lang="en-US" sz="1000">
                          <a:solidFill>
                            <a:srgbClr val="403C3D"/>
                          </a:solidFill>
                          <a:latin typeface="Arial"/>
                        </a:rPr>
                        <a:t>54? </a:t>
                      </a:r>
                      <a:r>
                        <a:rPr lang="en-US" sz="1000" i="1">
                          <a:solidFill>
                            <a:srgbClr val="221B28"/>
                          </a:solidFill>
                          <a:latin typeface="Arial"/>
                        </a:rPr>
                        <a:t>to Sales as</a:t>
                      </a:r>
                      <a:r>
                        <a:rPr lang="en-US" sz="1000">
                          <a:solidFill>
                            <a:srgbClr val="221B28"/>
                          </a:solidFill>
                          <a:latin typeface="Arial"/>
                        </a:rPr>
                        <a:t> </a:t>
                      </a:r>
                      <a:r>
                        <a:rPr lang="en-US" sz="1000">
                          <a:solidFill>
                            <a:srgbClr val="403C3D"/>
                          </a:solidFill>
                          <a:latin typeface="Arial"/>
                        </a:rPr>
                        <a:t>54? </a:t>
                      </a:r>
                      <a:r>
                        <a:rPr lang="en-US" sz="1000" i="1">
                          <a:solidFill>
                            <a:srgbClr val="221B28"/>
                          </a:solidFill>
                          <a:latin typeface="Arial"/>
                        </a:rPr>
                        <a:t>to GM</a:t>
                      </a:r>
                    </a:p>
                  </a:txBody>
                  <a:tcPr marL="0" marR="0" marT="0" marB="0" anchor="b">
                    <a:solidFill>
                      <a:srgbClr val="FEFB99"/>
                    </a:solidFill>
                  </a:tcPr>
                </a:tc>
                <a:tc>
                  <a:txBody>
                    <a:bodyPr/>
                    <a:lstStyle/>
                    <a:p>
                      <a:pPr marL="726000" marR="0" indent="0" algn="just"/>
                      <a:r>
                        <a:rPr lang="en-US" sz="1000" i="1">
                          <a:solidFill>
                            <a:srgbClr val="221B28"/>
                          </a:solidFill>
                          <a:latin typeface="Arial"/>
                        </a:rPr>
                        <a:t>15.</a:t>
                      </a:r>
                      <a:r>
                        <a:rPr lang="en-US" sz="1000">
                          <a:solidFill>
                            <a:srgbClr val="221B28"/>
                          </a:solidFill>
                          <a:latin typeface="Arial"/>
                        </a:rPr>
                        <a:t> 77%</a:t>
                      </a:r>
                    </a:p>
                    <a:p>
                      <a:pPr marL="726000" marR="0" indent="0" algn="just"/>
                      <a:r>
                        <a:rPr lang="en-US" sz="1000" i="1">
                          <a:solidFill>
                            <a:srgbClr val="221B28"/>
                          </a:solidFill>
                          <a:latin typeface="Arial"/>
                        </a:rPr>
                        <a:t>26.69%</a:t>
                      </a:r>
                    </a:p>
                  </a:txBody>
                  <a:tcPr marL="0" marR="0" marT="0" marB="0" anchor="b">
                    <a:solidFill>
                      <a:srgbClr val="C0C0C0"/>
                    </a:solidFill>
                  </a:tcPr>
                </a:tc>
                <a:tc>
                  <a:txBody>
                    <a:bodyPr/>
                    <a:lstStyle/>
                    <a:p>
                      <a:pPr marL="840300" marR="0" indent="0" algn="just"/>
                      <a:r>
                        <a:rPr lang="en-US" sz="1000" i="1">
                          <a:latin typeface="Arial"/>
                        </a:rPr>
                        <a:t>3.68%</a:t>
                      </a:r>
                    </a:p>
                    <a:p>
                      <a:pPr marL="751400" marR="0" indent="0" algn="just"/>
                      <a:r>
                        <a:rPr lang="en-US" sz="1000" i="1">
                          <a:latin typeface="Arial"/>
                        </a:rPr>
                        <a:t>27.48%</a:t>
                      </a:r>
                    </a:p>
                  </a:txBody>
                  <a:tcPr marL="0" marR="0" marT="0" marB="0" anchor="b">
                    <a:solidFill>
                      <a:srgbClr val="C0C0C0"/>
                    </a:solidFill>
                  </a:tcPr>
                </a:tc>
                <a:tc>
                  <a:txBody>
                    <a:bodyPr/>
                    <a:lstStyle/>
                    <a:p>
                      <a:pPr marL="751400" marR="0" indent="0" algn="just"/>
                      <a:r>
                        <a:rPr lang="en-US" sz="1000" i="1">
                          <a:solidFill>
                            <a:srgbClr val="221B28"/>
                          </a:solidFill>
                          <a:latin typeface="Arial"/>
                        </a:rPr>
                        <a:t>12.00%</a:t>
                      </a:r>
                    </a:p>
                    <a:p>
                      <a:pPr marL="751400" marR="0" indent="0" algn="just"/>
                      <a:r>
                        <a:rPr lang="en-US" sz="1000" i="1">
                          <a:solidFill>
                            <a:srgbClr val="221B28"/>
                          </a:solidFill>
                          <a:latin typeface="Arial"/>
                        </a:rPr>
                        <a:t>12.63%</a:t>
                      </a:r>
                    </a:p>
                  </a:txBody>
                  <a:tcPr marL="0" marR="0" marT="0" marB="0" anchor="b">
                    <a:solidFill>
                      <a:srgbClr val="C0C0C0"/>
                    </a:solidFill>
                  </a:tcPr>
                </a:tc>
                <a:tc>
                  <a:txBody>
                    <a:bodyPr/>
                    <a:lstStyle/>
                    <a:p>
                      <a:endParaRPr sz="1700"/>
                    </a:p>
                  </a:txBody>
                  <a:tcPr marL="0" marR="0" marT="0" marB="0"/>
                </a:tc>
                <a:extLst>
                  <a:ext uri="{0D108BD9-81ED-4DB2-BD59-A6C34878D82A}">
                    <a16:rowId xmlns:a16="http://schemas.microsoft.com/office/drawing/2014/main" val="10023"/>
                  </a:ext>
                </a:extLst>
              </a:tr>
              <a:tr h="164592">
                <a:tc>
                  <a:txBody>
                    <a:bodyPr/>
                    <a:lstStyle/>
                    <a:p>
                      <a:pPr marL="0" marR="0" indent="0"/>
                      <a:r>
                        <a:rPr lang="en-US" sz="1000" b="1">
                          <a:latin typeface="Arial"/>
                        </a:rPr>
                        <a:t>Other Income (Expense):</a:t>
                      </a:r>
                    </a:p>
                  </a:txBody>
                  <a:tcPr marL="0" marR="0" marT="0" marB="0" anchor="b">
                    <a:solidFill>
                      <a:srgbClr val="FEFB99"/>
                    </a:solidFill>
                  </a:tcPr>
                </a:tc>
                <a:tc>
                  <a:txBody>
                    <a:bodyPr/>
                    <a:lstStyle/>
                    <a:p>
                      <a:endParaRPr sz="800"/>
                    </a:p>
                  </a:txBody>
                  <a:tcPr marL="0" marR="0" marT="0" marB="0">
                    <a:solidFill>
                      <a:srgbClr val="FEFB99"/>
                    </a:solidFill>
                  </a:tcPr>
                </a:tc>
                <a:tc>
                  <a:txBody>
                    <a:bodyPr/>
                    <a:lstStyle/>
                    <a:p>
                      <a:endParaRPr sz="800"/>
                    </a:p>
                  </a:txBody>
                  <a:tcPr marL="0" marR="0" marT="0" marB="0"/>
                </a:tc>
                <a:tc>
                  <a:txBody>
                    <a:bodyPr/>
                    <a:lstStyle/>
                    <a:p>
                      <a:endParaRPr sz="800"/>
                    </a:p>
                  </a:txBody>
                  <a:tcPr marL="0" marR="0" marT="0" marB="0"/>
                </a:tc>
                <a:tc>
                  <a:txBody>
                    <a:bodyPr/>
                    <a:lstStyle/>
                    <a:p>
                      <a:endParaRPr sz="800"/>
                    </a:p>
                  </a:txBody>
                  <a:tcPr marL="0" marR="0" marT="0" marB="0"/>
                </a:tc>
                <a:tc>
                  <a:txBody>
                    <a:bodyPr/>
                    <a:lstStyle/>
                    <a:p>
                      <a:endParaRPr sz="800"/>
                    </a:p>
                  </a:txBody>
                  <a:tcPr marL="0" marR="0" marT="0" marB="0"/>
                </a:tc>
                <a:extLst>
                  <a:ext uri="{0D108BD9-81ED-4DB2-BD59-A6C34878D82A}">
                    <a16:rowId xmlns:a16="http://schemas.microsoft.com/office/drawing/2014/main" val="10024"/>
                  </a:ext>
                </a:extLst>
              </a:tr>
              <a:tr h="179832">
                <a:tc>
                  <a:txBody>
                    <a:bodyPr/>
                    <a:lstStyle/>
                    <a:p>
                      <a:pPr marL="0" marR="0" indent="203200"/>
                      <a:r>
                        <a:rPr lang="en-US" sz="1000">
                          <a:solidFill>
                            <a:srgbClr val="221B28"/>
                          </a:solidFill>
                          <a:latin typeface="Arial"/>
                        </a:rPr>
                        <a:t>Interest income</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0" marR="0" indent="0" algn="r"/>
                      <a:r>
                        <a:rPr lang="en-US" sz="1000">
                          <a:solidFill>
                            <a:srgbClr val="052F48"/>
                          </a:solidFill>
                          <a:latin typeface="Arial"/>
                        </a:rPr>
                        <a:t>IjDDO</a:t>
                      </a:r>
                    </a:p>
                  </a:txBody>
                  <a:tcPr marL="0" marR="0" marT="0" marB="0" anchor="b"/>
                </a:tc>
                <a:tc>
                  <a:txBody>
                    <a:bodyPr/>
                    <a:lstStyle/>
                    <a:p>
                      <a:pPr marL="840300" marR="0" indent="0" algn="just"/>
                      <a:r>
                        <a:rPr lang="en-US" sz="1000">
                          <a:solidFill>
                            <a:srgbClr val="221B28"/>
                          </a:solidFill>
                          <a:latin typeface="Arial"/>
                        </a:rPr>
                        <a:t>l,5D0</a:t>
                      </a:r>
                    </a:p>
                  </a:txBody>
                  <a:tcPr marL="0" marR="0" marT="0" marB="0" anchor="b"/>
                </a:tc>
                <a:tc>
                  <a:txBody>
                    <a:bodyPr/>
                    <a:lstStyle/>
                    <a:p>
                      <a:pPr marL="0" marR="0" indent="0" algn="r"/>
                      <a:r>
                        <a:rPr lang="en-US" sz="1000">
                          <a:solidFill>
                            <a:srgbClr val="052F48"/>
                          </a:solidFill>
                          <a:latin typeface="Arial"/>
                        </a:rPr>
                        <a:t>3,DD0</a:t>
                      </a:r>
                    </a:p>
                  </a:txBody>
                  <a:tcPr marL="0" marR="0" marT="0" marB="0" anchor="b"/>
                </a:tc>
                <a:tc>
                  <a:txBody>
                    <a:bodyPr/>
                    <a:lstStyle/>
                    <a:p>
                      <a:endParaRPr sz="900"/>
                    </a:p>
                  </a:txBody>
                  <a:tcPr marL="0" marR="0" marT="0" marB="0"/>
                </a:tc>
                <a:extLst>
                  <a:ext uri="{0D108BD9-81ED-4DB2-BD59-A6C34878D82A}">
                    <a16:rowId xmlns:a16="http://schemas.microsoft.com/office/drawing/2014/main" val="10025"/>
                  </a:ext>
                </a:extLst>
              </a:tr>
              <a:tr h="176784">
                <a:tc>
                  <a:txBody>
                    <a:bodyPr/>
                    <a:lstStyle/>
                    <a:p>
                      <a:pPr marL="0" marR="0" indent="203200"/>
                      <a:r>
                        <a:rPr lang="en-US" sz="1000">
                          <a:latin typeface="Arial"/>
                        </a:rPr>
                        <a:t>Depreciation</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0" marR="0" indent="609600"/>
                      <a:r>
                        <a:rPr lang="en-US" sz="1000">
                          <a:solidFill>
                            <a:srgbClr val="221B28"/>
                          </a:solidFill>
                          <a:latin typeface="Arial"/>
                        </a:rPr>
                        <a:t>(100,DDO)</a:t>
                      </a:r>
                    </a:p>
                  </a:txBody>
                  <a:tcPr marL="0" marR="0" marT="0" marB="0" anchor="b"/>
                </a:tc>
                <a:tc>
                  <a:txBody>
                    <a:bodyPr/>
                    <a:lstStyle/>
                    <a:p>
                      <a:pPr marL="637100" marR="0" indent="0" algn="just"/>
                      <a:r>
                        <a:rPr lang="en-US" sz="1000">
                          <a:solidFill>
                            <a:srgbClr val="221B28"/>
                          </a:solidFill>
                          <a:latin typeface="Arial"/>
                        </a:rPr>
                        <a:t>(75.0 DD)</a:t>
                      </a:r>
                    </a:p>
                  </a:txBody>
                  <a:tcPr marL="0" marR="0" marT="0" marB="0" anchor="b"/>
                </a:tc>
                <a:tc>
                  <a:txBody>
                    <a:bodyPr/>
                    <a:lstStyle/>
                    <a:p>
                      <a:pPr marL="649800" marR="0" indent="0" algn="just"/>
                      <a:r>
                        <a:rPr lang="en-US" sz="1000">
                          <a:solidFill>
                            <a:srgbClr val="221B28"/>
                          </a:solidFill>
                          <a:latin typeface="Arial"/>
                        </a:rPr>
                        <a:t>(50.0 DD)</a:t>
                      </a:r>
                    </a:p>
                  </a:txBody>
                  <a:tcPr marL="0" marR="0" marT="0" marB="0" anchor="b"/>
                </a:tc>
                <a:tc>
                  <a:txBody>
                    <a:bodyPr/>
                    <a:lstStyle/>
                    <a:p>
                      <a:endParaRPr sz="900"/>
                    </a:p>
                  </a:txBody>
                  <a:tcPr marL="0" marR="0" marT="0" marB="0"/>
                </a:tc>
                <a:extLst>
                  <a:ext uri="{0D108BD9-81ED-4DB2-BD59-A6C34878D82A}">
                    <a16:rowId xmlns:a16="http://schemas.microsoft.com/office/drawing/2014/main" val="10026"/>
                  </a:ext>
                </a:extLst>
              </a:tr>
              <a:tr h="176784">
                <a:tc>
                  <a:txBody>
                    <a:bodyPr/>
                    <a:lstStyle/>
                    <a:p>
                      <a:pPr marL="0" marR="0" indent="203200"/>
                      <a:r>
                        <a:rPr lang="en-US" sz="1000">
                          <a:solidFill>
                            <a:srgbClr val="221B28"/>
                          </a:solidFill>
                          <a:latin typeface="Arial"/>
                        </a:rPr>
                        <a:t>Reinvestment Expenses</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0" marR="243400" indent="0" algn="r"/>
                      <a:r>
                        <a:rPr lang="en-US" sz="1000">
                          <a:solidFill>
                            <a:srgbClr val="888487"/>
                          </a:solidFill>
                          <a:latin typeface="Arial"/>
                        </a:rPr>
                        <a:t>■■■</a:t>
                      </a:r>
                    </a:p>
                  </a:txBody>
                  <a:tcPr marL="0" marR="0" marT="0" marB="0" anchor="b"/>
                </a:tc>
                <a:tc>
                  <a:txBody>
                    <a:bodyPr/>
                    <a:lstStyle/>
                    <a:p>
                      <a:pPr marL="0" marR="0" indent="609600" algn="just"/>
                      <a:r>
                        <a:rPr lang="en-US" sz="1000">
                          <a:solidFill>
                            <a:srgbClr val="221B28"/>
                          </a:solidFill>
                          <a:latin typeface="Arial"/>
                        </a:rPr>
                        <a:t>(150. DDO)</a:t>
                      </a:r>
                    </a:p>
                  </a:txBody>
                  <a:tcPr marL="0" marR="0" marT="0" marB="0" anchor="b"/>
                </a:tc>
                <a:tc>
                  <a:txBody>
                    <a:bodyPr/>
                    <a:lstStyle/>
                    <a:p>
                      <a:pPr marL="0" marR="0" indent="609600"/>
                      <a:r>
                        <a:rPr lang="en-US" sz="1000">
                          <a:solidFill>
                            <a:srgbClr val="403C3D"/>
                          </a:solidFill>
                          <a:latin typeface="Arial"/>
                        </a:rPr>
                        <a:t>(100,</a:t>
                      </a:r>
                      <a:r>
                        <a:rPr lang="en-US" sz="1000">
                          <a:solidFill>
                            <a:srgbClr val="052F48"/>
                          </a:solidFill>
                          <a:latin typeface="Arial"/>
                        </a:rPr>
                        <a:t>DDO)</a:t>
                      </a:r>
                    </a:p>
                  </a:txBody>
                  <a:tcPr marL="0" marR="0" marT="0" marB="0" anchor="b"/>
                </a:tc>
                <a:tc>
                  <a:txBody>
                    <a:bodyPr/>
                    <a:lstStyle/>
                    <a:p>
                      <a:endParaRPr sz="900"/>
                    </a:p>
                  </a:txBody>
                  <a:tcPr marL="0" marR="0" marT="0" marB="0"/>
                </a:tc>
                <a:extLst>
                  <a:ext uri="{0D108BD9-81ED-4DB2-BD59-A6C34878D82A}">
                    <a16:rowId xmlns:a16="http://schemas.microsoft.com/office/drawing/2014/main" val="10027"/>
                  </a:ext>
                </a:extLst>
              </a:tr>
              <a:tr h="182880">
                <a:tc>
                  <a:txBody>
                    <a:bodyPr/>
                    <a:lstStyle/>
                    <a:p>
                      <a:pPr marL="0" marR="0" indent="203200"/>
                      <a:r>
                        <a:rPr lang="en-US" sz="1000">
                          <a:solidFill>
                            <a:srgbClr val="221B28"/>
                          </a:solidFill>
                          <a:latin typeface="Arial"/>
                        </a:rPr>
                        <a:t>Other expenses</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637100" marR="0" indent="0" algn="just"/>
                      <a:r>
                        <a:rPr lang="en-US" sz="1000">
                          <a:solidFill>
                            <a:srgbClr val="403C3D"/>
                          </a:solidFill>
                          <a:latin typeface="Arial"/>
                        </a:rPr>
                        <a:t>(10.000)</a:t>
                      </a:r>
                    </a:p>
                  </a:txBody>
                  <a:tcPr marL="0" marR="0" marT="0" marB="0" anchor="b"/>
                </a:tc>
                <a:tc>
                  <a:txBody>
                    <a:bodyPr/>
                    <a:lstStyle/>
                    <a:p>
                      <a:pPr marL="751400" marR="0" indent="0"/>
                      <a:r>
                        <a:rPr lang="en-US" sz="1000">
                          <a:solidFill>
                            <a:srgbClr val="221B28"/>
                          </a:solidFill>
                          <a:latin typeface="Arial"/>
                        </a:rPr>
                        <a:t>(5.0 DD)</a:t>
                      </a:r>
                    </a:p>
                  </a:txBody>
                  <a:tcPr marL="0" marR="0" marT="0" marB="0" anchor="b"/>
                </a:tc>
                <a:tc>
                  <a:txBody>
                    <a:bodyPr/>
                    <a:lstStyle/>
                    <a:p>
                      <a:pPr marL="649800" marR="0" indent="0" algn="just"/>
                      <a:r>
                        <a:rPr lang="en-US" sz="1000">
                          <a:solidFill>
                            <a:srgbClr val="221B28"/>
                          </a:solidFill>
                          <a:latin typeface="Arial"/>
                        </a:rPr>
                        <a:t>(15.0 DD)</a:t>
                      </a:r>
                    </a:p>
                  </a:txBody>
                  <a:tcPr marL="0" marR="0" marT="0" marB="0" anchor="b"/>
                </a:tc>
                <a:tc>
                  <a:txBody>
                    <a:bodyPr/>
                    <a:lstStyle/>
                    <a:p>
                      <a:endParaRPr sz="900"/>
                    </a:p>
                  </a:txBody>
                  <a:tcPr marL="0" marR="0" marT="0" marB="0"/>
                </a:tc>
                <a:extLst>
                  <a:ext uri="{0D108BD9-81ED-4DB2-BD59-A6C34878D82A}">
                    <a16:rowId xmlns:a16="http://schemas.microsoft.com/office/drawing/2014/main" val="10028"/>
                  </a:ext>
                </a:extLst>
              </a:tr>
              <a:tr h="167640">
                <a:tc>
                  <a:txBody>
                    <a:bodyPr/>
                    <a:lstStyle/>
                    <a:p>
                      <a:endParaRPr sz="800"/>
                    </a:p>
                  </a:txBody>
                  <a:tcPr marL="0" marR="0" marT="0" marB="0">
                    <a:solidFill>
                      <a:srgbClr val="FEFB99"/>
                    </a:solidFill>
                  </a:tcPr>
                </a:tc>
                <a:tc>
                  <a:txBody>
                    <a:bodyPr/>
                    <a:lstStyle/>
                    <a:p>
                      <a:endParaRPr sz="800"/>
                    </a:p>
                  </a:txBody>
                  <a:tcPr marL="0" marR="0" marT="0" marB="0">
                    <a:solidFill>
                      <a:srgbClr val="FEFB99"/>
                    </a:solidFill>
                  </a:tcPr>
                </a:tc>
                <a:tc gridSpan="3">
                  <a:txBody>
                    <a:bodyPr/>
                    <a:lstStyle/>
                    <a:p>
                      <a:endParaRPr sz="800"/>
                    </a:p>
                  </a:txBody>
                  <a:tcPr marL="0" marR="0" marT="0" marB="0"/>
                </a:tc>
                <a:tc hMerge="1">
                  <a:txBody>
                    <a:bodyPr/>
                    <a:lstStyle/>
                    <a:p>
                      <a:endParaRPr sz="800"/>
                    </a:p>
                  </a:txBody>
                  <a:tcPr marL="0" marR="0" marT="0" marB="0"/>
                </a:tc>
                <a:tc hMerge="1">
                  <a:txBody>
                    <a:bodyPr/>
                    <a:lstStyle/>
                    <a:p>
                      <a:endParaRPr sz="800"/>
                    </a:p>
                  </a:txBody>
                  <a:tcPr marL="0" marR="0" marT="0" marB="0"/>
                </a:tc>
                <a:tc>
                  <a:txBody>
                    <a:bodyPr/>
                    <a:lstStyle/>
                    <a:p>
                      <a:endParaRPr sz="800"/>
                    </a:p>
                  </a:txBody>
                  <a:tcPr marL="0" marR="0" marT="0" marB="0"/>
                </a:tc>
                <a:extLst>
                  <a:ext uri="{0D108BD9-81ED-4DB2-BD59-A6C34878D82A}">
                    <a16:rowId xmlns:a16="http://schemas.microsoft.com/office/drawing/2014/main" val="10029"/>
                  </a:ext>
                </a:extLst>
              </a:tr>
              <a:tr h="179832">
                <a:tc gridSpan="2">
                  <a:txBody>
                    <a:bodyPr/>
                    <a:lstStyle/>
                    <a:p>
                      <a:pPr marL="0" marR="0" indent="393700"/>
                      <a:r>
                        <a:rPr lang="en-US" sz="1000" b="1">
                          <a:latin typeface="Arial"/>
                        </a:rPr>
                        <a:t>Total Other Income (Expense)</a:t>
                      </a:r>
                    </a:p>
                  </a:txBody>
                  <a:tcPr marL="0" marR="0" marT="0" marB="0" anchor="b">
                    <a:solidFill>
                      <a:srgbClr val="FEFB99"/>
                    </a:solidFill>
                  </a:tcPr>
                </a:tc>
                <a:tc hMerge="1">
                  <a:txBody>
                    <a:bodyPr/>
                    <a:lstStyle/>
                    <a:p>
                      <a:endParaRPr sz="900"/>
                    </a:p>
                  </a:txBody>
                  <a:tcPr marL="0" marR="0" marT="0" marB="0"/>
                </a:tc>
                <a:tc>
                  <a:txBody>
                    <a:bodyPr/>
                    <a:lstStyle/>
                    <a:p>
                      <a:pPr marL="0" marR="0" indent="609600"/>
                      <a:r>
                        <a:rPr lang="en-US" sz="1000">
                          <a:solidFill>
                            <a:srgbClr val="403C3D"/>
                          </a:solidFill>
                          <a:latin typeface="Arial"/>
                        </a:rPr>
                        <a:t>(109 </a:t>
                      </a:r>
                      <a:r>
                        <a:rPr lang="en-US" sz="1000">
                          <a:solidFill>
                            <a:srgbClr val="052F48"/>
                          </a:solidFill>
                          <a:latin typeface="Arial"/>
                        </a:rPr>
                        <a:t>,DD0)</a:t>
                      </a:r>
                    </a:p>
                  </a:txBody>
                  <a:tcPr marL="0" marR="0" marT="0" marB="0" anchor="b"/>
                </a:tc>
                <a:tc>
                  <a:txBody>
                    <a:bodyPr/>
                    <a:lstStyle/>
                    <a:p>
                      <a:pPr marL="0" marR="0" indent="609600" algn="just"/>
                      <a:r>
                        <a:rPr lang="en-US" sz="1000">
                          <a:solidFill>
                            <a:srgbClr val="221B28"/>
                          </a:solidFill>
                          <a:latin typeface="Arial"/>
                        </a:rPr>
                        <a:t>(22S.5D0)</a:t>
                      </a:r>
                    </a:p>
                  </a:txBody>
                  <a:tcPr marL="0" marR="0" marT="0" marB="0" anchor="b"/>
                </a:tc>
                <a:tc>
                  <a:txBody>
                    <a:bodyPr/>
                    <a:lstStyle/>
                    <a:p>
                      <a:pPr marL="0" marR="0" indent="609600"/>
                      <a:r>
                        <a:rPr lang="en-US" sz="1000">
                          <a:solidFill>
                            <a:srgbClr val="221B28"/>
                          </a:solidFill>
                          <a:latin typeface="Arial"/>
                        </a:rPr>
                        <a:t>(162, DDO)</a:t>
                      </a:r>
                    </a:p>
                  </a:txBody>
                  <a:tcPr marL="0" marR="0" marT="0" marB="0" anchor="b"/>
                </a:tc>
                <a:tc>
                  <a:txBody>
                    <a:bodyPr/>
                    <a:lstStyle/>
                    <a:p>
                      <a:endParaRPr sz="900"/>
                    </a:p>
                  </a:txBody>
                  <a:tcPr marL="0" marR="0" marT="0" marB="0"/>
                </a:tc>
                <a:extLst>
                  <a:ext uri="{0D108BD9-81ED-4DB2-BD59-A6C34878D82A}">
                    <a16:rowId xmlns:a16="http://schemas.microsoft.com/office/drawing/2014/main" val="10030"/>
                  </a:ext>
                </a:extLst>
              </a:tr>
              <a:tr h="167640">
                <a:tc>
                  <a:txBody>
                    <a:bodyPr/>
                    <a:lstStyle/>
                    <a:p>
                      <a:endParaRPr sz="800"/>
                    </a:p>
                  </a:txBody>
                  <a:tcPr marL="0" marR="0" marT="0" marB="0">
                    <a:solidFill>
                      <a:srgbClr val="FEFB99"/>
                    </a:solidFill>
                  </a:tcPr>
                </a:tc>
                <a:tc>
                  <a:txBody>
                    <a:bodyPr/>
                    <a:lstStyle/>
                    <a:p>
                      <a:endParaRPr sz="800"/>
                    </a:p>
                  </a:txBody>
                  <a:tcPr marL="0" marR="0" marT="0" marB="0">
                    <a:solidFill>
                      <a:srgbClr val="FEFB99"/>
                    </a:solidFill>
                  </a:tcPr>
                </a:tc>
                <a:tc gridSpan="3">
                  <a:txBody>
                    <a:bodyPr/>
                    <a:lstStyle/>
                    <a:p>
                      <a:endParaRPr sz="800"/>
                    </a:p>
                  </a:txBody>
                  <a:tcPr marL="0" marR="0" marT="0" marB="0"/>
                </a:tc>
                <a:tc hMerge="1">
                  <a:txBody>
                    <a:bodyPr/>
                    <a:lstStyle/>
                    <a:p>
                      <a:endParaRPr sz="800"/>
                    </a:p>
                  </a:txBody>
                  <a:tcPr marL="0" marR="0" marT="0" marB="0"/>
                </a:tc>
                <a:tc hMerge="1">
                  <a:txBody>
                    <a:bodyPr/>
                    <a:lstStyle/>
                    <a:p>
                      <a:endParaRPr sz="800"/>
                    </a:p>
                  </a:txBody>
                  <a:tcPr marL="0" marR="0" marT="0" marB="0"/>
                </a:tc>
                <a:tc>
                  <a:txBody>
                    <a:bodyPr/>
                    <a:lstStyle/>
                    <a:p>
                      <a:endParaRPr sz="800"/>
                    </a:p>
                  </a:txBody>
                  <a:tcPr marL="0" marR="0" marT="0" marB="0"/>
                </a:tc>
                <a:extLst>
                  <a:ext uri="{0D108BD9-81ED-4DB2-BD59-A6C34878D82A}">
                    <a16:rowId xmlns:a16="http://schemas.microsoft.com/office/drawing/2014/main" val="10031"/>
                  </a:ext>
                </a:extLst>
              </a:tr>
              <a:tr h="176784">
                <a:tc>
                  <a:txBody>
                    <a:bodyPr/>
                    <a:lstStyle/>
                    <a:p>
                      <a:pPr marL="0" marR="0" indent="393700"/>
                      <a:r>
                        <a:rPr lang="en-US" sz="1000" b="1">
                          <a:latin typeface="Arial"/>
                        </a:rPr>
                        <a:t>Net Income</a:t>
                      </a:r>
                    </a:p>
                  </a:txBody>
                  <a:tcPr marL="0" marR="0" marT="0" marB="0" anchor="b">
                    <a:solidFill>
                      <a:srgbClr val="FEFB99"/>
                    </a:solidFill>
                  </a:tcPr>
                </a:tc>
                <a:tc>
                  <a:txBody>
                    <a:bodyPr/>
                    <a:lstStyle/>
                    <a:p>
                      <a:endParaRPr sz="900"/>
                    </a:p>
                  </a:txBody>
                  <a:tcPr marL="0" marR="0" marT="0" marB="0">
                    <a:solidFill>
                      <a:srgbClr val="FEFB99"/>
                    </a:solidFill>
                  </a:tcPr>
                </a:tc>
                <a:tc>
                  <a:txBody>
                    <a:bodyPr/>
                    <a:lstStyle/>
                    <a:p>
                      <a:pPr marL="637100" marR="0" indent="0" algn="just"/>
                      <a:r>
                        <a:rPr lang="en-US" sz="1000">
                          <a:solidFill>
                            <a:srgbClr val="221B28"/>
                          </a:solidFill>
                          <a:latin typeface="Arial"/>
                        </a:rPr>
                        <a:t>535,000</a:t>
                      </a:r>
                    </a:p>
                  </a:txBody>
                  <a:tcPr marL="0" marR="0" marT="0" marB="0" anchor="b"/>
                </a:tc>
                <a:tc>
                  <a:txBody>
                    <a:bodyPr/>
                    <a:lstStyle/>
                    <a:p>
                      <a:pPr marL="0" marR="0" indent="508000"/>
                      <a:r>
                        <a:rPr lang="en-US" sz="1000">
                          <a:solidFill>
                            <a:srgbClr val="221B28"/>
                          </a:solidFill>
                          <a:latin typeface="Arial"/>
                        </a:rPr>
                        <a:t>1,241.500</a:t>
                      </a:r>
                    </a:p>
                  </a:txBody>
                  <a:tcPr marL="0" marR="0" marT="0" marB="0" anchor="b"/>
                </a:tc>
                <a:tc>
                  <a:txBody>
                    <a:bodyPr/>
                    <a:lstStyle/>
                    <a:p>
                      <a:pPr marL="0" marR="0" indent="520700"/>
                      <a:r>
                        <a:rPr lang="en-US" sz="1000">
                          <a:solidFill>
                            <a:srgbClr val="5E5650"/>
                          </a:solidFill>
                          <a:latin typeface="Arial"/>
                        </a:rPr>
                        <a:t>1,038,000</a:t>
                      </a:r>
                    </a:p>
                  </a:txBody>
                  <a:tcPr marL="0" marR="0" marT="0" marB="0" anchor="b"/>
                </a:tc>
                <a:tc>
                  <a:txBody>
                    <a:bodyPr/>
                    <a:lstStyle/>
                    <a:p>
                      <a:endParaRPr sz="900"/>
                    </a:p>
                  </a:txBody>
                  <a:tcPr marL="0" marR="0" marT="0" marB="0"/>
                </a:tc>
                <a:extLst>
                  <a:ext uri="{0D108BD9-81ED-4DB2-BD59-A6C34878D82A}">
                    <a16:rowId xmlns:a16="http://schemas.microsoft.com/office/drawing/2014/main" val="10032"/>
                  </a:ext>
                </a:extLst>
              </a:tr>
              <a:tr h="335280">
                <a:tc>
                  <a:txBody>
                    <a:bodyPr/>
                    <a:lstStyle/>
                    <a:p>
                      <a:endParaRPr sz="1600"/>
                    </a:p>
                  </a:txBody>
                  <a:tcPr marL="0" marR="0" marT="0" marB="0">
                    <a:solidFill>
                      <a:srgbClr val="FEFB99"/>
                    </a:solidFill>
                  </a:tcPr>
                </a:tc>
                <a:tc>
                  <a:txBody>
                    <a:bodyPr/>
                    <a:lstStyle/>
                    <a:p>
                      <a:pPr marL="0" marR="0" indent="0" algn="r">
                        <a:lnSpc>
                          <a:spcPct val="115000"/>
                        </a:lnSpc>
                      </a:pPr>
                      <a:r>
                        <a:rPr lang="en-US" sz="1000" i="1">
                          <a:solidFill>
                            <a:srgbClr val="221B28"/>
                          </a:solidFill>
                          <a:latin typeface="Arial"/>
                        </a:rPr>
                        <a:t>as</a:t>
                      </a:r>
                      <a:r>
                        <a:rPr lang="en-US" sz="1000">
                          <a:solidFill>
                            <a:srgbClr val="221B28"/>
                          </a:solidFill>
                          <a:latin typeface="Arial"/>
                        </a:rPr>
                        <a:t> </a:t>
                      </a:r>
                      <a:r>
                        <a:rPr lang="en-US" sz="1000">
                          <a:solidFill>
                            <a:srgbClr val="403C3D"/>
                          </a:solidFill>
                          <a:latin typeface="Arial"/>
                        </a:rPr>
                        <a:t>54? </a:t>
                      </a:r>
                      <a:r>
                        <a:rPr lang="en-US" sz="1000" i="1">
                          <a:solidFill>
                            <a:srgbClr val="221B28"/>
                          </a:solidFill>
                          <a:latin typeface="Arial"/>
                        </a:rPr>
                        <a:t>to Sales as</a:t>
                      </a:r>
                      <a:r>
                        <a:rPr lang="en-US" sz="1000">
                          <a:solidFill>
                            <a:srgbClr val="221B28"/>
                          </a:solidFill>
                          <a:latin typeface="Arial"/>
                        </a:rPr>
                        <a:t> </a:t>
                      </a:r>
                      <a:r>
                        <a:rPr lang="en-US" sz="1000">
                          <a:solidFill>
                            <a:srgbClr val="403C3D"/>
                          </a:solidFill>
                          <a:latin typeface="Arial"/>
                        </a:rPr>
                        <a:t>54? </a:t>
                      </a:r>
                      <a:r>
                        <a:rPr lang="en-US" sz="1000" i="1">
                          <a:solidFill>
                            <a:srgbClr val="221B28"/>
                          </a:solidFill>
                          <a:latin typeface="Arial"/>
                        </a:rPr>
                        <a:t>to GM</a:t>
                      </a:r>
                    </a:p>
                  </a:txBody>
                  <a:tcPr marL="0" marR="0" marT="0" marB="0" anchor="b">
                    <a:solidFill>
                      <a:srgbClr val="FEFB99"/>
                    </a:solidFill>
                  </a:tcPr>
                </a:tc>
                <a:tc>
                  <a:txBody>
                    <a:bodyPr/>
                    <a:lstStyle/>
                    <a:p>
                      <a:pPr marL="726000" marR="0" indent="0" algn="just"/>
                      <a:r>
                        <a:rPr lang="en-US" sz="1000" i="1">
                          <a:solidFill>
                            <a:srgbClr val="221B28"/>
                          </a:solidFill>
                          <a:latin typeface="Arial"/>
                        </a:rPr>
                        <a:t>13.30%</a:t>
                      </a:r>
                    </a:p>
                    <a:p>
                      <a:pPr marL="726000" marR="0" indent="0" algn="just"/>
                      <a:r>
                        <a:rPr lang="en-US" sz="1000" i="1">
                          <a:solidFill>
                            <a:srgbClr val="221B28"/>
                          </a:solidFill>
                          <a:latin typeface="Arial"/>
                        </a:rPr>
                        <a:t>22.50%</a:t>
                      </a:r>
                    </a:p>
                  </a:txBody>
                  <a:tcPr marL="0" marR="0" marT="0" marB="0" anchor="b">
                    <a:solidFill>
                      <a:srgbClr val="C0C0C0"/>
                    </a:solidFill>
                  </a:tcPr>
                </a:tc>
                <a:tc>
                  <a:txBody>
                    <a:bodyPr/>
                    <a:lstStyle/>
                    <a:p>
                      <a:pPr marL="840300" marR="0" indent="0" algn="just"/>
                      <a:r>
                        <a:rPr lang="en-US" sz="1000" i="1">
                          <a:solidFill>
                            <a:srgbClr val="221B28"/>
                          </a:solidFill>
                          <a:latin typeface="Arial"/>
                        </a:rPr>
                        <a:t>3.10%</a:t>
                      </a:r>
                    </a:p>
                    <a:p>
                      <a:pPr marL="751400" marR="0" indent="0" algn="just"/>
                      <a:r>
                        <a:rPr lang="en-US" sz="1000" i="1">
                          <a:solidFill>
                            <a:srgbClr val="221B28"/>
                          </a:solidFill>
                          <a:latin typeface="Arial"/>
                        </a:rPr>
                        <a:t>23.21%,</a:t>
                      </a:r>
                    </a:p>
                  </a:txBody>
                  <a:tcPr marL="0" marR="0" marT="0" marB="0" anchor="b">
                    <a:solidFill>
                      <a:srgbClr val="C0C0C0"/>
                    </a:solidFill>
                  </a:tcPr>
                </a:tc>
                <a:tc>
                  <a:txBody>
                    <a:bodyPr/>
                    <a:lstStyle/>
                    <a:p>
                      <a:pPr marL="751400" marR="0" indent="0" algn="just"/>
                      <a:r>
                        <a:rPr lang="en-US" sz="1000" i="1">
                          <a:solidFill>
                            <a:srgbClr val="221B28"/>
                          </a:solidFill>
                          <a:latin typeface="Arial"/>
                        </a:rPr>
                        <a:t>10.38%</a:t>
                      </a:r>
                    </a:p>
                    <a:p>
                      <a:pPr marL="751400" marR="0" indent="0" algn="just"/>
                      <a:r>
                        <a:rPr lang="en-US" sz="1000" i="1">
                          <a:solidFill>
                            <a:srgbClr val="221B28"/>
                          </a:solidFill>
                          <a:latin typeface="Arial"/>
                        </a:rPr>
                        <a:t>10.93%</a:t>
                      </a:r>
                    </a:p>
                  </a:txBody>
                  <a:tcPr marL="0" marR="0" marT="0" marB="0" anchor="b">
                    <a:solidFill>
                      <a:srgbClr val="C0C0C0"/>
                    </a:solidFill>
                  </a:tcPr>
                </a:tc>
                <a:tc>
                  <a:txBody>
                    <a:bodyPr/>
                    <a:lstStyle/>
                    <a:p>
                      <a:endParaRPr sz="1600"/>
                    </a:p>
                  </a:txBody>
                  <a:tcPr marL="0" marR="0" marT="0" marB="0"/>
                </a:tc>
                <a:extLst>
                  <a:ext uri="{0D108BD9-81ED-4DB2-BD59-A6C34878D82A}">
                    <a16:rowId xmlns:a16="http://schemas.microsoft.com/office/drawing/2014/main" val="10033"/>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2602992" y="411480"/>
            <a:ext cx="3913632" cy="463296"/>
          </a:xfrm>
          <a:prstGeom prst="rect">
            <a:avLst/>
          </a:prstGeom>
          <a:solidFill>
            <a:srgbClr val="FFFFFF"/>
          </a:solidFill>
        </p:spPr>
        <p:txBody>
          <a:bodyPr wrap="none" lIns="0" tIns="0" rIns="0" bIns="0">
            <a:noAutofit/>
          </a:bodyPr>
          <a:lstStyle/>
          <a:p>
            <a:pPr marL="0" marR="0" indent="0" algn="ctr"/>
            <a:r>
              <a:rPr lang="ru" sz="3600">
                <a:solidFill>
                  <a:srgbClr val="DC5B2B"/>
                </a:solidFill>
                <a:latin typeface="Arial"/>
              </a:rPr>
              <a:t>4 </a:t>
            </a:r>
            <a:r>
              <a:rPr lang="en-US" sz="3600">
                <a:solidFill>
                  <a:srgbClr val="DC5B2B"/>
                </a:solidFill>
                <a:latin typeface="Arial"/>
              </a:rPr>
              <a:t>Needs for Capital</a:t>
            </a:r>
          </a:p>
        </p:txBody>
      </p:sp>
      <p:sp>
        <p:nvSpPr>
          <p:cNvPr id="3" name="Прямоугольник 2"/>
          <p:cNvSpPr/>
          <p:nvPr/>
        </p:nvSpPr>
        <p:spPr>
          <a:xfrm>
            <a:off x="3828288" y="1133856"/>
            <a:ext cx="4343400" cy="173736"/>
          </a:xfrm>
          <a:prstGeom prst="rect">
            <a:avLst/>
          </a:prstGeom>
          <a:solidFill>
            <a:srgbClr val="FFFFFF"/>
          </a:solidFill>
        </p:spPr>
        <p:txBody>
          <a:bodyPr wrap="none" lIns="0" tIns="0" rIns="0" bIns="0">
            <a:noAutofit/>
          </a:bodyPr>
          <a:lstStyle/>
          <a:p>
            <a:pPr marL="0" marR="0" indent="0" defTabSz="2087880">
              <a:tabLst>
                <a:tab pos="2087880" algn="l"/>
                <a:tab pos="4105656" algn="l"/>
              </a:tabLst>
            </a:pPr>
            <a:r>
              <a:rPr lang="en-US" sz="1400">
                <a:solidFill>
                  <a:srgbClr val="221B28"/>
                </a:solidFill>
                <a:latin typeface="Arial"/>
              </a:rPr>
              <a:t>Make	Sell	Do</a:t>
            </a:r>
          </a:p>
        </p:txBody>
      </p:sp>
      <p:graphicFrame>
        <p:nvGraphicFramePr>
          <p:cNvPr id="4" name="Таблица 3"/>
          <p:cNvGraphicFramePr>
            <a:graphicFrameLocks noGrp="1"/>
          </p:cNvGraphicFramePr>
          <p:nvPr/>
        </p:nvGraphicFramePr>
        <p:xfrm>
          <a:off x="185928" y="1624584"/>
          <a:ext cx="8781288" cy="4645152"/>
        </p:xfrm>
        <a:graphic>
          <a:graphicData uri="http://schemas.openxmlformats.org/drawingml/2006/table">
            <a:tbl>
              <a:tblPr/>
              <a:tblGrid>
                <a:gridCol w="2926080">
                  <a:extLst>
                    <a:ext uri="{9D8B030D-6E8A-4147-A177-3AD203B41FA5}">
                      <a16:colId xmlns:a16="http://schemas.microsoft.com/office/drawing/2014/main" val="20000"/>
                    </a:ext>
                  </a:extLst>
                </a:gridCol>
                <a:gridCol w="1871472">
                  <a:extLst>
                    <a:ext uri="{9D8B030D-6E8A-4147-A177-3AD203B41FA5}">
                      <a16:colId xmlns:a16="http://schemas.microsoft.com/office/drawing/2014/main" val="20001"/>
                    </a:ext>
                  </a:extLst>
                </a:gridCol>
                <a:gridCol w="2154936">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234696">
                <a:tc>
                  <a:txBody>
                    <a:bodyPr/>
                    <a:lstStyle/>
                    <a:p>
                      <a:pPr marL="0" marR="0" indent="0"/>
                      <a:r>
                        <a:rPr lang="en-US" sz="1400">
                          <a:solidFill>
                            <a:srgbClr val="221B28"/>
                          </a:solidFill>
                          <a:latin typeface="Arial"/>
                        </a:rPr>
                        <a:t>Net Income</a:t>
                      </a:r>
                    </a:p>
                  </a:txBody>
                  <a:tcPr marL="0" marR="0" marT="0" marB="0" anchor="b"/>
                </a:tc>
                <a:tc>
                  <a:txBody>
                    <a:bodyPr/>
                    <a:lstStyle/>
                    <a:p>
                      <a:pPr marL="0" marR="0" indent="0" algn="r"/>
                      <a:r>
                        <a:rPr lang="en-US" sz="1400">
                          <a:solidFill>
                            <a:srgbClr val="221B28"/>
                          </a:solidFill>
                          <a:latin typeface="Arial"/>
                        </a:rPr>
                        <a:t>585,000</a:t>
                      </a:r>
                    </a:p>
                  </a:txBody>
                  <a:tcPr marL="0" marR="0" marT="0" marB="0" anchor="b"/>
                </a:tc>
                <a:tc>
                  <a:txBody>
                    <a:bodyPr/>
                    <a:lstStyle/>
                    <a:p>
                      <a:pPr marL="0" marR="0" indent="0" algn="r"/>
                      <a:r>
                        <a:rPr lang="en-US" sz="1400">
                          <a:solidFill>
                            <a:srgbClr val="221B28"/>
                          </a:solidFill>
                          <a:latin typeface="Arial"/>
                        </a:rPr>
                        <a:t>1,241,500</a:t>
                      </a:r>
                    </a:p>
                  </a:txBody>
                  <a:tcPr marL="0" marR="0" marT="0" marB="0" anchor="b"/>
                </a:tc>
                <a:tc>
                  <a:txBody>
                    <a:bodyPr/>
                    <a:lstStyle/>
                    <a:p>
                      <a:pPr marL="0" marR="0" indent="0" algn="r"/>
                      <a:r>
                        <a:rPr lang="en-US" sz="1400">
                          <a:solidFill>
                            <a:srgbClr val="221B28"/>
                          </a:solidFill>
                          <a:latin typeface="Arial"/>
                        </a:rPr>
                        <a:t>1,038,000</a:t>
                      </a:r>
                    </a:p>
                  </a:txBody>
                  <a:tcPr marL="0" marR="0" marT="0" marB="0" anchor="b"/>
                </a:tc>
                <a:extLst>
                  <a:ext uri="{0D108BD9-81ED-4DB2-BD59-A6C34878D82A}">
                    <a16:rowId xmlns:a16="http://schemas.microsoft.com/office/drawing/2014/main" val="10000"/>
                  </a:ext>
                </a:extLst>
              </a:tr>
              <a:tr h="259080">
                <a:tc>
                  <a:txBody>
                    <a:bodyPr/>
                    <a:lstStyle/>
                    <a:p>
                      <a:pPr marL="1945200" marR="0" indent="0"/>
                      <a:r>
                        <a:rPr lang="en-US" sz="800">
                          <a:solidFill>
                            <a:srgbClr val="221B28"/>
                          </a:solidFill>
                          <a:latin typeface="Arial"/>
                        </a:rPr>
                        <a:t>os St to Hewn ue</a:t>
                      </a:r>
                    </a:p>
                  </a:txBody>
                  <a:tcPr marL="0" marR="0" marT="0" marB="0" anchor="b"/>
                </a:tc>
                <a:tc>
                  <a:txBody>
                    <a:bodyPr/>
                    <a:lstStyle/>
                    <a:p>
                      <a:pPr marL="0" marR="0" indent="0" algn="r"/>
                      <a:r>
                        <a:rPr lang="en-US" sz="1100" b="1" i="1">
                          <a:latin typeface="Bookman Old Style"/>
                        </a:rPr>
                        <a:t>133%</a:t>
                      </a:r>
                    </a:p>
                  </a:txBody>
                  <a:tcPr marL="0" marR="0" marT="0" marB="0" anchor="b">
                    <a:solidFill>
                      <a:srgbClr val="E8EFE2"/>
                    </a:solidFill>
                  </a:tcPr>
                </a:tc>
                <a:tc>
                  <a:txBody>
                    <a:bodyPr/>
                    <a:lstStyle/>
                    <a:p>
                      <a:pPr marL="0" marR="0" indent="0" algn="r"/>
                      <a:r>
                        <a:rPr lang="en-US" sz="1100" b="1" i="1">
                          <a:latin typeface="Bookman Old Style"/>
                        </a:rPr>
                        <a:t>3.1%</a:t>
                      </a:r>
                    </a:p>
                  </a:txBody>
                  <a:tcPr marL="0" marR="0" marT="0" marB="0" anchor="b">
                    <a:solidFill>
                      <a:srgbClr val="E8EFE2"/>
                    </a:solidFill>
                  </a:tcPr>
                </a:tc>
                <a:tc>
                  <a:txBody>
                    <a:bodyPr/>
                    <a:lstStyle/>
                    <a:p>
                      <a:pPr marL="0" marR="0" indent="0" algn="r"/>
                      <a:r>
                        <a:rPr lang="en-US" sz="1100" b="1" i="1">
                          <a:latin typeface="Bookman Old Style"/>
                        </a:rPr>
                        <a:t>10.4%</a:t>
                      </a:r>
                    </a:p>
                  </a:txBody>
                  <a:tcPr marL="0" marR="0" marT="0" marB="0" anchor="b">
                    <a:solidFill>
                      <a:srgbClr val="E8EFE2"/>
                    </a:solidFill>
                  </a:tcPr>
                </a:tc>
                <a:extLst>
                  <a:ext uri="{0D108BD9-81ED-4DB2-BD59-A6C34878D82A}">
                    <a16:rowId xmlns:a16="http://schemas.microsoft.com/office/drawing/2014/main" val="10001"/>
                  </a:ext>
                </a:extLst>
              </a:tr>
              <a:tr h="259080">
                <a:tc>
                  <a:txBody>
                    <a:bodyPr/>
                    <a:lstStyle/>
                    <a:p>
                      <a:pPr marL="0" marR="0" indent="0"/>
                      <a:r>
                        <a:rPr lang="en-US" sz="1400">
                          <a:solidFill>
                            <a:srgbClr val="221B28"/>
                          </a:solidFill>
                          <a:latin typeface="Arial"/>
                        </a:rPr>
                        <a:t>Trade Capital</a:t>
                      </a:r>
                    </a:p>
                  </a:txBody>
                  <a:tcPr marL="0" marR="0" marT="0" marB="0" anchor="b"/>
                </a:tc>
                <a:tc>
                  <a:txBody>
                    <a:bodyPr/>
                    <a:lstStyle/>
                    <a:p>
                      <a:endParaRPr sz="1300"/>
                    </a:p>
                  </a:txBody>
                  <a:tcPr marL="0" marR="0" marT="0" marB="0"/>
                </a:tc>
                <a:tc>
                  <a:txBody>
                    <a:bodyPr/>
                    <a:lstStyle/>
                    <a:p>
                      <a:endParaRPr sz="1300"/>
                    </a:p>
                  </a:txBody>
                  <a:tcPr marL="0" marR="0" marT="0" marB="0"/>
                </a:tc>
                <a:tc>
                  <a:txBody>
                    <a:bodyPr/>
                    <a:lstStyle/>
                    <a:p>
                      <a:endParaRPr sz="1300"/>
                    </a:p>
                  </a:txBody>
                  <a:tcPr marL="0" marR="0" marT="0" marB="0"/>
                </a:tc>
                <a:extLst>
                  <a:ext uri="{0D108BD9-81ED-4DB2-BD59-A6C34878D82A}">
                    <a16:rowId xmlns:a16="http://schemas.microsoft.com/office/drawing/2014/main" val="10002"/>
                  </a:ext>
                </a:extLst>
              </a:tr>
              <a:tr h="259080">
                <a:tc>
                  <a:txBody>
                    <a:bodyPr/>
                    <a:lstStyle/>
                    <a:p>
                      <a:pPr marL="0" marR="0" indent="139700"/>
                      <a:r>
                        <a:rPr lang="en-US" sz="1400">
                          <a:solidFill>
                            <a:srgbClr val="221B28"/>
                          </a:solidFill>
                          <a:latin typeface="Arial"/>
                        </a:rPr>
                        <a:t>Accounts Receivable</a:t>
                      </a:r>
                    </a:p>
                  </a:txBody>
                  <a:tcPr marL="0" marR="0" marT="0" marB="0" anchor="b"/>
                </a:tc>
                <a:tc>
                  <a:txBody>
                    <a:bodyPr/>
                    <a:lstStyle/>
                    <a:p>
                      <a:pPr marL="853000" marR="0" indent="0"/>
                      <a:r>
                        <a:rPr lang="en-US" sz="1400">
                          <a:solidFill>
                            <a:srgbClr val="221B28"/>
                          </a:solidFill>
                          <a:latin typeface="Arial"/>
                        </a:rPr>
                        <a:t>542,465.75</a:t>
                      </a:r>
                    </a:p>
                  </a:txBody>
                  <a:tcPr marL="0" marR="0" marT="0" marB="0" anchor="b"/>
                </a:tc>
                <a:tc>
                  <a:txBody>
                    <a:bodyPr/>
                    <a:lstStyle/>
                    <a:p>
                      <a:pPr marL="980000" marR="0" indent="0"/>
                      <a:r>
                        <a:rPr lang="en-US" sz="1400">
                          <a:solidFill>
                            <a:srgbClr val="221B28"/>
                          </a:solidFill>
                          <a:latin typeface="Arial"/>
                        </a:rPr>
                        <a:t>2,191,780.82</a:t>
                      </a:r>
                    </a:p>
                  </a:txBody>
                  <a:tcPr marL="0" marR="0" marT="0" marB="0" anchor="b"/>
                </a:tc>
                <a:tc>
                  <a:txBody>
                    <a:bodyPr/>
                    <a:lstStyle/>
                    <a:p>
                      <a:pPr marL="662500" marR="0" indent="0"/>
                      <a:r>
                        <a:rPr lang="en-US" sz="1400">
                          <a:solidFill>
                            <a:srgbClr val="221B28"/>
                          </a:solidFill>
                          <a:latin typeface="Arial"/>
                        </a:rPr>
                        <a:t>1,232,876.71</a:t>
                      </a:r>
                    </a:p>
                  </a:txBody>
                  <a:tcPr marL="0" marR="0" marT="0" marB="0" anchor="b"/>
                </a:tc>
                <a:extLst>
                  <a:ext uri="{0D108BD9-81ED-4DB2-BD59-A6C34878D82A}">
                    <a16:rowId xmlns:a16="http://schemas.microsoft.com/office/drawing/2014/main" val="10003"/>
                  </a:ext>
                </a:extLst>
              </a:tr>
              <a:tr h="256032">
                <a:tc>
                  <a:txBody>
                    <a:bodyPr/>
                    <a:lstStyle/>
                    <a:p>
                      <a:pPr marL="0" marR="0" indent="139700"/>
                      <a:r>
                        <a:rPr lang="en-US" sz="1400">
                          <a:solidFill>
                            <a:srgbClr val="403C3D"/>
                          </a:solidFill>
                          <a:latin typeface="Arial"/>
                        </a:rPr>
                        <a:t>Inventory</a:t>
                      </a:r>
                    </a:p>
                  </a:txBody>
                  <a:tcPr marL="0" marR="0" marT="0" marB="0" anchor="b"/>
                </a:tc>
                <a:tc>
                  <a:txBody>
                    <a:bodyPr/>
                    <a:lstStyle/>
                    <a:p>
                      <a:pPr marL="853000" marR="0" indent="0"/>
                      <a:r>
                        <a:rPr lang="en-US" sz="1400">
                          <a:solidFill>
                            <a:srgbClr val="221B28"/>
                          </a:solidFill>
                          <a:latin typeface="Arial"/>
                        </a:rPr>
                        <a:t>295,890.41</a:t>
                      </a:r>
                    </a:p>
                  </a:txBody>
                  <a:tcPr marL="0" marR="0" marT="0" marB="0" anchor="b"/>
                </a:tc>
                <a:tc>
                  <a:txBody>
                    <a:bodyPr/>
                    <a:lstStyle/>
                    <a:p>
                      <a:pPr marL="980000" marR="0" indent="0"/>
                      <a:r>
                        <a:rPr lang="en-US" sz="1400">
                          <a:solidFill>
                            <a:srgbClr val="221B28"/>
                          </a:solidFill>
                          <a:latin typeface="Arial"/>
                        </a:rPr>
                        <a:t>2,847,945.21</a:t>
                      </a:r>
                    </a:p>
                  </a:txBody>
                  <a:tcPr marL="0" marR="0" marT="0" marB="0" anchor="b"/>
                </a:tc>
                <a:tc>
                  <a:txBody>
                    <a:bodyPr/>
                    <a:lstStyle/>
                    <a:p>
                      <a:pPr marL="0" marR="256100" indent="0" algn="r"/>
                      <a:r>
                        <a:rPr lang="en-US" sz="1400">
                          <a:latin typeface="Arial"/>
                        </a:rPr>
                        <a:t>-</a:t>
                      </a:r>
                    </a:p>
                  </a:txBody>
                  <a:tcPr marL="0" marR="0" marT="0" marB="0" anchor="b"/>
                </a:tc>
                <a:extLst>
                  <a:ext uri="{0D108BD9-81ED-4DB2-BD59-A6C34878D82A}">
                    <a16:rowId xmlns:a16="http://schemas.microsoft.com/office/drawing/2014/main" val="10004"/>
                  </a:ext>
                </a:extLst>
              </a:tr>
              <a:tr h="259080">
                <a:tc>
                  <a:txBody>
                    <a:bodyPr/>
                    <a:lstStyle/>
                    <a:p>
                      <a:pPr marL="0" marR="0" indent="139700"/>
                      <a:r>
                        <a:rPr lang="en-US" sz="1300" b="1">
                          <a:solidFill>
                            <a:srgbClr val="052F48"/>
                          </a:solidFill>
                          <a:latin typeface="Arial"/>
                        </a:rPr>
                        <a:t>WIP</a:t>
                      </a:r>
                    </a:p>
                  </a:txBody>
                  <a:tcPr marL="0" marR="0" marT="0" marB="0" anchor="b"/>
                </a:tc>
                <a:tc>
                  <a:txBody>
                    <a:bodyPr/>
                    <a:lstStyle/>
                    <a:p>
                      <a:pPr marL="0" marR="243400" indent="0" algn="r"/>
                      <a:r>
                        <a:rPr lang="en-US" sz="1400">
                          <a:solidFill>
                            <a:srgbClr val="403C3D"/>
                          </a:solidFill>
                          <a:latin typeface="Arial"/>
                        </a:rPr>
                        <a:t>-</a:t>
                      </a:r>
                    </a:p>
                  </a:txBody>
                  <a:tcPr marL="0" marR="0" marT="0" marB="0" anchor="ctr"/>
                </a:tc>
                <a:tc>
                  <a:txBody>
                    <a:bodyPr/>
                    <a:lstStyle/>
                    <a:p>
                      <a:pPr marL="1742000" marR="0" indent="0"/>
                      <a:r>
                        <a:rPr lang="en-US" sz="1400">
                          <a:solidFill>
                            <a:srgbClr val="221B28"/>
                          </a:solidFill>
                          <a:latin typeface="Arial"/>
                        </a:rPr>
                        <a:t>-</a:t>
                      </a:r>
                    </a:p>
                  </a:txBody>
                  <a:tcPr marL="0" marR="0" marT="0" marB="0" anchor="ctr"/>
                </a:tc>
                <a:tc>
                  <a:txBody>
                    <a:bodyPr/>
                    <a:lstStyle/>
                    <a:p>
                      <a:pPr marL="802200" marR="0" indent="0"/>
                      <a:r>
                        <a:rPr lang="en-US" sz="1400">
                          <a:solidFill>
                            <a:srgbClr val="221B28"/>
                          </a:solidFill>
                          <a:latin typeface="Arial"/>
                        </a:rPr>
                        <a:t>410,958.90</a:t>
                      </a:r>
                    </a:p>
                  </a:txBody>
                  <a:tcPr marL="0" marR="0" marT="0" marB="0" anchor="b"/>
                </a:tc>
                <a:extLst>
                  <a:ext uri="{0D108BD9-81ED-4DB2-BD59-A6C34878D82A}">
                    <a16:rowId xmlns:a16="http://schemas.microsoft.com/office/drawing/2014/main" val="10005"/>
                  </a:ext>
                </a:extLst>
              </a:tr>
              <a:tr h="259080">
                <a:tc>
                  <a:txBody>
                    <a:bodyPr/>
                    <a:lstStyle/>
                    <a:p>
                      <a:pPr marL="0" marR="0" indent="139700"/>
                      <a:r>
                        <a:rPr lang="en-US" sz="1400">
                          <a:solidFill>
                            <a:srgbClr val="221B28"/>
                          </a:solidFill>
                          <a:latin typeface="Arial"/>
                        </a:rPr>
                        <a:t>Accounts Payable</a:t>
                      </a:r>
                    </a:p>
                  </a:txBody>
                  <a:tcPr marL="0" marR="0" marT="0" marB="0" anchor="b"/>
                </a:tc>
                <a:tc>
                  <a:txBody>
                    <a:bodyPr/>
                    <a:lstStyle/>
                    <a:p>
                      <a:pPr marL="0" marR="243400" indent="0" algn="r"/>
                      <a:r>
                        <a:rPr lang="en-US" sz="1400">
                          <a:solidFill>
                            <a:srgbClr val="221B28"/>
                          </a:solidFill>
                          <a:latin typeface="Arial"/>
                        </a:rPr>
                        <a:t>(295,890.41)</a:t>
                      </a:r>
                    </a:p>
                  </a:txBody>
                  <a:tcPr marL="0" marR="0" marT="0" marB="0" anchor="b"/>
                </a:tc>
                <a:tc>
                  <a:txBody>
                    <a:bodyPr/>
                    <a:lstStyle/>
                    <a:p>
                      <a:pPr marL="0" marR="0" indent="0" algn="r"/>
                      <a:r>
                        <a:rPr lang="en-US" sz="1400">
                          <a:solidFill>
                            <a:srgbClr val="221B28"/>
                          </a:solidFill>
                          <a:latin typeface="Arial"/>
                        </a:rPr>
                        <a:t>(4,271,917.81)</a:t>
                      </a:r>
                    </a:p>
                  </a:txBody>
                  <a:tcPr marL="0" marR="0" marT="0" marB="0" anchor="b"/>
                </a:tc>
                <a:tc>
                  <a:txBody>
                    <a:bodyPr/>
                    <a:lstStyle/>
                    <a:p>
                      <a:pPr marL="0" marR="256100" indent="0" algn="r"/>
                      <a:r>
                        <a:rPr lang="en-US" sz="1400">
                          <a:latin typeface="Arial"/>
                        </a:rPr>
                        <a:t>-</a:t>
                      </a:r>
                    </a:p>
                  </a:txBody>
                  <a:tcPr marL="0" marR="0" marT="0" marB="0" anchor="ctr"/>
                </a:tc>
                <a:extLst>
                  <a:ext uri="{0D108BD9-81ED-4DB2-BD59-A6C34878D82A}">
                    <a16:rowId xmlns:a16="http://schemas.microsoft.com/office/drawing/2014/main" val="10006"/>
                  </a:ext>
                </a:extLst>
              </a:tr>
              <a:tr h="259080">
                <a:tc>
                  <a:txBody>
                    <a:bodyPr/>
                    <a:lstStyle/>
                    <a:p>
                      <a:pPr marL="0" marR="0" indent="139700"/>
                      <a:r>
                        <a:rPr lang="en-US" sz="1400">
                          <a:solidFill>
                            <a:srgbClr val="221B28"/>
                          </a:solidFill>
                          <a:latin typeface="Arial"/>
                        </a:rPr>
                        <a:t>Deferred Revenue</a:t>
                      </a:r>
                    </a:p>
                  </a:txBody>
                  <a:tcPr marL="0" marR="0" marT="0" marB="0" anchor="ctr"/>
                </a:tc>
                <a:tc>
                  <a:txBody>
                    <a:bodyPr/>
                    <a:lstStyle/>
                    <a:p>
                      <a:pPr marL="0" marR="243400" indent="0" algn="r"/>
                      <a:r>
                        <a:rPr lang="en-US" sz="1400">
                          <a:solidFill>
                            <a:srgbClr val="403C3D"/>
                          </a:solidFill>
                          <a:latin typeface="Arial"/>
                        </a:rPr>
                        <a:t>-</a:t>
                      </a:r>
                    </a:p>
                  </a:txBody>
                  <a:tcPr marL="0" marR="0" marT="0" marB="0" anchor="ctr"/>
                </a:tc>
                <a:tc>
                  <a:txBody>
                    <a:bodyPr/>
                    <a:lstStyle/>
                    <a:p>
                      <a:pPr marL="1742000" marR="0" indent="0"/>
                      <a:r>
                        <a:rPr lang="en-US" sz="1400">
                          <a:solidFill>
                            <a:srgbClr val="221B28"/>
                          </a:solidFill>
                          <a:latin typeface="Arial"/>
                        </a:rPr>
                        <a:t>-</a:t>
                      </a:r>
                    </a:p>
                  </a:txBody>
                  <a:tcPr marL="0" marR="0" marT="0" marB="0" anchor="ctr"/>
                </a:tc>
                <a:tc>
                  <a:txBody>
                    <a:bodyPr/>
                    <a:lstStyle/>
                    <a:p>
                      <a:pPr marL="0" marR="0" indent="0" algn="r"/>
                      <a:r>
                        <a:rPr lang="en-US" sz="1400">
                          <a:solidFill>
                            <a:srgbClr val="221B28"/>
                          </a:solidFill>
                          <a:latin typeface="Arial"/>
                        </a:rPr>
                        <a:t>(1,095,890.41)</a:t>
                      </a:r>
                    </a:p>
                  </a:txBody>
                  <a:tcPr marL="0" marR="0" marT="0" marB="0" anchor="b"/>
                </a:tc>
                <a:extLst>
                  <a:ext uri="{0D108BD9-81ED-4DB2-BD59-A6C34878D82A}">
                    <a16:rowId xmlns:a16="http://schemas.microsoft.com/office/drawing/2014/main" val="10007"/>
                  </a:ext>
                </a:extLst>
              </a:tr>
              <a:tr h="259080">
                <a:tc>
                  <a:txBody>
                    <a:bodyPr/>
                    <a:lstStyle/>
                    <a:p>
                      <a:pPr marL="1297500" marR="0" indent="0"/>
                      <a:r>
                        <a:rPr lang="en-US" sz="1400">
                          <a:solidFill>
                            <a:srgbClr val="221B28"/>
                          </a:solidFill>
                          <a:latin typeface="Arial"/>
                        </a:rPr>
                        <a:t>Net Trade Capital</a:t>
                      </a:r>
                    </a:p>
                  </a:txBody>
                  <a:tcPr marL="0" marR="0" marT="0" marB="0" anchor="b"/>
                </a:tc>
                <a:tc>
                  <a:txBody>
                    <a:bodyPr/>
                    <a:lstStyle/>
                    <a:p>
                      <a:pPr marL="853000" marR="0" indent="0"/>
                      <a:r>
                        <a:rPr lang="en-US" sz="1400">
                          <a:solidFill>
                            <a:srgbClr val="221B28"/>
                          </a:solidFill>
                          <a:latin typeface="Arial"/>
                        </a:rPr>
                        <a:t>542,465.75</a:t>
                      </a:r>
                    </a:p>
                  </a:txBody>
                  <a:tcPr marL="0" marR="0" marT="0" marB="0" anchor="b"/>
                </a:tc>
                <a:tc>
                  <a:txBody>
                    <a:bodyPr/>
                    <a:lstStyle/>
                    <a:p>
                      <a:pPr marL="1132400" marR="0" indent="0"/>
                      <a:r>
                        <a:rPr lang="en-US" sz="1400">
                          <a:solidFill>
                            <a:srgbClr val="221B28"/>
                          </a:solidFill>
                          <a:latin typeface="Arial"/>
                        </a:rPr>
                        <a:t>767,808.22</a:t>
                      </a:r>
                    </a:p>
                  </a:txBody>
                  <a:tcPr marL="0" marR="0" marT="0" marB="0" anchor="b"/>
                </a:tc>
                <a:tc>
                  <a:txBody>
                    <a:bodyPr/>
                    <a:lstStyle/>
                    <a:p>
                      <a:pPr marL="802200" marR="0" indent="0"/>
                      <a:r>
                        <a:rPr lang="en-US" sz="1400">
                          <a:solidFill>
                            <a:srgbClr val="221B28"/>
                          </a:solidFill>
                          <a:latin typeface="Arial"/>
                        </a:rPr>
                        <a:t>547,945.21</a:t>
                      </a:r>
                    </a:p>
                  </a:txBody>
                  <a:tcPr marL="0" marR="0" marT="0" marB="0" anchor="b"/>
                </a:tc>
                <a:extLst>
                  <a:ext uri="{0D108BD9-81ED-4DB2-BD59-A6C34878D82A}">
                    <a16:rowId xmlns:a16="http://schemas.microsoft.com/office/drawing/2014/main" val="10008"/>
                  </a:ext>
                </a:extLst>
              </a:tr>
              <a:tr h="256032">
                <a:tc>
                  <a:txBody>
                    <a:bodyPr/>
                    <a:lstStyle/>
                    <a:p>
                      <a:pPr marL="1945200" marR="0" indent="0"/>
                      <a:r>
                        <a:rPr lang="en-US" sz="800">
                          <a:solidFill>
                            <a:srgbClr val="221B28"/>
                          </a:solidFill>
                          <a:latin typeface="Arial"/>
                        </a:rPr>
                        <a:t>os St to Hewn ue</a:t>
                      </a:r>
                    </a:p>
                  </a:txBody>
                  <a:tcPr marL="0" marR="0" marT="0" marB="0" anchor="b"/>
                </a:tc>
                <a:tc>
                  <a:txBody>
                    <a:bodyPr/>
                    <a:lstStyle/>
                    <a:p>
                      <a:pPr marL="0" marR="0" indent="0" algn="r"/>
                      <a:r>
                        <a:rPr lang="en-US" sz="1100" b="1" i="1">
                          <a:latin typeface="Bookman Old Style"/>
                        </a:rPr>
                        <a:t>123%</a:t>
                      </a:r>
                    </a:p>
                  </a:txBody>
                  <a:tcPr marL="0" marR="0" marT="0" marB="0" anchor="b">
                    <a:solidFill>
                      <a:srgbClr val="E8EFE2"/>
                    </a:solidFill>
                  </a:tcPr>
                </a:tc>
                <a:tc>
                  <a:txBody>
                    <a:bodyPr/>
                    <a:lstStyle/>
                    <a:p>
                      <a:pPr marL="0" marR="0" indent="0" algn="r"/>
                      <a:r>
                        <a:rPr lang="en-US" sz="1100" b="1" i="1">
                          <a:latin typeface="Bookman Old Style"/>
                        </a:rPr>
                        <a:t>13%</a:t>
                      </a:r>
                    </a:p>
                  </a:txBody>
                  <a:tcPr marL="0" marR="0" marT="0" marB="0" anchor="b">
                    <a:solidFill>
                      <a:srgbClr val="E8EFE2"/>
                    </a:solidFill>
                  </a:tcPr>
                </a:tc>
                <a:tc>
                  <a:txBody>
                    <a:bodyPr/>
                    <a:lstStyle/>
                    <a:p>
                      <a:pPr marL="0" marR="0" indent="0" algn="r"/>
                      <a:r>
                        <a:rPr lang="en-US" sz="1100" b="1" i="1">
                          <a:latin typeface="Bookman Old Style"/>
                        </a:rPr>
                        <a:t>5.5%</a:t>
                      </a:r>
                    </a:p>
                  </a:txBody>
                  <a:tcPr marL="0" marR="0" marT="0" marB="0" anchor="b">
                    <a:solidFill>
                      <a:srgbClr val="E8EFE2"/>
                    </a:solidFill>
                  </a:tcPr>
                </a:tc>
                <a:extLst>
                  <a:ext uri="{0D108BD9-81ED-4DB2-BD59-A6C34878D82A}">
                    <a16:rowId xmlns:a16="http://schemas.microsoft.com/office/drawing/2014/main" val="10009"/>
                  </a:ext>
                </a:extLst>
              </a:tr>
              <a:tr h="259080">
                <a:tc>
                  <a:txBody>
                    <a:bodyPr/>
                    <a:lstStyle/>
                    <a:p>
                      <a:endParaRPr sz="1300"/>
                    </a:p>
                  </a:txBody>
                  <a:tcPr marL="0" marR="0" marT="0" marB="0"/>
                </a:tc>
                <a:tc>
                  <a:txBody>
                    <a:bodyPr/>
                    <a:lstStyle/>
                    <a:p>
                      <a:endParaRPr sz="1300"/>
                    </a:p>
                  </a:txBody>
                  <a:tcPr marL="0" marR="0" marT="0" marB="0"/>
                </a:tc>
                <a:tc>
                  <a:txBody>
                    <a:bodyPr/>
                    <a:lstStyle/>
                    <a:p>
                      <a:endParaRPr sz="1300"/>
                    </a:p>
                  </a:txBody>
                  <a:tcPr marL="0" marR="0" marT="0" marB="0"/>
                </a:tc>
                <a:tc>
                  <a:txBody>
                    <a:bodyPr/>
                    <a:lstStyle/>
                    <a:p>
                      <a:endParaRPr sz="1300"/>
                    </a:p>
                  </a:txBody>
                  <a:tcPr marL="0" marR="0" marT="0" marB="0"/>
                </a:tc>
                <a:extLst>
                  <a:ext uri="{0D108BD9-81ED-4DB2-BD59-A6C34878D82A}">
                    <a16:rowId xmlns:a16="http://schemas.microsoft.com/office/drawing/2014/main" val="10010"/>
                  </a:ext>
                </a:extLst>
              </a:tr>
              <a:tr h="259080">
                <a:tc>
                  <a:txBody>
                    <a:bodyPr/>
                    <a:lstStyle/>
                    <a:p>
                      <a:pPr marL="0" marR="0" indent="0"/>
                      <a:r>
                        <a:rPr lang="en-US" sz="1400">
                          <a:solidFill>
                            <a:srgbClr val="221B28"/>
                          </a:solidFill>
                          <a:latin typeface="Arial"/>
                        </a:rPr>
                        <a:t>Infrastructure Capital (net of debt)</a:t>
                      </a:r>
                    </a:p>
                  </a:txBody>
                  <a:tcPr marL="0" marR="0" marT="0" marB="0" anchor="b"/>
                </a:tc>
                <a:tc>
                  <a:txBody>
                    <a:bodyPr/>
                    <a:lstStyle/>
                    <a:p>
                      <a:pPr marL="853000" marR="0" indent="0"/>
                      <a:r>
                        <a:rPr lang="en-US" sz="1400">
                          <a:solidFill>
                            <a:srgbClr val="221B28"/>
                          </a:solidFill>
                          <a:latin typeface="Arial"/>
                        </a:rPr>
                        <a:t>250,000.00</a:t>
                      </a:r>
                    </a:p>
                  </a:txBody>
                  <a:tcPr marL="0" marR="0" marT="0" marB="0" anchor="b"/>
                </a:tc>
                <a:tc>
                  <a:txBody>
                    <a:bodyPr/>
                    <a:lstStyle/>
                    <a:p>
                      <a:pPr marL="1132400" marR="0" indent="0"/>
                      <a:r>
                        <a:rPr lang="en-US" sz="1400">
                          <a:solidFill>
                            <a:srgbClr val="221B28"/>
                          </a:solidFill>
                          <a:latin typeface="Arial"/>
                        </a:rPr>
                        <a:t>750,000.00</a:t>
                      </a:r>
                    </a:p>
                  </a:txBody>
                  <a:tcPr marL="0" marR="0" marT="0" marB="0" anchor="b"/>
                </a:tc>
                <a:tc>
                  <a:txBody>
                    <a:bodyPr/>
                    <a:lstStyle/>
                    <a:p>
                      <a:pPr marL="802200" marR="0" indent="0"/>
                      <a:r>
                        <a:rPr lang="en-US" sz="1400">
                          <a:solidFill>
                            <a:srgbClr val="221B28"/>
                          </a:solidFill>
                          <a:latin typeface="Arial"/>
                        </a:rPr>
                        <a:t>100,000.00</a:t>
                      </a:r>
                    </a:p>
                  </a:txBody>
                  <a:tcPr marL="0" marR="0" marT="0" marB="0" anchor="b"/>
                </a:tc>
                <a:extLst>
                  <a:ext uri="{0D108BD9-81ED-4DB2-BD59-A6C34878D82A}">
                    <a16:rowId xmlns:a16="http://schemas.microsoft.com/office/drawing/2014/main" val="10011"/>
                  </a:ext>
                </a:extLst>
              </a:tr>
              <a:tr h="259080">
                <a:tc>
                  <a:txBody>
                    <a:bodyPr/>
                    <a:lstStyle/>
                    <a:p>
                      <a:endParaRPr sz="1300"/>
                    </a:p>
                  </a:txBody>
                  <a:tcPr marL="0" marR="0" marT="0" marB="0"/>
                </a:tc>
                <a:tc>
                  <a:txBody>
                    <a:bodyPr/>
                    <a:lstStyle/>
                    <a:p>
                      <a:endParaRPr sz="1300"/>
                    </a:p>
                  </a:txBody>
                  <a:tcPr marL="0" marR="0" marT="0" marB="0"/>
                </a:tc>
                <a:tc>
                  <a:txBody>
                    <a:bodyPr/>
                    <a:lstStyle/>
                    <a:p>
                      <a:endParaRPr sz="1300"/>
                    </a:p>
                  </a:txBody>
                  <a:tcPr marL="0" marR="0" marT="0" marB="0"/>
                </a:tc>
                <a:tc>
                  <a:txBody>
                    <a:bodyPr/>
                    <a:lstStyle/>
                    <a:p>
                      <a:endParaRPr sz="1300"/>
                    </a:p>
                  </a:txBody>
                  <a:tcPr marL="0" marR="0" marT="0" marB="0"/>
                </a:tc>
                <a:extLst>
                  <a:ext uri="{0D108BD9-81ED-4DB2-BD59-A6C34878D82A}">
                    <a16:rowId xmlns:a16="http://schemas.microsoft.com/office/drawing/2014/main" val="10012"/>
                  </a:ext>
                </a:extLst>
              </a:tr>
              <a:tr h="259080">
                <a:tc>
                  <a:txBody>
                    <a:bodyPr/>
                    <a:lstStyle/>
                    <a:p>
                      <a:pPr marL="0" marR="0" indent="0"/>
                      <a:r>
                        <a:rPr lang="en-US" sz="1400">
                          <a:solidFill>
                            <a:srgbClr val="221B28"/>
                          </a:solidFill>
                          <a:latin typeface="Arial"/>
                        </a:rPr>
                        <a:t>Buffer </a:t>
                      </a:r>
                      <a:r>
                        <a:rPr lang="en-US" sz="1400">
                          <a:solidFill>
                            <a:srgbClr val="403C3D"/>
                          </a:solidFill>
                          <a:latin typeface="Arial"/>
                        </a:rPr>
                        <a:t>Capital</a:t>
                      </a:r>
                    </a:p>
                  </a:txBody>
                  <a:tcPr marL="0" marR="0" marT="0" marB="0" anchor="b"/>
                </a:tc>
                <a:tc>
                  <a:txBody>
                    <a:bodyPr/>
                    <a:lstStyle/>
                    <a:p>
                      <a:pPr marL="853000" marR="0" indent="0"/>
                      <a:r>
                        <a:rPr lang="en-US" sz="1400">
                          <a:solidFill>
                            <a:srgbClr val="221B28"/>
                          </a:solidFill>
                          <a:latin typeface="Arial"/>
                        </a:rPr>
                        <a:t>317,666.67</a:t>
                      </a:r>
                    </a:p>
                  </a:txBody>
                  <a:tcPr marL="0" marR="0" marT="0" marB="0" anchor="b"/>
                </a:tc>
                <a:tc>
                  <a:txBody>
                    <a:bodyPr/>
                    <a:lstStyle/>
                    <a:p>
                      <a:pPr marL="1132400" marR="0" indent="0"/>
                      <a:r>
                        <a:rPr lang="en-US" sz="1400">
                          <a:solidFill>
                            <a:srgbClr val="221B28"/>
                          </a:solidFill>
                          <a:latin typeface="Arial"/>
                        </a:rPr>
                        <a:t>646,666.67</a:t>
                      </a:r>
                    </a:p>
                  </a:txBody>
                  <a:tcPr marL="0" marR="0" marT="0" marB="0" anchor="b"/>
                </a:tc>
                <a:tc>
                  <a:txBody>
                    <a:bodyPr/>
                    <a:lstStyle/>
                    <a:p>
                      <a:pPr marL="662500" marR="0" indent="0"/>
                      <a:r>
                        <a:rPr lang="en-US" sz="1400">
                          <a:solidFill>
                            <a:srgbClr val="221B28"/>
                          </a:solidFill>
                          <a:latin typeface="Arial"/>
                        </a:rPr>
                        <a:t>1,383,333.33</a:t>
                      </a:r>
                    </a:p>
                  </a:txBody>
                  <a:tcPr marL="0" marR="0" marT="0" marB="0" anchor="b"/>
                </a:tc>
                <a:extLst>
                  <a:ext uri="{0D108BD9-81ED-4DB2-BD59-A6C34878D82A}">
                    <a16:rowId xmlns:a16="http://schemas.microsoft.com/office/drawing/2014/main" val="10013"/>
                  </a:ext>
                </a:extLst>
              </a:tr>
              <a:tr h="256032">
                <a:tc>
                  <a:txBody>
                    <a:bodyPr/>
                    <a:lstStyle/>
                    <a:p>
                      <a:endParaRPr sz="1300"/>
                    </a:p>
                  </a:txBody>
                  <a:tcPr marL="0" marR="0" marT="0" marB="0"/>
                </a:tc>
                <a:tc>
                  <a:txBody>
                    <a:bodyPr/>
                    <a:lstStyle/>
                    <a:p>
                      <a:endParaRPr sz="1300"/>
                    </a:p>
                  </a:txBody>
                  <a:tcPr marL="0" marR="0" marT="0" marB="0"/>
                </a:tc>
                <a:tc>
                  <a:txBody>
                    <a:bodyPr/>
                    <a:lstStyle/>
                    <a:p>
                      <a:endParaRPr sz="1300"/>
                    </a:p>
                  </a:txBody>
                  <a:tcPr marL="0" marR="0" marT="0" marB="0"/>
                </a:tc>
                <a:tc>
                  <a:txBody>
                    <a:bodyPr/>
                    <a:lstStyle/>
                    <a:p>
                      <a:endParaRPr sz="1300"/>
                    </a:p>
                  </a:txBody>
                  <a:tcPr marL="0" marR="0" marT="0" marB="0"/>
                </a:tc>
                <a:extLst>
                  <a:ext uri="{0D108BD9-81ED-4DB2-BD59-A6C34878D82A}">
                    <a16:rowId xmlns:a16="http://schemas.microsoft.com/office/drawing/2014/main" val="10014"/>
                  </a:ext>
                </a:extLst>
              </a:tr>
              <a:tr h="259080">
                <a:tc>
                  <a:txBody>
                    <a:bodyPr/>
                    <a:lstStyle/>
                    <a:p>
                      <a:pPr marL="0" marR="0" indent="0"/>
                      <a:r>
                        <a:rPr lang="en-US" sz="1400">
                          <a:solidFill>
                            <a:srgbClr val="221B28"/>
                          </a:solidFill>
                          <a:latin typeface="Arial"/>
                        </a:rPr>
                        <a:t>Required Capital</a:t>
                      </a:r>
                    </a:p>
                  </a:txBody>
                  <a:tcPr marL="0" marR="0" marT="0" marB="0" anchor="b"/>
                </a:tc>
                <a:tc>
                  <a:txBody>
                    <a:bodyPr/>
                    <a:lstStyle/>
                    <a:p>
                      <a:pPr marL="0" marR="0" indent="0" algn="r"/>
                      <a:r>
                        <a:rPr lang="en-US" sz="1400">
                          <a:solidFill>
                            <a:srgbClr val="221B28"/>
                          </a:solidFill>
                          <a:latin typeface="Arial"/>
                        </a:rPr>
                        <a:t>1,110,132.42</a:t>
                      </a:r>
                    </a:p>
                  </a:txBody>
                  <a:tcPr marL="0" marR="0" marT="0" marB="0" anchor="b"/>
                </a:tc>
                <a:tc>
                  <a:txBody>
                    <a:bodyPr/>
                    <a:lstStyle/>
                    <a:p>
                      <a:pPr marL="980000" marR="0" indent="0"/>
                      <a:r>
                        <a:rPr lang="en-US" sz="1400">
                          <a:solidFill>
                            <a:srgbClr val="221B28"/>
                          </a:solidFill>
                          <a:latin typeface="Arial"/>
                        </a:rPr>
                        <a:t>2,164,474.89</a:t>
                      </a:r>
                    </a:p>
                  </a:txBody>
                  <a:tcPr marL="0" marR="0" marT="0" marB="0" anchor="b"/>
                </a:tc>
                <a:tc>
                  <a:txBody>
                    <a:bodyPr/>
                    <a:lstStyle/>
                    <a:p>
                      <a:pPr marL="662500" marR="0" indent="0"/>
                      <a:r>
                        <a:rPr lang="en-US" sz="1400">
                          <a:solidFill>
                            <a:srgbClr val="221B28"/>
                          </a:solidFill>
                          <a:latin typeface="Arial"/>
                        </a:rPr>
                        <a:t>2,031,278.54</a:t>
                      </a:r>
                    </a:p>
                  </a:txBody>
                  <a:tcPr marL="0" marR="0" marT="0" marB="0" anchor="b"/>
                </a:tc>
                <a:extLst>
                  <a:ext uri="{0D108BD9-81ED-4DB2-BD59-A6C34878D82A}">
                    <a16:rowId xmlns:a16="http://schemas.microsoft.com/office/drawing/2014/main" val="10015"/>
                  </a:ext>
                </a:extLst>
              </a:tr>
              <a:tr h="259080">
                <a:tc>
                  <a:txBody>
                    <a:bodyPr/>
                    <a:lstStyle/>
                    <a:p>
                      <a:endParaRPr sz="1300"/>
                    </a:p>
                  </a:txBody>
                  <a:tcPr marL="0" marR="0" marT="0" marB="0"/>
                </a:tc>
                <a:tc>
                  <a:txBody>
                    <a:bodyPr/>
                    <a:lstStyle/>
                    <a:p>
                      <a:endParaRPr sz="1300"/>
                    </a:p>
                  </a:txBody>
                  <a:tcPr marL="0" marR="0" marT="0" marB="0"/>
                </a:tc>
                <a:tc>
                  <a:txBody>
                    <a:bodyPr/>
                    <a:lstStyle/>
                    <a:p>
                      <a:endParaRPr sz="1300"/>
                    </a:p>
                  </a:txBody>
                  <a:tcPr marL="0" marR="0" marT="0" marB="0"/>
                </a:tc>
                <a:tc>
                  <a:txBody>
                    <a:bodyPr/>
                    <a:lstStyle/>
                    <a:p>
                      <a:endParaRPr sz="1300"/>
                    </a:p>
                  </a:txBody>
                  <a:tcPr marL="0" marR="0" marT="0" marB="0"/>
                </a:tc>
                <a:extLst>
                  <a:ext uri="{0D108BD9-81ED-4DB2-BD59-A6C34878D82A}">
                    <a16:rowId xmlns:a16="http://schemas.microsoft.com/office/drawing/2014/main" val="10016"/>
                  </a:ext>
                </a:extLst>
              </a:tr>
              <a:tr h="274320">
                <a:tc>
                  <a:txBody>
                    <a:bodyPr/>
                    <a:lstStyle/>
                    <a:p>
                      <a:pPr marL="0" marR="0" indent="0"/>
                      <a:r>
                        <a:rPr lang="en-US" sz="1300" b="1">
                          <a:latin typeface="Arial"/>
                        </a:rPr>
                        <a:t>ROIC</a:t>
                      </a:r>
                    </a:p>
                  </a:txBody>
                  <a:tcPr marL="0" marR="0" marT="0" marB="0" anchor="b"/>
                </a:tc>
                <a:tc>
                  <a:txBody>
                    <a:bodyPr/>
                    <a:lstStyle/>
                    <a:p>
                      <a:pPr marL="0" marR="0" indent="0" algn="r"/>
                      <a:r>
                        <a:rPr lang="en-US" sz="1300" b="1">
                          <a:latin typeface="Arial"/>
                        </a:rPr>
                        <a:t>53%</a:t>
                      </a:r>
                    </a:p>
                  </a:txBody>
                  <a:tcPr marL="0" marR="0" marT="0" marB="0" anchor="b"/>
                </a:tc>
                <a:tc>
                  <a:txBody>
                    <a:bodyPr/>
                    <a:lstStyle/>
                    <a:p>
                      <a:pPr marL="0" marR="0" indent="0" algn="r"/>
                      <a:r>
                        <a:rPr lang="en-US" sz="1300" b="1">
                          <a:latin typeface="Arial"/>
                        </a:rPr>
                        <a:t>57%</a:t>
                      </a:r>
                    </a:p>
                  </a:txBody>
                  <a:tcPr marL="0" marR="0" marT="0" marB="0" anchor="b"/>
                </a:tc>
                <a:tc>
                  <a:txBody>
                    <a:bodyPr/>
                    <a:lstStyle/>
                    <a:p>
                      <a:pPr marL="0" marR="0" indent="0" algn="r"/>
                      <a:r>
                        <a:rPr lang="en-US" sz="1300" b="1">
                          <a:latin typeface="Arial"/>
                        </a:rPr>
                        <a:t>51%</a:t>
                      </a:r>
                    </a:p>
                  </a:txBody>
                  <a:tcPr marL="0" marR="0" marT="0" marB="0" anchor="b"/>
                </a:tc>
                <a:extLst>
                  <a:ext uri="{0D108BD9-81ED-4DB2-BD59-A6C34878D82A}">
                    <a16:rowId xmlns:a16="http://schemas.microsoft.com/office/drawing/2014/main" val="10017"/>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0" y="1091380"/>
            <a:ext cx="9144000" cy="5145024"/>
          </a:xfrm>
          <a:prstGeom prst="rect">
            <a:avLst/>
          </a:prstGeom>
        </p:spPr>
      </p:pic>
      <p:sp>
        <p:nvSpPr>
          <p:cNvPr id="3" name="Прямоугольник 2"/>
          <p:cNvSpPr/>
          <p:nvPr/>
        </p:nvSpPr>
        <p:spPr>
          <a:xfrm>
            <a:off x="2121408" y="411480"/>
            <a:ext cx="4901184" cy="377952"/>
          </a:xfrm>
          <a:prstGeom prst="rect">
            <a:avLst/>
          </a:prstGeom>
          <a:solidFill>
            <a:srgbClr val="FFFFFF"/>
          </a:solidFill>
        </p:spPr>
        <p:txBody>
          <a:bodyPr wrap="none" lIns="0" tIns="0" rIns="0" bIns="0">
            <a:noAutofit/>
          </a:bodyPr>
          <a:lstStyle/>
          <a:p>
            <a:pPr marL="0" marR="0" indent="0"/>
            <a:r>
              <a:rPr lang="en-US" sz="3600" dirty="0">
                <a:solidFill>
                  <a:srgbClr val="DC5B2B"/>
                </a:solidFill>
                <a:latin typeface="Arial"/>
              </a:rPr>
              <a:t>CPR: Cash Power Ratio</a:t>
            </a:r>
          </a:p>
        </p:txBody>
      </p:sp>
      <p:pic>
        <p:nvPicPr>
          <p:cNvPr id="4" name="Рисунок 3">
            <a:extLst>
              <a:ext uri="{FF2B5EF4-FFF2-40B4-BE49-F238E27FC236}">
                <a16:creationId xmlns:a16="http://schemas.microsoft.com/office/drawing/2014/main" id="{6B995B71-3703-8A78-9E20-6F80A032941F}"/>
              </a:ext>
            </a:extLst>
          </p:cNvPr>
          <p:cNvPicPr>
            <a:picLocks noChangeAspect="1"/>
          </p:cNvPicPr>
          <p:nvPr/>
        </p:nvPicPr>
        <p:blipFill>
          <a:blip r:embed="rId2"/>
          <a:stretch>
            <a:fillRect/>
          </a:stretch>
        </p:blipFill>
        <p:spPr>
          <a:xfrm>
            <a:off x="152400" y="1243780"/>
            <a:ext cx="9144000" cy="5145024"/>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48640" y="978408"/>
            <a:ext cx="8132064" cy="3090672"/>
          </a:xfrm>
          <a:prstGeom prst="rect">
            <a:avLst/>
          </a:prstGeom>
          <a:solidFill>
            <a:srgbClr val="FFFFFF"/>
          </a:solidFill>
        </p:spPr>
        <p:txBody>
          <a:bodyPr lIns="0" tIns="0" rIns="0" bIns="0">
            <a:noAutofit/>
          </a:bodyPr>
          <a:lstStyle/>
          <a:p>
            <a:pPr marL="0" marR="0" indent="0">
              <a:lnSpc>
                <a:spcPct val="105000"/>
              </a:lnSpc>
              <a:spcAft>
                <a:spcPts val="2730"/>
              </a:spcAft>
            </a:pPr>
            <a:r>
              <a:rPr lang="en-US" sz="3600" dirty="0">
                <a:solidFill>
                  <a:srgbClr val="DC5B2B"/>
                </a:solidFill>
                <a:latin typeface="Arial"/>
              </a:rPr>
              <a:t>Trade Capital % compared to Profit % is the key to understanding cash flow as you scale up out of a business slump.</a:t>
            </a:r>
          </a:p>
          <a:p>
            <a:pPr marL="0" marR="0" indent="0"/>
            <a:r>
              <a:rPr lang="en-US" sz="3600" dirty="0">
                <a:latin typeface="Arial"/>
              </a:rPr>
              <a:t>In Simple Numbers terminology:</a:t>
            </a:r>
          </a:p>
          <a:p>
            <a:pPr marL="0" marR="0" indent="0"/>
            <a:r>
              <a:rPr lang="en-US" sz="2800" b="1" i="1" dirty="0">
                <a:latin typeface="Arial"/>
              </a:rPr>
              <a:t>Trade Capital + Buffer Capital = Working Capital</a:t>
            </a:r>
          </a:p>
        </p:txBody>
      </p:sp>
      <p:sp>
        <p:nvSpPr>
          <p:cNvPr id="3" name="Прямоугольник 2"/>
          <p:cNvSpPr/>
          <p:nvPr/>
        </p:nvSpPr>
        <p:spPr>
          <a:xfrm>
            <a:off x="545592" y="4556760"/>
            <a:ext cx="7997952" cy="1219200"/>
          </a:xfrm>
          <a:prstGeom prst="rect">
            <a:avLst/>
          </a:prstGeom>
          <a:solidFill>
            <a:srgbClr val="FFFFFF"/>
          </a:solidFill>
        </p:spPr>
        <p:txBody>
          <a:bodyPr lIns="0" tIns="0" rIns="0" bIns="0">
            <a:noAutofit/>
          </a:bodyPr>
          <a:lstStyle/>
          <a:p>
            <a:pPr marL="0" marR="0" indent="0"/>
            <a:r>
              <a:rPr lang="en-US" sz="2800">
                <a:solidFill>
                  <a:srgbClr val="DC5B2B"/>
                </a:solidFill>
                <a:latin typeface="Arial"/>
              </a:rPr>
              <a:t>Trade Capital is forced on you by the market, Buffer Capital (Cash &amp; Debt) are choices based on your access to resources.</a:t>
            </a: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5739384" y="1313688"/>
            <a:ext cx="789432" cy="582168"/>
          </a:xfrm>
          <a:prstGeom prst="rect">
            <a:avLst/>
          </a:prstGeom>
        </p:spPr>
      </p:pic>
      <p:pic>
        <p:nvPicPr>
          <p:cNvPr id="3" name="Рисунок 2"/>
          <p:cNvPicPr>
            <a:picLocks noChangeAspect="1"/>
          </p:cNvPicPr>
          <p:nvPr/>
        </p:nvPicPr>
        <p:blipFill>
          <a:blip r:embed="rId3"/>
          <a:stretch>
            <a:fillRect/>
          </a:stretch>
        </p:blipFill>
        <p:spPr>
          <a:xfrm>
            <a:off x="5739384" y="2889504"/>
            <a:ext cx="789432" cy="606552"/>
          </a:xfrm>
          <a:prstGeom prst="rect">
            <a:avLst/>
          </a:prstGeom>
        </p:spPr>
      </p:pic>
      <p:pic>
        <p:nvPicPr>
          <p:cNvPr id="4" name="Рисунок 3"/>
          <p:cNvPicPr>
            <a:picLocks noChangeAspect="1"/>
          </p:cNvPicPr>
          <p:nvPr/>
        </p:nvPicPr>
        <p:blipFill>
          <a:blip r:embed="rId3"/>
          <a:stretch>
            <a:fillRect/>
          </a:stretch>
        </p:blipFill>
        <p:spPr>
          <a:xfrm>
            <a:off x="5739384" y="4489704"/>
            <a:ext cx="789432" cy="606552"/>
          </a:xfrm>
          <a:prstGeom prst="rect">
            <a:avLst/>
          </a:prstGeom>
        </p:spPr>
      </p:pic>
      <p:sp>
        <p:nvSpPr>
          <p:cNvPr id="5" name="Прямоугольник 4"/>
          <p:cNvSpPr/>
          <p:nvPr/>
        </p:nvSpPr>
        <p:spPr>
          <a:xfrm>
            <a:off x="5425440" y="451104"/>
            <a:ext cx="1411224" cy="234696"/>
          </a:xfrm>
          <a:prstGeom prst="rect">
            <a:avLst/>
          </a:prstGeom>
          <a:solidFill>
            <a:srgbClr val="DB5B2A"/>
          </a:solidFill>
        </p:spPr>
        <p:txBody>
          <a:bodyPr wrap="none" lIns="0" tIns="0" rIns="0" bIns="0">
            <a:noAutofit/>
          </a:bodyPr>
          <a:lstStyle/>
          <a:p>
            <a:pPr marL="0" marR="0" indent="0"/>
            <a:r>
              <a:rPr lang="en-US" sz="1800">
                <a:solidFill>
                  <a:srgbClr val="FFFFFF"/>
                </a:solidFill>
                <a:latin typeface="Calibri"/>
              </a:rPr>
              <a:t>Trade Capital -</a:t>
            </a:r>
          </a:p>
        </p:txBody>
      </p:sp>
      <p:sp>
        <p:nvSpPr>
          <p:cNvPr id="6" name="Прямоугольник 5"/>
          <p:cNvSpPr/>
          <p:nvPr/>
        </p:nvSpPr>
        <p:spPr>
          <a:xfrm>
            <a:off x="3733800" y="877824"/>
            <a:ext cx="4821936" cy="417576"/>
          </a:xfrm>
          <a:prstGeom prst="rect">
            <a:avLst/>
          </a:prstGeom>
          <a:solidFill>
            <a:srgbClr val="FFFFFF"/>
          </a:solidFill>
        </p:spPr>
        <p:txBody>
          <a:bodyPr lIns="0" tIns="0" rIns="0" bIns="0">
            <a:noAutofit/>
          </a:bodyPr>
          <a:lstStyle/>
          <a:p>
            <a:pPr marL="0" marR="0" indent="0" algn="ctr" defTabSz="2892552">
              <a:lnSpc>
                <a:spcPct val="115000"/>
              </a:lnSpc>
              <a:tabLst>
                <a:tab pos="2892552" algn="l"/>
              </a:tabLst>
            </a:pPr>
            <a:r>
              <a:rPr lang="en-US" sz="1200">
                <a:latin typeface="Tahoma"/>
              </a:rPr>
              <a:t>Add: A/R + Inventory + Work Less: A/P + Accrued Expenses in Progress	+ Deferred Revenue</a:t>
            </a:r>
          </a:p>
        </p:txBody>
      </p:sp>
      <p:sp>
        <p:nvSpPr>
          <p:cNvPr id="7" name="Прямоугольник 6"/>
          <p:cNvSpPr/>
          <p:nvPr/>
        </p:nvSpPr>
        <p:spPr>
          <a:xfrm>
            <a:off x="408432" y="2727960"/>
            <a:ext cx="2520696" cy="1011936"/>
          </a:xfrm>
          <a:prstGeom prst="rect">
            <a:avLst/>
          </a:prstGeom>
          <a:solidFill>
            <a:srgbClr val="FFFFFF"/>
          </a:solidFill>
        </p:spPr>
        <p:txBody>
          <a:bodyPr lIns="0" tIns="0" rIns="0" bIns="0">
            <a:noAutofit/>
          </a:bodyPr>
          <a:lstStyle/>
          <a:p>
            <a:pPr marL="0" marR="0" indent="0"/>
            <a:r>
              <a:rPr lang="en-US" sz="3600" b="1">
                <a:solidFill>
                  <a:srgbClr val="DC5B2B"/>
                </a:solidFill>
                <a:latin typeface="Arial"/>
              </a:rPr>
              <a:t>4 Needs for Capital</a:t>
            </a:r>
          </a:p>
        </p:txBody>
      </p:sp>
      <p:sp>
        <p:nvSpPr>
          <p:cNvPr id="8" name="Прямоугольник 7"/>
          <p:cNvSpPr/>
          <p:nvPr/>
        </p:nvSpPr>
        <p:spPr>
          <a:xfrm>
            <a:off x="3886200" y="2036064"/>
            <a:ext cx="4489704" cy="740664"/>
          </a:xfrm>
          <a:prstGeom prst="rect">
            <a:avLst/>
          </a:prstGeom>
          <a:solidFill>
            <a:srgbClr val="DB5B2A"/>
          </a:solidFill>
        </p:spPr>
        <p:txBody>
          <a:bodyPr lIns="0" tIns="0" rIns="0" bIns="0">
            <a:noAutofit/>
          </a:bodyPr>
          <a:lstStyle/>
          <a:p>
            <a:pPr marL="0" marR="0" indent="0" algn="ctr">
              <a:lnSpc>
                <a:spcPct val="89000"/>
              </a:lnSpc>
            </a:pPr>
            <a:r>
              <a:rPr lang="en-US" sz="1800">
                <a:solidFill>
                  <a:srgbClr val="FFFFFF"/>
                </a:solidFill>
                <a:latin typeface="Calibri"/>
              </a:rPr>
              <a:t>Infrastructure Capital - Investment above debt support for Equipment, Buildings and other long term assets that depreciate</a:t>
            </a:r>
          </a:p>
        </p:txBody>
      </p:sp>
      <p:sp>
        <p:nvSpPr>
          <p:cNvPr id="9" name="Прямоугольник 8"/>
          <p:cNvSpPr/>
          <p:nvPr/>
        </p:nvSpPr>
        <p:spPr>
          <a:xfrm>
            <a:off x="3895344" y="3761232"/>
            <a:ext cx="4486656" cy="487680"/>
          </a:xfrm>
          <a:prstGeom prst="rect">
            <a:avLst/>
          </a:prstGeom>
          <a:solidFill>
            <a:srgbClr val="DB5B2A"/>
          </a:solidFill>
        </p:spPr>
        <p:txBody>
          <a:bodyPr lIns="0" tIns="0" rIns="0" bIns="0">
            <a:noAutofit/>
          </a:bodyPr>
          <a:lstStyle/>
          <a:p>
            <a:pPr marL="0" marR="0" indent="0" algn="ctr">
              <a:lnSpc>
                <a:spcPct val="89000"/>
              </a:lnSpc>
            </a:pPr>
            <a:r>
              <a:rPr lang="en-US" sz="1800">
                <a:solidFill>
                  <a:srgbClr val="FFFFFF"/>
                </a:solidFill>
                <a:latin typeface="Calibri"/>
              </a:rPr>
              <a:t>Buffer Capital - Core Capital Target (2 months of operating expenses in cash)</a:t>
            </a:r>
          </a:p>
        </p:txBody>
      </p:sp>
      <p:sp>
        <p:nvSpPr>
          <p:cNvPr id="10" name="Прямоугольник 9"/>
          <p:cNvSpPr/>
          <p:nvPr/>
        </p:nvSpPr>
        <p:spPr>
          <a:xfrm>
            <a:off x="3855720" y="5236464"/>
            <a:ext cx="4547616" cy="737616"/>
          </a:xfrm>
          <a:prstGeom prst="rect">
            <a:avLst/>
          </a:prstGeom>
          <a:solidFill>
            <a:srgbClr val="DB5B2A"/>
          </a:solidFill>
        </p:spPr>
        <p:txBody>
          <a:bodyPr lIns="0" tIns="0" rIns="0" bIns="0">
            <a:noAutofit/>
          </a:bodyPr>
          <a:lstStyle/>
          <a:p>
            <a:pPr marL="0" marR="0" indent="0" algn="ctr">
              <a:lnSpc>
                <a:spcPct val="88000"/>
              </a:lnSpc>
            </a:pPr>
            <a:r>
              <a:rPr lang="en-US" sz="1800">
                <a:solidFill>
                  <a:srgbClr val="FFFFFF"/>
                </a:solidFill>
                <a:latin typeface="Calibri"/>
              </a:rPr>
              <a:t>Launch Capital - Losses to be funded for a new activity, startup or next stage, or temporary crisis until you break even</a:t>
            </a: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57784" y="213360"/>
            <a:ext cx="7869936" cy="5346192"/>
          </a:xfrm>
          <a:prstGeom prst="rect">
            <a:avLst/>
          </a:prstGeom>
          <a:solidFill>
            <a:srgbClr val="FFFFFF"/>
          </a:solidFill>
        </p:spPr>
        <p:txBody>
          <a:bodyPr lIns="0" tIns="0" rIns="0" bIns="0">
            <a:noAutofit/>
          </a:bodyPr>
          <a:lstStyle/>
          <a:p>
            <a:pPr marL="0" marR="0" indent="0" algn="ctr">
              <a:spcAft>
                <a:spcPts val="350"/>
              </a:spcAft>
            </a:pPr>
            <a:r>
              <a:rPr lang="en-US" sz="3600">
                <a:solidFill>
                  <a:srgbClr val="DC5B2B"/>
                </a:solidFill>
                <a:latin typeface="Arial"/>
              </a:rPr>
              <a:t>Revisiting the Four Five Forces of Cash Flow</a:t>
            </a:r>
          </a:p>
          <a:p>
            <a:pPr marL="0" marR="0" indent="0">
              <a:spcAft>
                <a:spcPts val="700"/>
              </a:spcAft>
            </a:pPr>
            <a:r>
              <a:rPr lang="en-US" sz="2800">
                <a:latin typeface="Arial"/>
              </a:rPr>
              <a:t>Prioritized in order:</a:t>
            </a:r>
          </a:p>
          <a:p>
            <a:pPr marL="349064" marR="0" indent="0" defTabSz="855032">
              <a:spcAft>
                <a:spcPts val="700"/>
              </a:spcAft>
              <a:tabLst>
                <a:tab pos="855032" algn="l"/>
              </a:tabLst>
            </a:pPr>
            <a:r>
              <a:rPr lang="en-US" sz="2400">
                <a:solidFill>
                  <a:srgbClr val="DC5B2B"/>
                </a:solidFill>
                <a:latin typeface="Arial"/>
              </a:rPr>
              <a:t>1.</a:t>
            </a:r>
            <a:r>
              <a:rPr lang="en-US" sz="2400">
                <a:latin typeface="Arial"/>
              </a:rPr>
              <a:t>	Make Reinvestments into Business at 50% ROI</a:t>
            </a:r>
          </a:p>
          <a:p>
            <a:pPr marL="349064" marR="0" indent="0" defTabSz="855032">
              <a:spcAft>
                <a:spcPts val="700"/>
              </a:spcAft>
              <a:tabLst>
                <a:tab pos="855032" algn="l"/>
              </a:tabLst>
            </a:pPr>
            <a:r>
              <a:rPr lang="en-US" sz="2400">
                <a:solidFill>
                  <a:srgbClr val="DC5B2B"/>
                </a:solidFill>
                <a:latin typeface="Arial"/>
              </a:rPr>
              <a:t>2.</a:t>
            </a:r>
            <a:r>
              <a:rPr lang="en-US" sz="2400">
                <a:latin typeface="Arial"/>
              </a:rPr>
              <a:t>	Set Aside Tax Liability (Quarterly)</a:t>
            </a:r>
          </a:p>
          <a:p>
            <a:pPr marL="349064" marR="0" indent="0" defTabSz="855032">
              <a:spcAft>
                <a:spcPts val="700"/>
              </a:spcAft>
              <a:tabLst>
                <a:tab pos="855032" algn="l"/>
              </a:tabLst>
            </a:pPr>
            <a:r>
              <a:rPr lang="en-US" sz="2400">
                <a:solidFill>
                  <a:srgbClr val="DC5B2B"/>
                </a:solidFill>
                <a:latin typeface="Arial"/>
              </a:rPr>
              <a:t>3.</a:t>
            </a:r>
            <a:r>
              <a:rPr lang="en-US" sz="2400">
                <a:latin typeface="Arial"/>
              </a:rPr>
              <a:t>	Repay Line of Credit (LOC) Debt</a:t>
            </a:r>
          </a:p>
          <a:p>
            <a:pPr marL="844364" marR="0" indent="-495300" defTabSz="1350332">
              <a:spcAft>
                <a:spcPts val="700"/>
              </a:spcAft>
              <a:tabLst>
                <a:tab pos="1350332" algn="l"/>
              </a:tabLst>
            </a:pPr>
            <a:r>
              <a:rPr lang="en-US" sz="2400">
                <a:solidFill>
                  <a:srgbClr val="DC5B2B"/>
                </a:solidFill>
                <a:latin typeface="Arial"/>
              </a:rPr>
              <a:t>4.</a:t>
            </a:r>
            <a:r>
              <a:rPr lang="en-US" sz="2400">
                <a:latin typeface="Arial"/>
              </a:rPr>
              <a:t>	Core Capital Target in Reserves - 2 months of operating expenses and Direct Labor in cash with nothing drawn on Line of Credit (LOC)</a:t>
            </a:r>
          </a:p>
          <a:p>
            <a:pPr marL="349064" marR="0" indent="0" defTabSz="855032">
              <a:spcAft>
                <a:spcPts val="700"/>
              </a:spcAft>
              <a:tabLst>
                <a:tab pos="855032" algn="l"/>
              </a:tabLst>
            </a:pPr>
            <a:r>
              <a:rPr lang="en-US" sz="2400">
                <a:solidFill>
                  <a:srgbClr val="DC5B2B"/>
                </a:solidFill>
                <a:latin typeface="Arial"/>
              </a:rPr>
              <a:t>5.</a:t>
            </a:r>
            <a:r>
              <a:rPr lang="en-US" sz="2400">
                <a:latin typeface="Arial"/>
              </a:rPr>
              <a:t>	Pay Dividends (Distributions)</a:t>
            </a:r>
          </a:p>
          <a:p>
            <a:pPr marL="349064" marR="0" indent="0"/>
            <a:r>
              <a:rPr lang="en-US" sz="2400">
                <a:latin typeface="Arial"/>
              </a:rPr>
              <a:t>This is the priority order for cash to be used from profits</a:t>
            </a: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 name="Таблица 1"/>
          <p:cNvGraphicFramePr>
            <a:graphicFrameLocks noGrp="1"/>
          </p:cNvGraphicFramePr>
          <p:nvPr/>
        </p:nvGraphicFramePr>
        <p:xfrm>
          <a:off x="3048" y="0"/>
          <a:ext cx="9031224" cy="6845808"/>
        </p:xfrm>
        <a:graphic>
          <a:graphicData uri="http://schemas.openxmlformats.org/drawingml/2006/table">
            <a:tbl>
              <a:tblPr/>
              <a:tblGrid>
                <a:gridCol w="4946904">
                  <a:extLst>
                    <a:ext uri="{9D8B030D-6E8A-4147-A177-3AD203B41FA5}">
                      <a16:colId xmlns:a16="http://schemas.microsoft.com/office/drawing/2014/main" val="20000"/>
                    </a:ext>
                  </a:extLst>
                </a:gridCol>
                <a:gridCol w="1362456">
                  <a:extLst>
                    <a:ext uri="{9D8B030D-6E8A-4147-A177-3AD203B41FA5}">
                      <a16:colId xmlns:a16="http://schemas.microsoft.com/office/drawing/2014/main" val="20001"/>
                    </a:ext>
                  </a:extLst>
                </a:gridCol>
                <a:gridCol w="1365504">
                  <a:extLst>
                    <a:ext uri="{9D8B030D-6E8A-4147-A177-3AD203B41FA5}">
                      <a16:colId xmlns:a16="http://schemas.microsoft.com/office/drawing/2014/main" val="20002"/>
                    </a:ext>
                  </a:extLst>
                </a:gridCol>
                <a:gridCol w="1356360">
                  <a:extLst>
                    <a:ext uri="{9D8B030D-6E8A-4147-A177-3AD203B41FA5}">
                      <a16:colId xmlns:a16="http://schemas.microsoft.com/office/drawing/2014/main" val="20003"/>
                    </a:ext>
                  </a:extLst>
                </a:gridCol>
              </a:tblGrid>
              <a:tr h="286512">
                <a:tc rowSpan="2">
                  <a:txBody>
                    <a:bodyPr/>
                    <a:lstStyle/>
                    <a:p>
                      <a:pPr marL="0" marR="0" indent="0"/>
                      <a:r>
                        <a:rPr lang="en-US" sz="2000" b="1" i="1">
                          <a:latin typeface="Verdana"/>
                        </a:rPr>
                        <a:t>Core Capital Target Calculation</a:t>
                      </a:r>
                    </a:p>
                  </a:txBody>
                  <a:tcPr marL="0" marR="0" marT="0" marB="0">
                    <a:solidFill>
                      <a:srgbClr val="FEFB99"/>
                    </a:solidFill>
                  </a:tcPr>
                </a:tc>
                <a:tc>
                  <a:txBody>
                    <a:bodyPr/>
                    <a:lstStyle/>
                    <a:p>
                      <a:endParaRPr sz="1400"/>
                    </a:p>
                  </a:txBody>
                  <a:tcPr marL="0" marR="0" marT="0" marB="0"/>
                </a:tc>
                <a:tc gridSpan="2">
                  <a:txBody>
                    <a:bodyPr/>
                    <a:lstStyle/>
                    <a:p>
                      <a:endParaRPr sz="1400"/>
                    </a:p>
                  </a:txBody>
                  <a:tcPr marL="0" marR="0" marT="0" marB="0"/>
                </a:tc>
                <a:tc hMerge="1">
                  <a:txBody>
                    <a:bodyPr/>
                    <a:lstStyle/>
                    <a:p>
                      <a:endParaRPr sz="1400"/>
                    </a:p>
                  </a:txBody>
                  <a:tcPr marL="0" marR="0" marT="0" marB="0"/>
                </a:tc>
                <a:extLst>
                  <a:ext uri="{0D108BD9-81ED-4DB2-BD59-A6C34878D82A}">
                    <a16:rowId xmlns:a16="http://schemas.microsoft.com/office/drawing/2014/main" val="10000"/>
                  </a:ext>
                </a:extLst>
              </a:tr>
              <a:tr h="231648">
                <a:tc vMerge="1">
                  <a:txBody>
                    <a:bodyPr/>
                    <a:lstStyle/>
                    <a:p>
                      <a:endParaRPr sz="1100"/>
                    </a:p>
                  </a:txBody>
                  <a:tcPr marL="0" marR="0" marT="0" marB="0"/>
                </a:tc>
                <a:tc>
                  <a:txBody>
                    <a:bodyPr/>
                    <a:lstStyle/>
                    <a:p>
                      <a:pPr marL="0" marR="0" indent="0" algn="ctr"/>
                      <a:r>
                        <a:rPr lang="en-US" sz="1200">
                          <a:solidFill>
                            <a:srgbClr val="052F48"/>
                          </a:solidFill>
                          <a:latin typeface="Tahoma"/>
                        </a:rPr>
                        <a:t>Rotail/Mfg</a:t>
                      </a:r>
                    </a:p>
                  </a:txBody>
                  <a:tcPr marL="0" marR="0" marT="0" marB="0" anchor="b">
                    <a:solidFill>
                      <a:srgbClr val="99CBFC"/>
                    </a:solidFill>
                  </a:tcPr>
                </a:tc>
                <a:tc>
                  <a:txBody>
                    <a:bodyPr/>
                    <a:lstStyle/>
                    <a:p>
                      <a:pPr marL="0" marR="0" indent="266700"/>
                      <a:r>
                        <a:rPr lang="en-US" sz="1200">
                          <a:solidFill>
                            <a:srgbClr val="221B28"/>
                          </a:solidFill>
                          <a:latin typeface="Tahoma"/>
                        </a:rPr>
                        <a:t>Distribution</a:t>
                      </a:r>
                    </a:p>
                  </a:txBody>
                  <a:tcPr marL="0" marR="0" marT="0" marB="0" anchor="b">
                    <a:solidFill>
                      <a:srgbClr val="99CBFC"/>
                    </a:solidFill>
                  </a:tcPr>
                </a:tc>
                <a:tc>
                  <a:txBody>
                    <a:bodyPr/>
                    <a:lstStyle/>
                    <a:p>
                      <a:pPr marL="0" marR="0" indent="368300"/>
                      <a:r>
                        <a:rPr lang="en-US" sz="1200">
                          <a:latin typeface="Tahoma"/>
                        </a:rPr>
                        <a:t>Services</a:t>
                      </a:r>
                    </a:p>
                  </a:txBody>
                  <a:tcPr marL="0" marR="0" marT="0" marB="0" anchor="b">
                    <a:solidFill>
                      <a:srgbClr val="99CBFC"/>
                    </a:solidFill>
                  </a:tcPr>
                </a:tc>
                <a:extLst>
                  <a:ext uri="{0D108BD9-81ED-4DB2-BD59-A6C34878D82A}">
                    <a16:rowId xmlns:a16="http://schemas.microsoft.com/office/drawing/2014/main" val="10001"/>
                  </a:ext>
                </a:extLst>
              </a:tr>
              <a:tr h="210312">
                <a:tc>
                  <a:txBody>
                    <a:bodyPr/>
                    <a:lstStyle/>
                    <a:p>
                      <a:endParaRPr sz="1000"/>
                    </a:p>
                  </a:txBody>
                  <a:tcPr marL="0" marR="0" marT="0" marB="0">
                    <a:solidFill>
                      <a:srgbClr val="FEFB99"/>
                    </a:solidFill>
                  </a:tcPr>
                </a:tc>
                <a:tc>
                  <a:txBody>
                    <a:bodyPr/>
                    <a:lstStyle/>
                    <a:p>
                      <a:endParaRPr sz="1000"/>
                    </a:p>
                  </a:txBody>
                  <a:tcPr marL="0" marR="0" marT="0" marB="0"/>
                </a:tc>
                <a:tc>
                  <a:txBody>
                    <a:bodyPr/>
                    <a:lstStyle/>
                    <a:p>
                      <a:endParaRPr sz="1000"/>
                    </a:p>
                  </a:txBody>
                  <a:tcPr marL="0" marR="0" marT="0" marB="0"/>
                </a:tc>
                <a:tc>
                  <a:txBody>
                    <a:bodyPr/>
                    <a:lstStyle/>
                    <a:p>
                      <a:endParaRPr sz="1000"/>
                    </a:p>
                  </a:txBody>
                  <a:tcPr marL="0" marR="0" marT="0" marB="0"/>
                </a:tc>
                <a:extLst>
                  <a:ext uri="{0D108BD9-81ED-4DB2-BD59-A6C34878D82A}">
                    <a16:rowId xmlns:a16="http://schemas.microsoft.com/office/drawing/2014/main" val="10002"/>
                  </a:ext>
                </a:extLst>
              </a:tr>
              <a:tr h="222504">
                <a:tc>
                  <a:txBody>
                    <a:bodyPr/>
                    <a:lstStyle/>
                    <a:p>
                      <a:pPr marL="0" marR="0" indent="0"/>
                      <a:r>
                        <a:rPr lang="en-US" sz="1200">
                          <a:latin typeface="Tahoma"/>
                        </a:rPr>
                        <a:t>Revenue</a:t>
                      </a:r>
                    </a:p>
                  </a:txBody>
                  <a:tcPr marL="0" marR="0" marT="0" marB="0" anchor="b">
                    <a:solidFill>
                      <a:srgbClr val="FEFB99"/>
                    </a:solidFill>
                  </a:tcPr>
                </a:tc>
                <a:tc>
                  <a:txBody>
                    <a:bodyPr/>
                    <a:lstStyle/>
                    <a:p>
                      <a:pPr marL="0" marR="0" indent="508000"/>
                      <a:r>
                        <a:rPr lang="en-US" sz="1200">
                          <a:latin typeface="Tahoma"/>
                        </a:rPr>
                        <a:t>4,400,000</a:t>
                      </a:r>
                    </a:p>
                  </a:txBody>
                  <a:tcPr marL="0" marR="0" marT="0" marB="0" anchor="b"/>
                </a:tc>
                <a:tc>
                  <a:txBody>
                    <a:bodyPr/>
                    <a:lstStyle/>
                    <a:p>
                      <a:pPr marL="0" marR="0" indent="406400" algn="just"/>
                      <a:r>
                        <a:rPr lang="en-US" sz="1200">
                          <a:solidFill>
                            <a:srgbClr val="221B28"/>
                          </a:solidFill>
                          <a:latin typeface="Tahoma"/>
                        </a:rPr>
                        <a:t>40,000,000</a:t>
                      </a:r>
                    </a:p>
                  </a:txBody>
                  <a:tcPr marL="0" marR="0" marT="0" marB="0" anchor="b"/>
                </a:tc>
                <a:tc>
                  <a:txBody>
                    <a:bodyPr/>
                    <a:lstStyle/>
                    <a:p>
                      <a:pPr marL="0" marR="0" indent="419100" algn="just"/>
                      <a:r>
                        <a:rPr lang="en-US" sz="1200">
                          <a:solidFill>
                            <a:srgbClr val="221B28"/>
                          </a:solidFill>
                          <a:latin typeface="Tahoma"/>
                        </a:rPr>
                        <a:t>10,000,000</a:t>
                      </a:r>
                    </a:p>
                  </a:txBody>
                  <a:tcPr marL="0" marR="0" marT="0" marB="0" anchor="b"/>
                </a:tc>
                <a:extLst>
                  <a:ext uri="{0D108BD9-81ED-4DB2-BD59-A6C34878D82A}">
                    <a16:rowId xmlns:a16="http://schemas.microsoft.com/office/drawing/2014/main" val="10003"/>
                  </a:ext>
                </a:extLst>
              </a:tr>
              <a:tr h="225552">
                <a:tc>
                  <a:txBody>
                    <a:bodyPr/>
                    <a:lstStyle/>
                    <a:p>
                      <a:pPr marL="0" marR="0" indent="0"/>
                      <a:r>
                        <a:rPr lang="en-US" sz="1200">
                          <a:latin typeface="Tahoma"/>
                        </a:rPr>
                        <a:t>Cost of Goods Sold</a:t>
                      </a:r>
                    </a:p>
                  </a:txBody>
                  <a:tcPr marL="0" marR="0" marT="0" marB="0" anchor="b">
                    <a:solidFill>
                      <a:srgbClr val="FEFB99"/>
                    </a:solidFill>
                  </a:tcPr>
                </a:tc>
                <a:tc>
                  <a:txBody>
                    <a:bodyPr/>
                    <a:lstStyle/>
                    <a:p>
                      <a:pPr marL="0" marR="0" indent="508000"/>
                      <a:r>
                        <a:rPr lang="en-US" sz="1200">
                          <a:latin typeface="Tahoma"/>
                        </a:rPr>
                        <a:t>1,300,000</a:t>
                      </a:r>
                    </a:p>
                  </a:txBody>
                  <a:tcPr marL="0" marR="0" marT="0" marB="0" anchor="b"/>
                </a:tc>
                <a:tc>
                  <a:txBody>
                    <a:bodyPr/>
                    <a:lstStyle/>
                    <a:p>
                      <a:pPr marL="0" marR="0" indent="406400" algn="just"/>
                      <a:r>
                        <a:rPr lang="en-US" sz="1200">
                          <a:latin typeface="Tahoma"/>
                        </a:rPr>
                        <a:t>34,650,000</a:t>
                      </a:r>
                    </a:p>
                  </a:txBody>
                  <a:tcPr marL="0" marR="0" marT="0" marB="0" anchor="b"/>
                </a:tc>
                <a:tc>
                  <a:txBody>
                    <a:bodyPr/>
                    <a:lstStyle/>
                    <a:p>
                      <a:pPr marL="624400" marR="0" indent="0" algn="just"/>
                      <a:r>
                        <a:rPr lang="en-US" sz="1200">
                          <a:latin typeface="Tahoma"/>
                        </a:rPr>
                        <a:t>500,000</a:t>
                      </a:r>
                    </a:p>
                  </a:txBody>
                  <a:tcPr marL="0" marR="0" marT="0" marB="0" anchor="b"/>
                </a:tc>
                <a:extLst>
                  <a:ext uri="{0D108BD9-81ED-4DB2-BD59-A6C34878D82A}">
                    <a16:rowId xmlns:a16="http://schemas.microsoft.com/office/drawing/2014/main" val="10004"/>
                  </a:ext>
                </a:extLst>
              </a:tr>
              <a:tr h="228600">
                <a:tc>
                  <a:txBody>
                    <a:bodyPr/>
                    <a:lstStyle/>
                    <a:p>
                      <a:endParaRPr sz="1100"/>
                    </a:p>
                  </a:txBody>
                  <a:tcPr marL="0" marR="0" marT="0" marB="0">
                    <a:solidFill>
                      <a:srgbClr val="FEFB99"/>
                    </a:solidFill>
                  </a:tcPr>
                </a:tc>
                <a:tc>
                  <a:txBody>
                    <a:bodyPr/>
                    <a:lstStyle/>
                    <a:p>
                      <a:endParaRPr sz="1100"/>
                    </a:p>
                  </a:txBody>
                  <a:tcPr marL="0" marR="0" marT="0" marB="0"/>
                </a:tc>
                <a:tc>
                  <a:txBody>
                    <a:bodyPr/>
                    <a:lstStyle/>
                    <a:p>
                      <a:endParaRPr sz="1100"/>
                    </a:p>
                  </a:txBody>
                  <a:tcPr marL="0" marR="0" marT="0" marB="0"/>
                </a:tc>
                <a:tc>
                  <a:txBody>
                    <a:bodyPr/>
                    <a:lstStyle/>
                    <a:p>
                      <a:endParaRPr sz="1100"/>
                    </a:p>
                  </a:txBody>
                  <a:tcPr marL="0" marR="0" marT="0" marB="0"/>
                </a:tc>
                <a:extLst>
                  <a:ext uri="{0D108BD9-81ED-4DB2-BD59-A6C34878D82A}">
                    <a16:rowId xmlns:a16="http://schemas.microsoft.com/office/drawing/2014/main" val="10005"/>
                  </a:ext>
                </a:extLst>
              </a:tr>
              <a:tr h="219456">
                <a:tc>
                  <a:txBody>
                    <a:bodyPr/>
                    <a:lstStyle/>
                    <a:p>
                      <a:pPr marL="0" marR="0" indent="393700"/>
                      <a:r>
                        <a:rPr lang="en-US" sz="1300" b="1">
                          <a:latin typeface="Verdana"/>
                        </a:rPr>
                        <a:t>Gross Margin</a:t>
                      </a:r>
                    </a:p>
                  </a:txBody>
                  <a:tcPr marL="0" marR="0" marT="0" marB="0" anchor="b">
                    <a:solidFill>
                      <a:srgbClr val="FEFB99"/>
                    </a:solidFill>
                  </a:tcPr>
                </a:tc>
                <a:tc>
                  <a:txBody>
                    <a:bodyPr/>
                    <a:lstStyle/>
                    <a:p>
                      <a:pPr marL="0" marR="0" indent="508000"/>
                      <a:r>
                        <a:rPr lang="en-US" sz="1200">
                          <a:latin typeface="Tahoma"/>
                        </a:rPr>
                        <a:t>2,600,000</a:t>
                      </a:r>
                    </a:p>
                  </a:txBody>
                  <a:tcPr marL="0" marR="0" marT="0" marB="0" anchor="b"/>
                </a:tc>
                <a:tc>
                  <a:txBody>
                    <a:bodyPr/>
                    <a:lstStyle/>
                    <a:p>
                      <a:pPr marL="0" marR="0" indent="495300"/>
                      <a:r>
                        <a:rPr lang="en-US" sz="1200">
                          <a:latin typeface="Tahoma"/>
                        </a:rPr>
                        <a:t>5,350,000</a:t>
                      </a:r>
                    </a:p>
                  </a:txBody>
                  <a:tcPr marL="0" marR="0" marT="0" marB="0" anchor="b"/>
                </a:tc>
                <a:tc>
                  <a:txBody>
                    <a:bodyPr/>
                    <a:lstStyle/>
                    <a:p>
                      <a:pPr marL="0" marR="0" indent="495300"/>
                      <a:r>
                        <a:rPr lang="en-US" sz="1200">
                          <a:latin typeface="Tahoma"/>
                        </a:rPr>
                        <a:t>9,500,000</a:t>
                      </a:r>
                    </a:p>
                  </a:txBody>
                  <a:tcPr marL="0" marR="0" marT="0" marB="0" anchor="b"/>
                </a:tc>
                <a:extLst>
                  <a:ext uri="{0D108BD9-81ED-4DB2-BD59-A6C34878D82A}">
                    <a16:rowId xmlns:a16="http://schemas.microsoft.com/office/drawing/2014/main" val="10006"/>
                  </a:ext>
                </a:extLst>
              </a:tr>
              <a:tr h="216408">
                <a:tc>
                  <a:txBody>
                    <a:bodyPr/>
                    <a:lstStyle/>
                    <a:p>
                      <a:pPr marL="3697800" marR="0" indent="0"/>
                      <a:r>
                        <a:rPr lang="en-US" sz="1200">
                          <a:latin typeface="Tahoma"/>
                        </a:rPr>
                        <a:t>as % tc </a:t>
                      </a:r>
                      <a:r>
                        <a:rPr lang="en-US" sz="1200" i="1">
                          <a:latin typeface="Tahoma"/>
                        </a:rPr>
                        <a:t>Sales</a:t>
                      </a:r>
                    </a:p>
                  </a:txBody>
                  <a:tcPr marL="0" marR="0" marT="0" marB="0" anchor="b">
                    <a:solidFill>
                      <a:srgbClr val="FEFB99"/>
                    </a:solidFill>
                  </a:tcPr>
                </a:tc>
                <a:tc>
                  <a:txBody>
                    <a:bodyPr/>
                    <a:lstStyle/>
                    <a:p>
                      <a:pPr marL="700600" marR="0" indent="0"/>
                      <a:r>
                        <a:rPr lang="en-US" sz="1200" i="1">
                          <a:latin typeface="Tahoma"/>
                        </a:rPr>
                        <a:t>59.09%,</a:t>
                      </a:r>
                    </a:p>
                  </a:txBody>
                  <a:tcPr marL="0" marR="0" marT="0" marB="0" anchor="b">
                    <a:solidFill>
                      <a:srgbClr val="C0C0C0"/>
                    </a:solidFill>
                  </a:tcPr>
                </a:tc>
                <a:tc>
                  <a:txBody>
                    <a:bodyPr/>
                    <a:lstStyle/>
                    <a:p>
                      <a:pPr marL="0" marR="0" indent="0" algn="r"/>
                      <a:r>
                        <a:rPr lang="en-US" sz="1200">
                          <a:latin typeface="Tahoma"/>
                        </a:rPr>
                        <a:t>?3.38%</a:t>
                      </a:r>
                    </a:p>
                  </a:txBody>
                  <a:tcPr marL="0" marR="0" marT="0" marB="0" anchor="b">
                    <a:solidFill>
                      <a:srgbClr val="C0C0C0"/>
                    </a:solidFill>
                  </a:tcPr>
                </a:tc>
                <a:tc>
                  <a:txBody>
                    <a:bodyPr/>
                    <a:lstStyle/>
                    <a:p>
                      <a:pPr marL="0" marR="0" indent="0" algn="r"/>
                      <a:r>
                        <a:rPr lang="en-US" sz="1200">
                          <a:latin typeface="Tahoma"/>
                        </a:rPr>
                        <a:t>95.00%</a:t>
                      </a:r>
                    </a:p>
                  </a:txBody>
                  <a:tcPr marL="0" marR="0" marT="0" marB="0" anchor="b">
                    <a:solidFill>
                      <a:srgbClr val="C0C0C0"/>
                    </a:solidFill>
                  </a:tcPr>
                </a:tc>
                <a:extLst>
                  <a:ext uri="{0D108BD9-81ED-4DB2-BD59-A6C34878D82A}">
                    <a16:rowId xmlns:a16="http://schemas.microsoft.com/office/drawing/2014/main" val="10007"/>
                  </a:ext>
                </a:extLst>
              </a:tr>
              <a:tr h="249936">
                <a:tc>
                  <a:txBody>
                    <a:bodyPr/>
                    <a:lstStyle/>
                    <a:p>
                      <a:endParaRPr sz="1200"/>
                    </a:p>
                  </a:txBody>
                  <a:tcPr marL="0" marR="0" marT="0" marB="0">
                    <a:solidFill>
                      <a:srgbClr val="FEFB99"/>
                    </a:solidFill>
                  </a:tcPr>
                </a:tc>
                <a:tc>
                  <a:txBody>
                    <a:bodyPr/>
                    <a:lstStyle/>
                    <a:p>
                      <a:endParaRPr sz="1200"/>
                    </a:p>
                  </a:txBody>
                  <a:tcPr marL="0" marR="0" marT="0" marB="0"/>
                </a:tc>
                <a:tc>
                  <a:txBody>
                    <a:bodyPr/>
                    <a:lstStyle/>
                    <a:p>
                      <a:endParaRPr sz="1200"/>
                    </a:p>
                  </a:txBody>
                  <a:tcPr marL="0" marR="0" marT="0" marB="0"/>
                </a:tc>
                <a:tc>
                  <a:txBody>
                    <a:bodyPr/>
                    <a:lstStyle/>
                    <a:p>
                      <a:endParaRPr sz="1200"/>
                    </a:p>
                  </a:txBody>
                  <a:tcPr marL="0" marR="0" marT="0" marB="0"/>
                </a:tc>
                <a:extLst>
                  <a:ext uri="{0D108BD9-81ED-4DB2-BD59-A6C34878D82A}">
                    <a16:rowId xmlns:a16="http://schemas.microsoft.com/office/drawing/2014/main" val="10008"/>
                  </a:ext>
                </a:extLst>
              </a:tr>
              <a:tr h="256032">
                <a:tc>
                  <a:txBody>
                    <a:bodyPr/>
                    <a:lstStyle/>
                    <a:p>
                      <a:pPr marL="0" marR="0" indent="0"/>
                      <a:r>
                        <a:rPr lang="en-US" sz="1200">
                          <a:latin typeface="Tahoma"/>
                        </a:rPr>
                        <a:t>Direct Labor</a:t>
                      </a:r>
                    </a:p>
                  </a:txBody>
                  <a:tcPr marL="0" marR="0" marT="0" marB="0" anchor="b">
                    <a:solidFill>
                      <a:srgbClr val="FEFB99"/>
                    </a:solidFill>
                  </a:tcPr>
                </a:tc>
                <a:tc>
                  <a:txBody>
                    <a:bodyPr/>
                    <a:lstStyle/>
                    <a:p>
                      <a:pPr marL="611700" marR="0" indent="0" algn="just"/>
                      <a:r>
                        <a:rPr lang="en-US" sz="1200">
                          <a:latin typeface="Tahoma"/>
                        </a:rPr>
                        <a:t>900.000</a:t>
                      </a:r>
                    </a:p>
                  </a:txBody>
                  <a:tcPr marL="0" marR="0" marT="0" marB="0" anchor="b"/>
                </a:tc>
                <a:tc>
                  <a:txBody>
                    <a:bodyPr/>
                    <a:lstStyle/>
                    <a:p>
                      <a:pPr marL="0" marR="0" indent="495300"/>
                      <a:r>
                        <a:rPr lang="en-US" sz="1200">
                          <a:latin typeface="Tahoma"/>
                        </a:rPr>
                        <a:t>1,100,000</a:t>
                      </a:r>
                    </a:p>
                  </a:txBody>
                  <a:tcPr marL="0" marR="0" marT="0" marB="0" anchor="b"/>
                </a:tc>
                <a:tc>
                  <a:txBody>
                    <a:bodyPr/>
                    <a:lstStyle/>
                    <a:p>
                      <a:pPr marL="0" marR="0" indent="495300"/>
                      <a:r>
                        <a:rPr lang="en-US" sz="1200">
                          <a:latin typeface="Tahoma"/>
                        </a:rPr>
                        <a:t>4,750,000</a:t>
                      </a:r>
                    </a:p>
                  </a:txBody>
                  <a:tcPr marL="0" marR="0" marT="0" marB="0" anchor="b"/>
                </a:tc>
                <a:extLst>
                  <a:ext uri="{0D108BD9-81ED-4DB2-BD59-A6C34878D82A}">
                    <a16:rowId xmlns:a16="http://schemas.microsoft.com/office/drawing/2014/main" val="10009"/>
                  </a:ext>
                </a:extLst>
              </a:tr>
              <a:tr h="228600">
                <a:tc>
                  <a:txBody>
                    <a:bodyPr/>
                    <a:lstStyle/>
                    <a:p>
                      <a:endParaRPr sz="1100"/>
                    </a:p>
                  </a:txBody>
                  <a:tcPr marL="0" marR="0" marT="0" marB="0">
                    <a:solidFill>
                      <a:srgbClr val="FEFB99"/>
                    </a:solidFill>
                  </a:tcPr>
                </a:tc>
                <a:tc>
                  <a:txBody>
                    <a:bodyPr/>
                    <a:lstStyle/>
                    <a:p>
                      <a:endParaRPr sz="1100"/>
                    </a:p>
                  </a:txBody>
                  <a:tcPr marL="0" marR="0" marT="0" marB="0"/>
                </a:tc>
                <a:tc>
                  <a:txBody>
                    <a:bodyPr/>
                    <a:lstStyle/>
                    <a:p>
                      <a:endParaRPr sz="1100"/>
                    </a:p>
                  </a:txBody>
                  <a:tcPr marL="0" marR="0" marT="0" marB="0"/>
                </a:tc>
                <a:tc>
                  <a:txBody>
                    <a:bodyPr/>
                    <a:lstStyle/>
                    <a:p>
                      <a:endParaRPr sz="1100"/>
                    </a:p>
                  </a:txBody>
                  <a:tcPr marL="0" marR="0" marT="0" marB="0"/>
                </a:tc>
                <a:extLst>
                  <a:ext uri="{0D108BD9-81ED-4DB2-BD59-A6C34878D82A}">
                    <a16:rowId xmlns:a16="http://schemas.microsoft.com/office/drawing/2014/main" val="10010"/>
                  </a:ext>
                </a:extLst>
              </a:tr>
              <a:tr h="213360">
                <a:tc>
                  <a:txBody>
                    <a:bodyPr/>
                    <a:lstStyle/>
                    <a:p>
                      <a:pPr marL="0" marR="0" indent="393700"/>
                      <a:r>
                        <a:rPr lang="en-US" sz="1300" b="1">
                          <a:latin typeface="Verdana"/>
                        </a:rPr>
                        <a:t>Contribution Margin (CM)</a:t>
                      </a:r>
                    </a:p>
                  </a:txBody>
                  <a:tcPr marL="0" marR="0" marT="0" marB="0" anchor="b">
                    <a:solidFill>
                      <a:srgbClr val="FEFB99"/>
                    </a:solidFill>
                  </a:tcPr>
                </a:tc>
                <a:tc>
                  <a:txBody>
                    <a:bodyPr/>
                    <a:lstStyle/>
                    <a:p>
                      <a:pPr marL="0" marR="0" indent="508000"/>
                      <a:r>
                        <a:rPr lang="en-US" sz="1200">
                          <a:latin typeface="Tahoma"/>
                        </a:rPr>
                        <a:t>1,700.000</a:t>
                      </a:r>
                    </a:p>
                  </a:txBody>
                  <a:tcPr marL="0" marR="0" marT="0" marB="0" anchor="b"/>
                </a:tc>
                <a:tc>
                  <a:txBody>
                    <a:bodyPr/>
                    <a:lstStyle/>
                    <a:p>
                      <a:pPr marL="0" marR="0" indent="495300"/>
                      <a:r>
                        <a:rPr lang="en-US" sz="1200">
                          <a:latin typeface="Tahoma"/>
                        </a:rPr>
                        <a:t>4.250,000</a:t>
                      </a:r>
                    </a:p>
                  </a:txBody>
                  <a:tcPr marL="0" marR="0" marT="0" marB="0" anchor="b"/>
                </a:tc>
                <a:tc>
                  <a:txBody>
                    <a:bodyPr/>
                    <a:lstStyle/>
                    <a:p>
                      <a:pPr marL="0" marR="0" indent="495300"/>
                      <a:r>
                        <a:rPr lang="en-US" sz="1200">
                          <a:latin typeface="Tahoma"/>
                        </a:rPr>
                        <a:t>4,750,000</a:t>
                      </a:r>
                    </a:p>
                  </a:txBody>
                  <a:tcPr marL="0" marR="0" marT="0" marB="0" anchor="b"/>
                </a:tc>
                <a:extLst>
                  <a:ext uri="{0D108BD9-81ED-4DB2-BD59-A6C34878D82A}">
                    <a16:rowId xmlns:a16="http://schemas.microsoft.com/office/drawing/2014/main" val="10011"/>
                  </a:ext>
                </a:extLst>
              </a:tr>
              <a:tr h="207264">
                <a:tc>
                  <a:txBody>
                    <a:bodyPr/>
                    <a:lstStyle/>
                    <a:p>
                      <a:pPr marL="3697800" marR="0" indent="0"/>
                      <a:r>
                        <a:rPr lang="en-US" sz="1200">
                          <a:latin typeface="Tahoma"/>
                        </a:rPr>
                        <a:t>as </a:t>
                      </a:r>
                      <a:r>
                        <a:rPr lang="en-US" sz="1200" i="1">
                          <a:latin typeface="Tahoma"/>
                        </a:rPr>
                        <a:t>°/o to Sales</a:t>
                      </a:r>
                    </a:p>
                  </a:txBody>
                  <a:tcPr marL="0" marR="0" marT="0" marB="0" anchor="b">
                    <a:solidFill>
                      <a:srgbClr val="FEFB99"/>
                    </a:solidFill>
                  </a:tcPr>
                </a:tc>
                <a:tc>
                  <a:txBody>
                    <a:bodyPr/>
                    <a:lstStyle/>
                    <a:p>
                      <a:pPr marL="700600" marR="0" indent="0"/>
                      <a:r>
                        <a:rPr lang="en-US" sz="1200">
                          <a:latin typeface="Tahoma"/>
                        </a:rPr>
                        <a:t>38. </a:t>
                      </a:r>
                      <a:r>
                        <a:rPr lang="en-US" sz="1200" i="1">
                          <a:latin typeface="Tahoma"/>
                        </a:rPr>
                        <a:t>64%</a:t>
                      </a:r>
                    </a:p>
                  </a:txBody>
                  <a:tcPr marL="0" marR="0" marT="0" marB="0" anchor="b">
                    <a:solidFill>
                      <a:srgbClr val="C0C0C0"/>
                    </a:solidFill>
                  </a:tcPr>
                </a:tc>
                <a:tc>
                  <a:txBody>
                    <a:bodyPr/>
                    <a:lstStyle/>
                    <a:p>
                      <a:pPr marL="0" marR="0" indent="0" algn="r"/>
                      <a:r>
                        <a:rPr lang="en-US" sz="1200">
                          <a:latin typeface="Tahoma"/>
                        </a:rPr>
                        <a:t>10.63%</a:t>
                      </a:r>
                    </a:p>
                  </a:txBody>
                  <a:tcPr marL="0" marR="0" marT="0" marB="0" anchor="b">
                    <a:solidFill>
                      <a:srgbClr val="C0C0C0"/>
                    </a:solidFill>
                  </a:tcPr>
                </a:tc>
                <a:tc>
                  <a:txBody>
                    <a:bodyPr/>
                    <a:lstStyle/>
                    <a:p>
                      <a:pPr marL="0" marR="0" indent="0" algn="r"/>
                      <a:r>
                        <a:rPr lang="en-US" sz="1200" i="1">
                          <a:latin typeface="Tahoma"/>
                        </a:rPr>
                        <a:t>47.50%</a:t>
                      </a:r>
                    </a:p>
                  </a:txBody>
                  <a:tcPr marL="0" marR="0" marT="0" marB="0" anchor="b">
                    <a:solidFill>
                      <a:srgbClr val="C0C0C0"/>
                    </a:solidFill>
                  </a:tcPr>
                </a:tc>
                <a:extLst>
                  <a:ext uri="{0D108BD9-81ED-4DB2-BD59-A6C34878D82A}">
                    <a16:rowId xmlns:a16="http://schemas.microsoft.com/office/drawing/2014/main" val="10012"/>
                  </a:ext>
                </a:extLst>
              </a:tr>
              <a:tr h="204216">
                <a:tc>
                  <a:txBody>
                    <a:bodyPr/>
                    <a:lstStyle/>
                    <a:p>
                      <a:pPr marL="2694500" marR="0" indent="0"/>
                      <a:r>
                        <a:rPr lang="en-US" sz="1200" i="1">
                          <a:latin typeface="Tahoma"/>
                        </a:rPr>
                        <a:t>dLER (GM </a:t>
                      </a:r>
                      <a:r>
                        <a:rPr lang="ru" sz="1200" i="1">
                          <a:latin typeface="Tahoma"/>
                        </a:rPr>
                        <a:t>/ </a:t>
                      </a:r>
                      <a:r>
                        <a:rPr lang="en-US" sz="1200" i="1">
                          <a:latin typeface="Tahoma"/>
                        </a:rPr>
                        <a:t>Direct Labor)</a:t>
                      </a:r>
                    </a:p>
                  </a:txBody>
                  <a:tcPr marL="0" marR="0" marT="0" marB="0" anchor="b">
                    <a:solidFill>
                      <a:srgbClr val="FEFB99"/>
                    </a:solidFill>
                  </a:tcPr>
                </a:tc>
                <a:tc>
                  <a:txBody>
                    <a:bodyPr/>
                    <a:lstStyle/>
                    <a:p>
                      <a:pPr marL="0" marR="0" indent="0" algn="r"/>
                      <a:r>
                        <a:rPr lang="en-US" sz="1200" i="1">
                          <a:latin typeface="Tahoma"/>
                        </a:rPr>
                        <a:t>2.89</a:t>
                      </a:r>
                    </a:p>
                  </a:txBody>
                  <a:tcPr marL="0" marR="0" marT="0" marB="0" anchor="b">
                    <a:solidFill>
                      <a:srgbClr val="C0C0C0"/>
                    </a:solidFill>
                  </a:tcPr>
                </a:tc>
                <a:tc>
                  <a:txBody>
                    <a:bodyPr/>
                    <a:lstStyle/>
                    <a:p>
                      <a:pPr marL="0" marR="0" indent="0" algn="r"/>
                      <a:r>
                        <a:rPr lang="en-US" sz="1200">
                          <a:latin typeface="Tahoma"/>
                        </a:rPr>
                        <a:t>4.86</a:t>
                      </a:r>
                    </a:p>
                  </a:txBody>
                  <a:tcPr marL="0" marR="0" marT="0" marB="0" anchor="b">
                    <a:solidFill>
                      <a:srgbClr val="C0C0C0"/>
                    </a:solidFill>
                  </a:tcPr>
                </a:tc>
                <a:tc>
                  <a:txBody>
                    <a:bodyPr/>
                    <a:lstStyle/>
                    <a:p>
                      <a:pPr marL="0" marR="0" indent="0" algn="r"/>
                      <a:r>
                        <a:rPr lang="en-US" sz="1200" i="1">
                          <a:latin typeface="Tahoma"/>
                        </a:rPr>
                        <a:t>2.00</a:t>
                      </a:r>
                    </a:p>
                  </a:txBody>
                  <a:tcPr marL="0" marR="0" marT="0" marB="0" anchor="b">
                    <a:solidFill>
                      <a:srgbClr val="C0C0C0"/>
                    </a:solidFill>
                  </a:tcPr>
                </a:tc>
                <a:extLst>
                  <a:ext uri="{0D108BD9-81ED-4DB2-BD59-A6C34878D82A}">
                    <a16:rowId xmlns:a16="http://schemas.microsoft.com/office/drawing/2014/main" val="10013"/>
                  </a:ext>
                </a:extLst>
              </a:tr>
              <a:tr h="213360">
                <a:tc>
                  <a:txBody>
                    <a:bodyPr/>
                    <a:lstStyle/>
                    <a:p>
                      <a:pPr marL="0" marR="0" indent="0"/>
                      <a:r>
                        <a:rPr lang="en-US" sz="1300" b="1">
                          <a:latin typeface="Verdana"/>
                        </a:rPr>
                        <a:t>Operating Expenses:</a:t>
                      </a:r>
                    </a:p>
                  </a:txBody>
                  <a:tcPr marL="0" marR="0" marT="0" marB="0" anchor="b">
                    <a:solidFill>
                      <a:srgbClr val="FEFB99"/>
                    </a:solidFill>
                  </a:tcPr>
                </a:tc>
                <a:tc>
                  <a:txBody>
                    <a:bodyPr/>
                    <a:lstStyle/>
                    <a:p>
                      <a:endParaRPr sz="1100"/>
                    </a:p>
                  </a:txBody>
                  <a:tcPr marL="0" marR="0" marT="0" marB="0"/>
                </a:tc>
                <a:tc>
                  <a:txBody>
                    <a:bodyPr/>
                    <a:lstStyle/>
                    <a:p>
                      <a:endParaRPr sz="1100"/>
                    </a:p>
                  </a:txBody>
                  <a:tcPr marL="0" marR="0" marT="0" marB="0"/>
                </a:tc>
                <a:tc>
                  <a:txBody>
                    <a:bodyPr/>
                    <a:lstStyle/>
                    <a:p>
                      <a:endParaRPr sz="1100"/>
                    </a:p>
                  </a:txBody>
                  <a:tcPr marL="0" marR="0" marT="0" marB="0"/>
                </a:tc>
                <a:extLst>
                  <a:ext uri="{0D108BD9-81ED-4DB2-BD59-A6C34878D82A}">
                    <a16:rowId xmlns:a16="http://schemas.microsoft.com/office/drawing/2014/main" val="10014"/>
                  </a:ext>
                </a:extLst>
              </a:tr>
              <a:tr h="222504">
                <a:tc>
                  <a:txBody>
                    <a:bodyPr/>
                    <a:lstStyle/>
                    <a:p>
                      <a:pPr marL="0" marR="0" indent="215900"/>
                      <a:r>
                        <a:rPr lang="en-US" sz="1200">
                          <a:solidFill>
                            <a:srgbClr val="221B28"/>
                          </a:solidFill>
                          <a:latin typeface="Tahoma"/>
                        </a:rPr>
                        <a:t>Facilities</a:t>
                      </a:r>
                    </a:p>
                  </a:txBody>
                  <a:tcPr marL="0" marR="0" marT="0" marB="0" anchor="b">
                    <a:solidFill>
                      <a:srgbClr val="FEFB99"/>
                    </a:solidFill>
                  </a:tcPr>
                </a:tc>
                <a:tc>
                  <a:txBody>
                    <a:bodyPr/>
                    <a:lstStyle/>
                    <a:p>
                      <a:pPr marL="611700" marR="0" indent="0" algn="just"/>
                      <a:r>
                        <a:rPr lang="en-US" sz="1200">
                          <a:solidFill>
                            <a:srgbClr val="221B28"/>
                          </a:solidFill>
                          <a:latin typeface="Tahoma"/>
                        </a:rPr>
                        <a:t>240,000</a:t>
                      </a:r>
                    </a:p>
                  </a:txBody>
                  <a:tcPr marL="0" marR="0" marT="0" marB="0" anchor="b"/>
                </a:tc>
                <a:tc>
                  <a:txBody>
                    <a:bodyPr/>
                    <a:lstStyle/>
                    <a:p>
                      <a:pPr marL="611700" marR="0" indent="0" algn="just"/>
                      <a:r>
                        <a:rPr lang="en-US" sz="1200">
                          <a:latin typeface="Tahoma"/>
                        </a:rPr>
                        <a:t>270,000</a:t>
                      </a:r>
                    </a:p>
                  </a:txBody>
                  <a:tcPr marL="0" marR="0" marT="0" marB="0" anchor="b"/>
                </a:tc>
                <a:tc>
                  <a:txBody>
                    <a:bodyPr/>
                    <a:lstStyle/>
                    <a:p>
                      <a:pPr marL="624400" marR="0" indent="0" algn="just"/>
                      <a:r>
                        <a:rPr lang="en-US" sz="1200">
                          <a:latin typeface="Tahoma"/>
                        </a:rPr>
                        <a:t>390,000</a:t>
                      </a:r>
                    </a:p>
                  </a:txBody>
                  <a:tcPr marL="0" marR="0" marT="0" marB="0" anchor="b"/>
                </a:tc>
                <a:extLst>
                  <a:ext uri="{0D108BD9-81ED-4DB2-BD59-A6C34878D82A}">
                    <a16:rowId xmlns:a16="http://schemas.microsoft.com/office/drawing/2014/main" val="10015"/>
                  </a:ext>
                </a:extLst>
              </a:tr>
              <a:tr h="225552">
                <a:tc>
                  <a:txBody>
                    <a:bodyPr/>
                    <a:lstStyle/>
                    <a:p>
                      <a:pPr marL="0" marR="0" indent="215900"/>
                      <a:r>
                        <a:rPr lang="en-US" sz="1200">
                          <a:latin typeface="Tahoma"/>
                        </a:rPr>
                        <a:t>Marketing</a:t>
                      </a:r>
                    </a:p>
                  </a:txBody>
                  <a:tcPr marL="0" marR="0" marT="0" marB="0" anchor="b">
                    <a:solidFill>
                      <a:srgbClr val="FEFB99"/>
                    </a:solidFill>
                  </a:tcPr>
                </a:tc>
                <a:tc>
                  <a:txBody>
                    <a:bodyPr/>
                    <a:lstStyle/>
                    <a:p>
                      <a:pPr marL="700600" marR="0" indent="0" algn="just"/>
                      <a:r>
                        <a:rPr lang="en-US" sz="1200">
                          <a:solidFill>
                            <a:srgbClr val="221B28"/>
                          </a:solidFill>
                          <a:latin typeface="Tahoma"/>
                        </a:rPr>
                        <a:t>36, DOO</a:t>
                      </a:r>
                    </a:p>
                  </a:txBody>
                  <a:tcPr marL="0" marR="0" marT="0" marB="0" anchor="b"/>
                </a:tc>
                <a:tc>
                  <a:txBody>
                    <a:bodyPr/>
                    <a:lstStyle/>
                    <a:p>
                      <a:pPr marL="611700" marR="0" indent="0" algn="just"/>
                      <a:r>
                        <a:rPr lang="en-US" sz="1200">
                          <a:latin typeface="Tahoma"/>
                        </a:rPr>
                        <a:t>130,000</a:t>
                      </a:r>
                    </a:p>
                  </a:txBody>
                  <a:tcPr marL="0" marR="0" marT="0" marB="0" anchor="b"/>
                </a:tc>
                <a:tc>
                  <a:txBody>
                    <a:bodyPr/>
                    <a:lstStyle/>
                    <a:p>
                      <a:pPr marL="624400" marR="0" indent="0" algn="just"/>
                      <a:r>
                        <a:rPr lang="en-US" sz="1200">
                          <a:solidFill>
                            <a:srgbClr val="221B28"/>
                          </a:solidFill>
                          <a:latin typeface="Tahoma"/>
                        </a:rPr>
                        <a:t>160,000</a:t>
                      </a:r>
                    </a:p>
                  </a:txBody>
                  <a:tcPr marL="0" marR="0" marT="0" marB="0" anchor="b"/>
                </a:tc>
                <a:extLst>
                  <a:ext uri="{0D108BD9-81ED-4DB2-BD59-A6C34878D82A}">
                    <a16:rowId xmlns:a16="http://schemas.microsoft.com/office/drawing/2014/main" val="10016"/>
                  </a:ext>
                </a:extLst>
              </a:tr>
              <a:tr h="225552">
                <a:tc>
                  <a:txBody>
                    <a:bodyPr/>
                    <a:lstStyle/>
                    <a:p>
                      <a:pPr marL="0" marR="0" indent="215900"/>
                      <a:r>
                        <a:rPr lang="en-US" sz="1200">
                          <a:latin typeface="Tahoma"/>
                        </a:rPr>
                        <a:t>Management Labor</a:t>
                      </a:r>
                    </a:p>
                  </a:txBody>
                  <a:tcPr marL="0" marR="0" marT="0" marB="0" anchor="b">
                    <a:solidFill>
                      <a:srgbClr val="FEFB99"/>
                    </a:solidFill>
                  </a:tcPr>
                </a:tc>
                <a:tc>
                  <a:txBody>
                    <a:bodyPr/>
                    <a:lstStyle/>
                    <a:p>
                      <a:pPr marL="611700" marR="0" indent="0" algn="just"/>
                      <a:r>
                        <a:rPr lang="en-US" sz="1200">
                          <a:solidFill>
                            <a:srgbClr val="221B28"/>
                          </a:solidFill>
                          <a:latin typeface="Tahoma"/>
                        </a:rPr>
                        <a:t>450,000</a:t>
                      </a:r>
                    </a:p>
                  </a:txBody>
                  <a:tcPr marL="0" marR="0" marT="0" marB="0" anchor="b"/>
                </a:tc>
                <a:tc>
                  <a:txBody>
                    <a:bodyPr/>
                    <a:lstStyle/>
                    <a:p>
                      <a:pPr marL="0" marR="0" indent="495300"/>
                      <a:r>
                        <a:rPr lang="en-US" sz="1200">
                          <a:latin typeface="Tahoma"/>
                        </a:rPr>
                        <a:t>1,500,000</a:t>
                      </a:r>
                    </a:p>
                  </a:txBody>
                  <a:tcPr marL="0" marR="0" marT="0" marB="0" anchor="b"/>
                </a:tc>
                <a:tc>
                  <a:txBody>
                    <a:bodyPr/>
                    <a:lstStyle/>
                    <a:p>
                      <a:pPr marL="0" marR="0" indent="495300"/>
                      <a:r>
                        <a:rPr lang="en-US" sz="1200">
                          <a:latin typeface="Tahoma"/>
                        </a:rPr>
                        <a:t>1,100,000</a:t>
                      </a:r>
                    </a:p>
                  </a:txBody>
                  <a:tcPr marL="0" marR="0" marT="0" marB="0" anchor="b"/>
                </a:tc>
                <a:extLst>
                  <a:ext uri="{0D108BD9-81ED-4DB2-BD59-A6C34878D82A}">
                    <a16:rowId xmlns:a16="http://schemas.microsoft.com/office/drawing/2014/main" val="10017"/>
                  </a:ext>
                </a:extLst>
              </a:tr>
              <a:tr h="225552">
                <a:tc>
                  <a:txBody>
                    <a:bodyPr/>
                    <a:lstStyle/>
                    <a:p>
                      <a:pPr marL="0" marR="0" indent="215900"/>
                      <a:r>
                        <a:rPr lang="en-US" sz="1200">
                          <a:latin typeface="Tahoma"/>
                        </a:rPr>
                        <a:t>Payroll taxes &amp; benefits</a:t>
                      </a:r>
                    </a:p>
                  </a:txBody>
                  <a:tcPr marL="0" marR="0" marT="0" marB="0" anchor="b">
                    <a:solidFill>
                      <a:srgbClr val="FEFB99"/>
                    </a:solidFill>
                  </a:tcPr>
                </a:tc>
                <a:tc>
                  <a:txBody>
                    <a:bodyPr/>
                    <a:lstStyle/>
                    <a:p>
                      <a:pPr marL="611700" marR="0" indent="0" algn="just"/>
                      <a:r>
                        <a:rPr lang="en-US" sz="1200">
                          <a:solidFill>
                            <a:srgbClr val="221B28"/>
                          </a:solidFill>
                          <a:latin typeface="Tahoma"/>
                        </a:rPr>
                        <a:t>130,000</a:t>
                      </a:r>
                    </a:p>
                  </a:txBody>
                  <a:tcPr marL="0" marR="0" marT="0" marB="0" anchor="b"/>
                </a:tc>
                <a:tc>
                  <a:txBody>
                    <a:bodyPr/>
                    <a:lstStyle/>
                    <a:p>
                      <a:pPr marL="611700" marR="0" indent="0" algn="just"/>
                      <a:r>
                        <a:rPr lang="en-US" sz="1200">
                          <a:solidFill>
                            <a:srgbClr val="221B28"/>
                          </a:solidFill>
                          <a:latin typeface="Tahoma"/>
                        </a:rPr>
                        <a:t>400,000</a:t>
                      </a:r>
                    </a:p>
                  </a:txBody>
                  <a:tcPr marL="0" marR="0" marT="0" marB="0" anchor="b"/>
                </a:tc>
                <a:tc>
                  <a:txBody>
                    <a:bodyPr/>
                    <a:lstStyle/>
                    <a:p>
                      <a:pPr marL="624400" marR="0" indent="0" algn="just"/>
                      <a:r>
                        <a:rPr lang="en-US" sz="1200">
                          <a:latin typeface="Tahoma"/>
                        </a:rPr>
                        <a:t>300,000</a:t>
                      </a:r>
                    </a:p>
                  </a:txBody>
                  <a:tcPr marL="0" marR="0" marT="0" marB="0" anchor="b"/>
                </a:tc>
                <a:extLst>
                  <a:ext uri="{0D108BD9-81ED-4DB2-BD59-A6C34878D82A}">
                    <a16:rowId xmlns:a16="http://schemas.microsoft.com/office/drawing/2014/main" val="10018"/>
                  </a:ext>
                </a:extLst>
              </a:tr>
              <a:tr h="225552">
                <a:tc>
                  <a:txBody>
                    <a:bodyPr/>
                    <a:lstStyle/>
                    <a:p>
                      <a:pPr marL="0" marR="0" indent="215900"/>
                      <a:r>
                        <a:rPr lang="en-US" sz="1200">
                          <a:latin typeface="Tahoma"/>
                        </a:rPr>
                        <a:t>Other operating expenses</a:t>
                      </a:r>
                    </a:p>
                  </a:txBody>
                  <a:tcPr marL="0" marR="0" marT="0" marB="0" anchor="b">
                    <a:solidFill>
                      <a:srgbClr val="FEFB99"/>
                    </a:solidFill>
                  </a:tcPr>
                </a:tc>
                <a:tc>
                  <a:txBody>
                    <a:bodyPr/>
                    <a:lstStyle/>
                    <a:p>
                      <a:pPr marL="611700" marR="0" indent="0" algn="just"/>
                      <a:r>
                        <a:rPr lang="en-US" sz="1200">
                          <a:solidFill>
                            <a:srgbClr val="221B28"/>
                          </a:solidFill>
                          <a:latin typeface="Tahoma"/>
                        </a:rPr>
                        <a:t>100,000</a:t>
                      </a:r>
                    </a:p>
                  </a:txBody>
                  <a:tcPr marL="0" marR="0" marT="0" marB="0" anchor="b"/>
                </a:tc>
                <a:tc>
                  <a:txBody>
                    <a:bodyPr/>
                    <a:lstStyle/>
                    <a:p>
                      <a:pPr marL="611700" marR="0" indent="0" algn="just"/>
                      <a:r>
                        <a:rPr lang="en-US" sz="1200">
                          <a:solidFill>
                            <a:srgbClr val="221B28"/>
                          </a:solidFill>
                          <a:latin typeface="Tahoma"/>
                        </a:rPr>
                        <a:t>430,000</a:t>
                      </a:r>
                    </a:p>
                  </a:txBody>
                  <a:tcPr marL="0" marR="0" marT="0" marB="0" anchor="b"/>
                </a:tc>
                <a:tc>
                  <a:txBody>
                    <a:bodyPr/>
                    <a:lstStyle/>
                    <a:p>
                      <a:pPr marL="624400" marR="0" indent="0" algn="just"/>
                      <a:r>
                        <a:rPr lang="en-US" sz="1200">
                          <a:solidFill>
                            <a:srgbClr val="221B28"/>
                          </a:solidFill>
                          <a:latin typeface="Tahoma"/>
                        </a:rPr>
                        <a:t>600,000</a:t>
                      </a:r>
                    </a:p>
                  </a:txBody>
                  <a:tcPr marL="0" marR="0" marT="0" marB="0" anchor="b"/>
                </a:tc>
                <a:extLst>
                  <a:ext uri="{0D108BD9-81ED-4DB2-BD59-A6C34878D82A}">
                    <a16:rowId xmlns:a16="http://schemas.microsoft.com/office/drawing/2014/main" val="10019"/>
                  </a:ext>
                </a:extLst>
              </a:tr>
              <a:tr h="228600">
                <a:tc>
                  <a:txBody>
                    <a:bodyPr/>
                    <a:lstStyle/>
                    <a:p>
                      <a:endParaRPr sz="1100"/>
                    </a:p>
                  </a:txBody>
                  <a:tcPr marL="0" marR="0" marT="0" marB="0">
                    <a:solidFill>
                      <a:srgbClr val="FEFB99"/>
                    </a:solidFill>
                  </a:tcPr>
                </a:tc>
                <a:tc>
                  <a:txBody>
                    <a:bodyPr/>
                    <a:lstStyle/>
                    <a:p>
                      <a:endParaRPr sz="1100"/>
                    </a:p>
                  </a:txBody>
                  <a:tcPr marL="0" marR="0" marT="0" marB="0"/>
                </a:tc>
                <a:tc>
                  <a:txBody>
                    <a:bodyPr/>
                    <a:lstStyle/>
                    <a:p>
                      <a:endParaRPr sz="1100"/>
                    </a:p>
                  </a:txBody>
                  <a:tcPr marL="0" marR="0" marT="0" marB="0"/>
                </a:tc>
                <a:tc>
                  <a:txBody>
                    <a:bodyPr/>
                    <a:lstStyle/>
                    <a:p>
                      <a:endParaRPr sz="1100"/>
                    </a:p>
                  </a:txBody>
                  <a:tcPr marL="0" marR="0" marT="0" marB="0"/>
                </a:tc>
                <a:extLst>
                  <a:ext uri="{0D108BD9-81ED-4DB2-BD59-A6C34878D82A}">
                    <a16:rowId xmlns:a16="http://schemas.microsoft.com/office/drawing/2014/main" val="10020"/>
                  </a:ext>
                </a:extLst>
              </a:tr>
              <a:tr h="252984">
                <a:tc>
                  <a:txBody>
                    <a:bodyPr/>
                    <a:lstStyle/>
                    <a:p>
                      <a:pPr marL="0" marR="0" indent="393700"/>
                      <a:r>
                        <a:rPr lang="en-US" sz="1300" b="1">
                          <a:latin typeface="Verdana"/>
                        </a:rPr>
                        <a:t>Total Operating Expenses</a:t>
                      </a:r>
                    </a:p>
                  </a:txBody>
                  <a:tcPr marL="0" marR="0" marT="0" marB="0" anchor="b">
                    <a:solidFill>
                      <a:srgbClr val="FEFB99"/>
                    </a:solidFill>
                  </a:tcPr>
                </a:tc>
                <a:tc>
                  <a:txBody>
                    <a:bodyPr/>
                    <a:lstStyle/>
                    <a:p>
                      <a:pPr marL="0" marR="0" indent="508000"/>
                      <a:r>
                        <a:rPr lang="en-US" sz="1200">
                          <a:latin typeface="Tahoma"/>
                        </a:rPr>
                        <a:t>1,006,000</a:t>
                      </a:r>
                    </a:p>
                  </a:txBody>
                  <a:tcPr marL="0" marR="0" marT="0" marB="0" anchor="b"/>
                </a:tc>
                <a:tc>
                  <a:txBody>
                    <a:bodyPr/>
                    <a:lstStyle/>
                    <a:p>
                      <a:pPr marL="0" marR="0" indent="495300"/>
                      <a:r>
                        <a:rPr lang="en-US" sz="1200">
                          <a:latin typeface="Tahoma"/>
                        </a:rPr>
                        <a:t>2,780,000</a:t>
                      </a:r>
                    </a:p>
                  </a:txBody>
                  <a:tcPr marL="0" marR="0" marT="0" marB="0" anchor="b"/>
                </a:tc>
                <a:tc>
                  <a:txBody>
                    <a:bodyPr/>
                    <a:lstStyle/>
                    <a:p>
                      <a:pPr marL="0" marR="0" indent="495300"/>
                      <a:r>
                        <a:rPr lang="en-US" sz="1200">
                          <a:latin typeface="Tahoma"/>
                        </a:rPr>
                        <a:t>3.550,000</a:t>
                      </a:r>
                    </a:p>
                  </a:txBody>
                  <a:tcPr marL="0" marR="0" marT="0" marB="0" anchor="b"/>
                </a:tc>
                <a:extLst>
                  <a:ext uri="{0D108BD9-81ED-4DB2-BD59-A6C34878D82A}">
                    <a16:rowId xmlns:a16="http://schemas.microsoft.com/office/drawing/2014/main" val="10021"/>
                  </a:ext>
                </a:extLst>
              </a:tr>
              <a:tr h="228600">
                <a:tc>
                  <a:txBody>
                    <a:bodyPr/>
                    <a:lstStyle/>
                    <a:p>
                      <a:pPr marL="3697800" marR="0" indent="0"/>
                      <a:r>
                        <a:rPr lang="en-US" sz="1200">
                          <a:latin typeface="Tahoma"/>
                        </a:rPr>
                        <a:t>3s % to </a:t>
                      </a:r>
                      <a:r>
                        <a:rPr lang="en-US" sz="1200" i="1">
                          <a:latin typeface="Tahoma"/>
                        </a:rPr>
                        <a:t>Sales</a:t>
                      </a:r>
                    </a:p>
                  </a:txBody>
                  <a:tcPr marL="0" marR="0" marT="0" marB="0" anchor="b">
                    <a:solidFill>
                      <a:srgbClr val="FEFB99"/>
                    </a:solidFill>
                  </a:tcPr>
                </a:tc>
                <a:tc>
                  <a:txBody>
                    <a:bodyPr/>
                    <a:lstStyle/>
                    <a:p>
                      <a:pPr marL="700600" marR="0" indent="0"/>
                      <a:r>
                        <a:rPr lang="en-US" sz="1200" i="1">
                          <a:latin typeface="Tahoma"/>
                        </a:rPr>
                        <a:t>22.86%</a:t>
                      </a:r>
                    </a:p>
                  </a:txBody>
                  <a:tcPr marL="0" marR="0" marT="0" marB="0" anchor="b">
                    <a:solidFill>
                      <a:srgbClr val="C0C0C0"/>
                    </a:solidFill>
                  </a:tcPr>
                </a:tc>
                <a:tc>
                  <a:txBody>
                    <a:bodyPr/>
                    <a:lstStyle/>
                    <a:p>
                      <a:pPr marL="0" marR="0" indent="0" algn="r"/>
                      <a:r>
                        <a:rPr lang="en-US" sz="1200" i="1">
                          <a:latin typeface="Tahoma"/>
                        </a:rPr>
                        <a:t>6.95%</a:t>
                      </a:r>
                    </a:p>
                  </a:txBody>
                  <a:tcPr marL="0" marR="0" marT="0" marB="0" anchor="b">
                    <a:solidFill>
                      <a:srgbClr val="C0C0C0"/>
                    </a:solidFill>
                  </a:tcPr>
                </a:tc>
                <a:tc>
                  <a:txBody>
                    <a:bodyPr/>
                    <a:lstStyle/>
                    <a:p>
                      <a:pPr marL="0" marR="0" indent="0" algn="r"/>
                      <a:r>
                        <a:rPr lang="en-US" sz="1200">
                          <a:latin typeface="Tahoma"/>
                        </a:rPr>
                        <a:t>35.50%</a:t>
                      </a:r>
                    </a:p>
                  </a:txBody>
                  <a:tcPr marL="0" marR="0" marT="0" marB="0" anchor="b">
                    <a:solidFill>
                      <a:srgbClr val="C0C0C0"/>
                    </a:solidFill>
                  </a:tcPr>
                </a:tc>
                <a:extLst>
                  <a:ext uri="{0D108BD9-81ED-4DB2-BD59-A6C34878D82A}">
                    <a16:rowId xmlns:a16="http://schemas.microsoft.com/office/drawing/2014/main" val="10022"/>
                  </a:ext>
                </a:extLst>
              </a:tr>
              <a:tr h="207264">
                <a:tc>
                  <a:txBody>
                    <a:bodyPr/>
                    <a:lstStyle/>
                    <a:p>
                      <a:pPr marL="2097600" marR="0" indent="0"/>
                      <a:r>
                        <a:rPr lang="en-US" sz="1200" i="1">
                          <a:latin typeface="Tahoma"/>
                        </a:rPr>
                        <a:t>mLER. (CM </a:t>
                      </a:r>
                      <a:r>
                        <a:rPr lang="ru" sz="1200" i="1">
                          <a:latin typeface="Tahoma"/>
                        </a:rPr>
                        <a:t>/ </a:t>
                      </a:r>
                      <a:r>
                        <a:rPr lang="en-US" sz="1200" i="1">
                          <a:latin typeface="Tahoma"/>
                        </a:rPr>
                        <a:t>Management Labor)</a:t>
                      </a:r>
                    </a:p>
                  </a:txBody>
                  <a:tcPr marL="0" marR="0" marT="0" marB="0" anchor="b">
                    <a:solidFill>
                      <a:srgbClr val="FEFB99"/>
                    </a:solidFill>
                  </a:tcPr>
                </a:tc>
                <a:tc>
                  <a:txBody>
                    <a:bodyPr/>
                    <a:lstStyle/>
                    <a:p>
                      <a:pPr marL="0" marR="0" indent="0" algn="r"/>
                      <a:r>
                        <a:rPr lang="en-US" sz="1200" i="1">
                          <a:latin typeface="Tahoma"/>
                        </a:rPr>
                        <a:t>3.78</a:t>
                      </a:r>
                    </a:p>
                  </a:txBody>
                  <a:tcPr marL="0" marR="0" marT="0" marB="0" anchor="b">
                    <a:solidFill>
                      <a:srgbClr val="C0C0C0"/>
                    </a:solidFill>
                  </a:tcPr>
                </a:tc>
                <a:tc>
                  <a:txBody>
                    <a:bodyPr/>
                    <a:lstStyle/>
                    <a:p>
                      <a:pPr marL="0" marR="0" indent="0" algn="r"/>
                      <a:r>
                        <a:rPr lang="en-US" sz="1200" i="1">
                          <a:latin typeface="Tahoma"/>
                        </a:rPr>
                        <a:t>2.83</a:t>
                      </a:r>
                    </a:p>
                  </a:txBody>
                  <a:tcPr marL="0" marR="0" marT="0" marB="0" anchor="b">
                    <a:solidFill>
                      <a:srgbClr val="C0C0C0"/>
                    </a:solidFill>
                  </a:tcPr>
                </a:tc>
                <a:tc>
                  <a:txBody>
                    <a:bodyPr/>
                    <a:lstStyle/>
                    <a:p>
                      <a:pPr marL="0" marR="0" indent="0" algn="r"/>
                      <a:r>
                        <a:rPr lang="en-US" sz="1200" i="1">
                          <a:latin typeface="Tahoma"/>
                        </a:rPr>
                        <a:t>4.32</a:t>
                      </a:r>
                    </a:p>
                  </a:txBody>
                  <a:tcPr marL="0" marR="0" marT="0" marB="0" anchor="b">
                    <a:solidFill>
                      <a:srgbClr val="C0C0C0"/>
                    </a:solidFill>
                  </a:tcPr>
                </a:tc>
                <a:extLst>
                  <a:ext uri="{0D108BD9-81ED-4DB2-BD59-A6C34878D82A}">
                    <a16:rowId xmlns:a16="http://schemas.microsoft.com/office/drawing/2014/main" val="10023"/>
                  </a:ext>
                </a:extLst>
              </a:tr>
              <a:tr h="204216">
                <a:tc>
                  <a:txBody>
                    <a:bodyPr/>
                    <a:lstStyle/>
                    <a:p>
                      <a:pPr marL="0" marR="0" indent="393700"/>
                      <a:r>
                        <a:rPr lang="en-US" sz="1300" b="1">
                          <a:latin typeface="Verdana"/>
                        </a:rPr>
                        <a:t>14et Operating Income</a:t>
                      </a:r>
                    </a:p>
                  </a:txBody>
                  <a:tcPr marL="0" marR="0" marT="0" marB="0" anchor="b">
                    <a:solidFill>
                      <a:srgbClr val="FEFB99"/>
                    </a:solidFill>
                  </a:tcPr>
                </a:tc>
                <a:tc>
                  <a:txBody>
                    <a:bodyPr/>
                    <a:lstStyle/>
                    <a:p>
                      <a:pPr marL="611700" marR="0" indent="0" algn="just"/>
                      <a:r>
                        <a:rPr lang="en-US" sz="1200">
                          <a:latin typeface="Tahoma"/>
                        </a:rPr>
                        <a:t>694.000</a:t>
                      </a:r>
                    </a:p>
                  </a:txBody>
                  <a:tcPr marL="0" marR="0" marT="0" marB="0" anchor="b"/>
                </a:tc>
                <a:tc>
                  <a:txBody>
                    <a:bodyPr/>
                    <a:lstStyle/>
                    <a:p>
                      <a:pPr marL="0" marR="0" indent="495300"/>
                      <a:r>
                        <a:rPr lang="en-US" sz="1200">
                          <a:latin typeface="Tahoma"/>
                        </a:rPr>
                        <a:t>1,470,000</a:t>
                      </a:r>
                    </a:p>
                  </a:txBody>
                  <a:tcPr marL="0" marR="0" marT="0" marB="0" anchor="b"/>
                </a:tc>
                <a:tc>
                  <a:txBody>
                    <a:bodyPr/>
                    <a:lstStyle/>
                    <a:p>
                      <a:pPr marL="0" marR="0" indent="495300"/>
                      <a:r>
                        <a:rPr lang="en-US" sz="1200">
                          <a:latin typeface="Tahoma"/>
                        </a:rPr>
                        <a:t>1,200,000</a:t>
                      </a:r>
                    </a:p>
                  </a:txBody>
                  <a:tcPr marL="0" marR="0" marT="0" marB="0" anchor="b"/>
                </a:tc>
                <a:extLst>
                  <a:ext uri="{0D108BD9-81ED-4DB2-BD59-A6C34878D82A}">
                    <a16:rowId xmlns:a16="http://schemas.microsoft.com/office/drawing/2014/main" val="10024"/>
                  </a:ext>
                </a:extLst>
              </a:tr>
              <a:tr h="222504">
                <a:tc>
                  <a:txBody>
                    <a:bodyPr/>
                    <a:lstStyle/>
                    <a:p>
                      <a:pPr marL="3697800" marR="0" indent="0"/>
                      <a:r>
                        <a:rPr lang="en-US" sz="1200">
                          <a:latin typeface="Tahoma"/>
                        </a:rPr>
                        <a:t>35 % to </a:t>
                      </a:r>
                      <a:r>
                        <a:rPr lang="en-US" sz="1200" i="1">
                          <a:latin typeface="Tahoma"/>
                        </a:rPr>
                        <a:t>Sales</a:t>
                      </a:r>
                    </a:p>
                  </a:txBody>
                  <a:tcPr marL="0" marR="0" marT="0" marB="0" anchor="b">
                    <a:solidFill>
                      <a:srgbClr val="FEFB99"/>
                    </a:solidFill>
                  </a:tcPr>
                </a:tc>
                <a:tc>
                  <a:txBody>
                    <a:bodyPr/>
                    <a:lstStyle/>
                    <a:p>
                      <a:pPr marL="700600" marR="0" indent="0"/>
                      <a:r>
                        <a:rPr lang="en-US" sz="1200" i="1">
                          <a:latin typeface="Tahoma"/>
                        </a:rPr>
                        <a:t>15.77%</a:t>
                      </a:r>
                    </a:p>
                  </a:txBody>
                  <a:tcPr marL="0" marR="0" marT="0" marB="0" anchor="b">
                    <a:solidFill>
                      <a:srgbClr val="C0C0C0"/>
                    </a:solidFill>
                  </a:tcPr>
                </a:tc>
                <a:tc>
                  <a:txBody>
                    <a:bodyPr/>
                    <a:lstStyle/>
                    <a:p>
                      <a:pPr marL="0" marR="0" indent="0" algn="r"/>
                      <a:r>
                        <a:rPr lang="en-US" sz="1200" i="1">
                          <a:latin typeface="Tahoma"/>
                        </a:rPr>
                        <a:t>3.68%</a:t>
                      </a:r>
                    </a:p>
                  </a:txBody>
                  <a:tcPr marL="0" marR="0" marT="0" marB="0" anchor="b">
                    <a:solidFill>
                      <a:srgbClr val="C0C0C0"/>
                    </a:solidFill>
                  </a:tcPr>
                </a:tc>
                <a:tc>
                  <a:txBody>
                    <a:bodyPr/>
                    <a:lstStyle/>
                    <a:p>
                      <a:pPr marL="0" marR="0" indent="0" algn="r"/>
                      <a:r>
                        <a:rPr lang="en-US" sz="1200" i="1">
                          <a:latin typeface="Tahoma"/>
                        </a:rPr>
                        <a:t>12.00%</a:t>
                      </a:r>
                    </a:p>
                  </a:txBody>
                  <a:tcPr marL="0" marR="0" marT="0" marB="0" anchor="b">
                    <a:solidFill>
                      <a:srgbClr val="C0C0C0"/>
                    </a:solidFill>
                  </a:tcPr>
                </a:tc>
                <a:extLst>
                  <a:ext uri="{0D108BD9-81ED-4DB2-BD59-A6C34878D82A}">
                    <a16:rowId xmlns:a16="http://schemas.microsoft.com/office/drawing/2014/main" val="10025"/>
                  </a:ext>
                </a:extLst>
              </a:tr>
              <a:tr h="204216">
                <a:tc>
                  <a:txBody>
                    <a:bodyPr/>
                    <a:lstStyle/>
                    <a:p>
                      <a:pPr marL="3875600" marR="0" indent="0"/>
                      <a:r>
                        <a:rPr lang="en-US" sz="1200" i="1">
                          <a:latin typeface="Tahoma"/>
                        </a:rPr>
                        <a:t>as % to GM</a:t>
                      </a:r>
                    </a:p>
                  </a:txBody>
                  <a:tcPr marL="0" marR="0" marT="0" marB="0" anchor="b">
                    <a:solidFill>
                      <a:srgbClr val="FEFB99"/>
                    </a:solidFill>
                  </a:tcPr>
                </a:tc>
                <a:tc>
                  <a:txBody>
                    <a:bodyPr/>
                    <a:lstStyle/>
                    <a:p>
                      <a:pPr marL="700600" marR="0" indent="0"/>
                      <a:r>
                        <a:rPr lang="en-US" sz="1200" i="1">
                          <a:latin typeface="Tahoma"/>
                        </a:rPr>
                        <a:t>26.69%,</a:t>
                      </a:r>
                    </a:p>
                  </a:txBody>
                  <a:tcPr marL="0" marR="0" marT="0" marB="0" anchor="b">
                    <a:solidFill>
                      <a:srgbClr val="C0C0C0"/>
                    </a:solidFill>
                  </a:tcPr>
                </a:tc>
                <a:tc>
                  <a:txBody>
                    <a:bodyPr/>
                    <a:lstStyle/>
                    <a:p>
                      <a:pPr marL="0" marR="0" indent="0" algn="r"/>
                      <a:r>
                        <a:rPr lang="en-US" sz="1200" i="1">
                          <a:latin typeface="Tahoma"/>
                        </a:rPr>
                        <a:t>27.48%</a:t>
                      </a:r>
                    </a:p>
                  </a:txBody>
                  <a:tcPr marL="0" marR="0" marT="0" marB="0" anchor="b">
                    <a:solidFill>
                      <a:srgbClr val="C0C0C0"/>
                    </a:solidFill>
                  </a:tcPr>
                </a:tc>
                <a:tc>
                  <a:txBody>
                    <a:bodyPr/>
                    <a:lstStyle/>
                    <a:p>
                      <a:pPr marL="0" marR="0" indent="0" algn="r"/>
                      <a:r>
                        <a:rPr lang="en-US" sz="1200" i="1">
                          <a:latin typeface="Tahoma"/>
                        </a:rPr>
                        <a:t>12.63%</a:t>
                      </a:r>
                    </a:p>
                  </a:txBody>
                  <a:tcPr marL="0" marR="0" marT="0" marB="0" anchor="b">
                    <a:solidFill>
                      <a:srgbClr val="C0C0C0"/>
                    </a:solidFill>
                  </a:tcPr>
                </a:tc>
                <a:extLst>
                  <a:ext uri="{0D108BD9-81ED-4DB2-BD59-A6C34878D82A}">
                    <a16:rowId xmlns:a16="http://schemas.microsoft.com/office/drawing/2014/main" val="10026"/>
                  </a:ext>
                </a:extLst>
              </a:tr>
              <a:tr h="188976">
                <a:tc>
                  <a:txBody>
                    <a:bodyPr/>
                    <a:lstStyle/>
                    <a:p>
                      <a:endParaRPr sz="900"/>
                    </a:p>
                  </a:txBody>
                  <a:tcPr marL="0" marR="0" marT="0" marB="0"/>
                </a:tc>
                <a:tc>
                  <a:txBody>
                    <a:bodyPr/>
                    <a:lstStyle/>
                    <a:p>
                      <a:endParaRPr sz="900"/>
                    </a:p>
                  </a:txBody>
                  <a:tcPr marL="0" marR="0" marT="0" marB="0"/>
                </a:tc>
                <a:tc>
                  <a:txBody>
                    <a:bodyPr/>
                    <a:lstStyle/>
                    <a:p>
                      <a:endParaRPr sz="900"/>
                    </a:p>
                  </a:txBody>
                  <a:tcPr marL="0" marR="0" marT="0" marB="0"/>
                </a:tc>
                <a:tc>
                  <a:txBody>
                    <a:bodyPr/>
                    <a:lstStyle/>
                    <a:p>
                      <a:endParaRPr sz="900"/>
                    </a:p>
                  </a:txBody>
                  <a:tcPr marL="0" marR="0" marT="0" marB="0"/>
                </a:tc>
                <a:extLst>
                  <a:ext uri="{0D108BD9-81ED-4DB2-BD59-A6C34878D82A}">
                    <a16:rowId xmlns:a16="http://schemas.microsoft.com/office/drawing/2014/main" val="10027"/>
                  </a:ext>
                </a:extLst>
              </a:tr>
              <a:tr h="228600">
                <a:tc>
                  <a:txBody>
                    <a:bodyPr/>
                    <a:lstStyle/>
                    <a:p>
                      <a:pPr marL="2694500" marR="0" indent="0"/>
                      <a:r>
                        <a:rPr lang="en-US" sz="1400" b="1">
                          <a:latin typeface="Arial"/>
                        </a:rPr>
                        <a:t>1 Month Core Capital</a:t>
                      </a:r>
                    </a:p>
                  </a:txBody>
                  <a:tcPr marL="0" marR="0" marT="0" marB="0" anchor="b">
                    <a:solidFill>
                      <a:srgbClr val="FEFB99"/>
                    </a:solidFill>
                  </a:tcPr>
                </a:tc>
                <a:tc>
                  <a:txBody>
                    <a:bodyPr/>
                    <a:lstStyle/>
                    <a:p>
                      <a:pPr marL="0" marR="0" indent="584200" algn="just"/>
                      <a:r>
                        <a:rPr lang="en-US" sz="1400">
                          <a:latin typeface="Arial"/>
                        </a:rPr>
                        <a:t>153,833</a:t>
                      </a:r>
                    </a:p>
                  </a:txBody>
                  <a:tcPr marL="0" marR="0" marT="0" marB="0" anchor="b"/>
                </a:tc>
                <a:tc>
                  <a:txBody>
                    <a:bodyPr/>
                    <a:lstStyle/>
                    <a:p>
                      <a:pPr marL="0" marR="0" indent="0" algn="r"/>
                      <a:r>
                        <a:rPr lang="en-US" sz="1400">
                          <a:latin typeface="Arial"/>
                        </a:rPr>
                        <a:t>323,333</a:t>
                      </a:r>
                    </a:p>
                  </a:txBody>
                  <a:tcPr marL="0" marR="0" marT="0" marB="0" anchor="b"/>
                </a:tc>
                <a:tc>
                  <a:txBody>
                    <a:bodyPr/>
                    <a:lstStyle/>
                    <a:p>
                      <a:pPr marL="0" marR="0" indent="0" algn="r"/>
                      <a:r>
                        <a:rPr lang="en-US" sz="1400">
                          <a:latin typeface="Arial"/>
                        </a:rPr>
                        <a:t>691,667</a:t>
                      </a:r>
                    </a:p>
                  </a:txBody>
                  <a:tcPr marL="0" marR="0" marT="0" marB="0" anchor="b"/>
                </a:tc>
                <a:extLst>
                  <a:ext uri="{0D108BD9-81ED-4DB2-BD59-A6C34878D82A}">
                    <a16:rowId xmlns:a16="http://schemas.microsoft.com/office/drawing/2014/main" val="10028"/>
                  </a:ext>
                </a:extLst>
              </a:tr>
              <a:tr h="341376">
                <a:tc>
                  <a:txBody>
                    <a:bodyPr/>
                    <a:lstStyle/>
                    <a:p>
                      <a:pPr marL="2694500" marR="0" indent="0"/>
                      <a:r>
                        <a:rPr lang="en-US" sz="1400" b="1">
                          <a:latin typeface="Arial"/>
                        </a:rPr>
                        <a:t>2 Month Core Capital</a:t>
                      </a:r>
                    </a:p>
                  </a:txBody>
                  <a:tcPr marL="0" marR="0" marT="0" marB="0">
                    <a:solidFill>
                      <a:srgbClr val="FEFB99"/>
                    </a:solidFill>
                  </a:tcPr>
                </a:tc>
                <a:tc>
                  <a:txBody>
                    <a:bodyPr/>
                    <a:lstStyle/>
                    <a:p>
                      <a:pPr marL="0" marR="0" indent="584200" algn="just"/>
                      <a:r>
                        <a:rPr lang="en-US" sz="1400">
                          <a:latin typeface="Arial"/>
                        </a:rPr>
                        <a:t>317,667</a:t>
                      </a:r>
                    </a:p>
                  </a:txBody>
                  <a:tcPr marL="0" marR="0" marT="0" marB="0"/>
                </a:tc>
                <a:tc>
                  <a:txBody>
                    <a:bodyPr/>
                    <a:lstStyle/>
                    <a:p>
                      <a:pPr marL="0" marR="0" indent="0" algn="r"/>
                      <a:r>
                        <a:rPr lang="en-US" sz="1400">
                          <a:latin typeface="Arial"/>
                        </a:rPr>
                        <a:t>646,667</a:t>
                      </a:r>
                    </a:p>
                  </a:txBody>
                  <a:tcPr marL="0" marR="0" marT="0" marB="0"/>
                </a:tc>
                <a:tc>
                  <a:txBody>
                    <a:bodyPr/>
                    <a:lstStyle/>
                    <a:p>
                      <a:pPr marL="0" marR="0" indent="419100" algn="just"/>
                      <a:r>
                        <a:rPr lang="en-US" sz="1400">
                          <a:latin typeface="Arial"/>
                        </a:rPr>
                        <a:t>1,383,333</a:t>
                      </a:r>
                    </a:p>
                  </a:txBody>
                  <a:tcPr marL="0" marR="0" marT="0" marB="0"/>
                </a:tc>
                <a:extLst>
                  <a:ext uri="{0D108BD9-81ED-4DB2-BD59-A6C34878D82A}">
                    <a16:rowId xmlns:a16="http://schemas.microsoft.com/office/drawing/2014/main" val="10029"/>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4300728" y="2593848"/>
            <a:ext cx="548640" cy="457200"/>
          </a:xfrm>
          <a:prstGeom prst="rect">
            <a:avLst/>
          </a:prstGeom>
        </p:spPr>
      </p:pic>
      <p:pic>
        <p:nvPicPr>
          <p:cNvPr id="3" name="Рисунок 2"/>
          <p:cNvPicPr>
            <a:picLocks noChangeAspect="1"/>
          </p:cNvPicPr>
          <p:nvPr/>
        </p:nvPicPr>
        <p:blipFill>
          <a:blip r:embed="rId3"/>
          <a:stretch>
            <a:fillRect/>
          </a:stretch>
        </p:blipFill>
        <p:spPr>
          <a:xfrm>
            <a:off x="4303776" y="3782568"/>
            <a:ext cx="542544" cy="460248"/>
          </a:xfrm>
          <a:prstGeom prst="rect">
            <a:avLst/>
          </a:prstGeom>
        </p:spPr>
      </p:pic>
      <p:pic>
        <p:nvPicPr>
          <p:cNvPr id="4" name="Рисунок 3"/>
          <p:cNvPicPr>
            <a:picLocks noChangeAspect="1"/>
          </p:cNvPicPr>
          <p:nvPr/>
        </p:nvPicPr>
        <p:blipFill>
          <a:blip r:embed="rId4"/>
          <a:stretch>
            <a:fillRect/>
          </a:stretch>
        </p:blipFill>
        <p:spPr>
          <a:xfrm>
            <a:off x="630936" y="4971288"/>
            <a:ext cx="7885176" cy="460248"/>
          </a:xfrm>
          <a:prstGeom prst="rect">
            <a:avLst/>
          </a:prstGeom>
        </p:spPr>
      </p:pic>
      <p:sp>
        <p:nvSpPr>
          <p:cNvPr id="5" name="Прямоугольник 4"/>
          <p:cNvSpPr/>
          <p:nvPr/>
        </p:nvSpPr>
        <p:spPr>
          <a:xfrm>
            <a:off x="2014728" y="819912"/>
            <a:ext cx="5135880" cy="515112"/>
          </a:xfrm>
          <a:prstGeom prst="rect">
            <a:avLst/>
          </a:prstGeom>
          <a:solidFill>
            <a:srgbClr val="FFFFFF"/>
          </a:solidFill>
        </p:spPr>
        <p:txBody>
          <a:bodyPr wrap="none" lIns="0" tIns="0" rIns="0" bIns="0">
            <a:noAutofit/>
          </a:bodyPr>
          <a:lstStyle/>
          <a:p>
            <a:pPr marL="0" marR="0" indent="0" algn="ctr">
              <a:spcBef>
                <a:spcPts val="1890"/>
              </a:spcBef>
            </a:pPr>
            <a:r>
              <a:rPr lang="en-US" sz="4400">
                <a:latin typeface="Calibri"/>
              </a:rPr>
              <a:t>Launch Capital Process</a:t>
            </a:r>
          </a:p>
        </p:txBody>
      </p:sp>
      <p:sp>
        <p:nvSpPr>
          <p:cNvPr id="6" name="Прямоугольник 5"/>
          <p:cNvSpPr/>
          <p:nvPr/>
        </p:nvSpPr>
        <p:spPr>
          <a:xfrm>
            <a:off x="1228344" y="1984248"/>
            <a:ext cx="6702552" cy="487680"/>
          </a:xfrm>
          <a:prstGeom prst="rect">
            <a:avLst/>
          </a:prstGeom>
          <a:solidFill>
            <a:srgbClr val="F79647"/>
          </a:solidFill>
        </p:spPr>
        <p:txBody>
          <a:bodyPr lIns="0" tIns="0" rIns="0" bIns="0">
            <a:noAutofit/>
          </a:bodyPr>
          <a:lstStyle/>
          <a:p>
            <a:pPr marL="0" marR="0" indent="0" algn="ctr">
              <a:lnSpc>
                <a:spcPct val="88000"/>
              </a:lnSpc>
            </a:pPr>
            <a:r>
              <a:rPr lang="en-US" sz="1800">
                <a:solidFill>
                  <a:srgbClr val="FFFFFF"/>
                </a:solidFill>
                <a:latin typeface="Calibri"/>
              </a:rPr>
              <a:t>Identify the initial new spend that will be the catalyst to the new activity (marketing, labor, facilities)</a:t>
            </a:r>
          </a:p>
        </p:txBody>
      </p:sp>
      <p:sp>
        <p:nvSpPr>
          <p:cNvPr id="7" name="Прямоугольник 6"/>
          <p:cNvSpPr/>
          <p:nvPr/>
        </p:nvSpPr>
        <p:spPr>
          <a:xfrm>
            <a:off x="871728" y="3176016"/>
            <a:ext cx="7406640" cy="484632"/>
          </a:xfrm>
          <a:prstGeom prst="rect">
            <a:avLst/>
          </a:prstGeom>
          <a:solidFill>
            <a:srgbClr val="F79647"/>
          </a:solidFill>
        </p:spPr>
        <p:txBody>
          <a:bodyPr lIns="0" tIns="0" rIns="0" bIns="0">
            <a:noAutofit/>
          </a:bodyPr>
          <a:lstStyle/>
          <a:p>
            <a:pPr marL="0" marR="0" indent="0" algn="ctr">
              <a:lnSpc>
                <a:spcPct val="88000"/>
              </a:lnSpc>
            </a:pPr>
            <a:r>
              <a:rPr lang="en-US" sz="1800">
                <a:solidFill>
                  <a:srgbClr val="FFFFFF"/>
                </a:solidFill>
                <a:latin typeface="Calibri"/>
              </a:rPr>
              <a:t>Forecast how much losses will be until the activity will break even. Those losses represent “launch capital”</a:t>
            </a:r>
          </a:p>
        </p:txBody>
      </p:sp>
      <p:sp>
        <p:nvSpPr>
          <p:cNvPr id="8" name="Прямоугольник 7"/>
          <p:cNvSpPr/>
          <p:nvPr/>
        </p:nvSpPr>
        <p:spPr>
          <a:xfrm>
            <a:off x="1447800" y="4486656"/>
            <a:ext cx="6251448" cy="237744"/>
          </a:xfrm>
          <a:prstGeom prst="rect">
            <a:avLst/>
          </a:prstGeom>
          <a:solidFill>
            <a:srgbClr val="F79647"/>
          </a:solidFill>
        </p:spPr>
        <p:txBody>
          <a:bodyPr wrap="none" lIns="0" tIns="0" rIns="0" bIns="0">
            <a:noAutofit/>
          </a:bodyPr>
          <a:lstStyle/>
          <a:p>
            <a:pPr marL="0" marR="0" indent="0"/>
            <a:r>
              <a:rPr lang="en-US" sz="1800">
                <a:solidFill>
                  <a:srgbClr val="FFFFFF"/>
                </a:solidFill>
                <a:latin typeface="Calibri"/>
              </a:rPr>
              <a:t>Establish expectation of profit increase (and when) from that spend</a:t>
            </a:r>
          </a:p>
        </p:txBody>
      </p:sp>
      <p:sp>
        <p:nvSpPr>
          <p:cNvPr id="9" name="Прямоугольник 8"/>
          <p:cNvSpPr/>
          <p:nvPr/>
        </p:nvSpPr>
        <p:spPr>
          <a:xfrm>
            <a:off x="1703832" y="5678424"/>
            <a:ext cx="5736336" cy="198120"/>
          </a:xfrm>
          <a:prstGeom prst="rect">
            <a:avLst/>
          </a:prstGeom>
          <a:solidFill>
            <a:srgbClr val="F79647"/>
          </a:solidFill>
        </p:spPr>
        <p:txBody>
          <a:bodyPr wrap="none" lIns="0" tIns="0" rIns="0" bIns="0">
            <a:noAutofit/>
          </a:bodyPr>
          <a:lstStyle/>
          <a:p>
            <a:pPr marL="0" marR="0" indent="0"/>
            <a:r>
              <a:rPr lang="en-US" sz="1800">
                <a:solidFill>
                  <a:srgbClr val="FFFFFF"/>
                </a:solidFill>
                <a:latin typeface="Calibri"/>
              </a:rPr>
              <a:t>Our standard is minimum of 50% return with 12 to 24 months</a:t>
            </a: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457200" y="1139952"/>
            <a:ext cx="8229600" cy="5391912"/>
          </a:xfrm>
          <a:prstGeom prst="rect">
            <a:avLst/>
          </a:prstGeom>
        </p:spPr>
      </p:pic>
      <p:sp>
        <p:nvSpPr>
          <p:cNvPr id="3" name="Прямоугольник 2"/>
          <p:cNvSpPr/>
          <p:nvPr/>
        </p:nvSpPr>
        <p:spPr>
          <a:xfrm>
            <a:off x="2343912" y="411480"/>
            <a:ext cx="4480560" cy="469392"/>
          </a:xfrm>
          <a:prstGeom prst="rect">
            <a:avLst/>
          </a:prstGeom>
          <a:solidFill>
            <a:srgbClr val="FFFFFF"/>
          </a:solidFill>
        </p:spPr>
        <p:txBody>
          <a:bodyPr wrap="none" lIns="0" tIns="0" rIns="0" bIns="0">
            <a:noAutofit/>
          </a:bodyPr>
          <a:lstStyle/>
          <a:p>
            <a:pPr marL="0" marR="0" indent="0"/>
            <a:r>
              <a:rPr lang="en-US" sz="3600">
                <a:solidFill>
                  <a:srgbClr val="DC5B2B"/>
                </a:solidFill>
                <a:latin typeface="Arial"/>
              </a:rPr>
              <a:t>Monthly P&amp;L Forecast</a:t>
            </a: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3249168" y="1969008"/>
            <a:ext cx="2718816" cy="1691640"/>
          </a:xfrm>
          <a:prstGeom prst="rect">
            <a:avLst/>
          </a:prstGeom>
        </p:spPr>
      </p:pic>
      <p:sp>
        <p:nvSpPr>
          <p:cNvPr id="3" name="Прямоугольник 2"/>
          <p:cNvSpPr/>
          <p:nvPr/>
        </p:nvSpPr>
        <p:spPr>
          <a:xfrm>
            <a:off x="807720" y="4099560"/>
            <a:ext cx="5599176" cy="871728"/>
          </a:xfrm>
          <a:prstGeom prst="rect">
            <a:avLst/>
          </a:prstGeom>
          <a:solidFill>
            <a:srgbClr val="FFFFFF"/>
          </a:solidFill>
        </p:spPr>
        <p:txBody>
          <a:bodyPr lIns="0" tIns="0" rIns="0" bIns="0">
            <a:noAutofit/>
          </a:bodyPr>
          <a:lstStyle/>
          <a:p>
            <a:pPr marL="0" marR="0" indent="6096">
              <a:spcAft>
                <a:spcPts val="210"/>
              </a:spcAft>
            </a:pPr>
            <a:r>
              <a:rPr lang="en-US" sz="2000">
                <a:latin typeface="Arial"/>
              </a:rPr>
              <a:t>Surviving and Thriving in a Crisis</a:t>
            </a:r>
          </a:p>
          <a:p>
            <a:pPr marL="0" marR="0" indent="6096"/>
            <a:r>
              <a:rPr lang="en-US" sz="4000" b="1">
                <a:solidFill>
                  <a:srgbClr val="DC5B2B"/>
                </a:solidFill>
                <a:latin typeface="Arial"/>
              </a:rPr>
              <a:t>USING THE TEMPLATE</a:t>
            </a: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51688" y="411480"/>
            <a:ext cx="5510784" cy="463296"/>
          </a:xfrm>
          <a:prstGeom prst="rect">
            <a:avLst/>
          </a:prstGeom>
          <a:solidFill>
            <a:srgbClr val="FFFFFF"/>
          </a:solidFill>
        </p:spPr>
        <p:txBody>
          <a:bodyPr wrap="none" lIns="0" tIns="0" rIns="0" bIns="0">
            <a:noAutofit/>
          </a:bodyPr>
          <a:lstStyle/>
          <a:p>
            <a:pPr marL="0" marR="0" indent="0"/>
            <a:r>
              <a:rPr lang="en-US" sz="3600">
                <a:solidFill>
                  <a:srgbClr val="DC5B2B"/>
                </a:solidFill>
                <a:latin typeface="Arial"/>
              </a:rPr>
              <a:t>Step One: </a:t>
            </a:r>
            <a:r>
              <a:rPr lang="en-US" sz="2800">
                <a:solidFill>
                  <a:srgbClr val="DC5B2B"/>
                </a:solidFill>
                <a:latin typeface="Arial"/>
              </a:rPr>
              <a:t>Input Actuals for P&amp;L</a:t>
            </a:r>
          </a:p>
        </p:txBody>
      </p:sp>
      <p:graphicFrame>
        <p:nvGraphicFramePr>
          <p:cNvPr id="3" name="Таблица 2"/>
          <p:cNvGraphicFramePr>
            <a:graphicFrameLocks noGrp="1"/>
          </p:cNvGraphicFramePr>
          <p:nvPr/>
        </p:nvGraphicFramePr>
        <p:xfrm>
          <a:off x="509016" y="1594104"/>
          <a:ext cx="8099552" cy="4358640"/>
        </p:xfrm>
        <a:graphic>
          <a:graphicData uri="http://schemas.openxmlformats.org/drawingml/2006/table">
            <a:tbl>
              <a:tblPr/>
              <a:tblGrid>
                <a:gridCol w="2334768">
                  <a:extLst>
                    <a:ext uri="{9D8B030D-6E8A-4147-A177-3AD203B41FA5}">
                      <a16:colId xmlns:a16="http://schemas.microsoft.com/office/drawing/2014/main" val="20000"/>
                    </a:ext>
                  </a:extLst>
                </a:gridCol>
                <a:gridCol w="676656">
                  <a:extLst>
                    <a:ext uri="{9D8B030D-6E8A-4147-A177-3AD203B41FA5}">
                      <a16:colId xmlns:a16="http://schemas.microsoft.com/office/drawing/2014/main" val="20001"/>
                    </a:ext>
                  </a:extLst>
                </a:gridCol>
                <a:gridCol w="673608">
                  <a:extLst>
                    <a:ext uri="{9D8B030D-6E8A-4147-A177-3AD203B41FA5}">
                      <a16:colId xmlns:a16="http://schemas.microsoft.com/office/drawing/2014/main" val="20002"/>
                    </a:ext>
                  </a:extLst>
                </a:gridCol>
                <a:gridCol w="208280">
                  <a:extLst>
                    <a:ext uri="{9D8B030D-6E8A-4147-A177-3AD203B41FA5}">
                      <a16:colId xmlns:a16="http://schemas.microsoft.com/office/drawing/2014/main" val="20003"/>
                    </a:ext>
                  </a:extLst>
                </a:gridCol>
                <a:gridCol w="2898648">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673608">
                  <a:extLst>
                    <a:ext uri="{9D8B030D-6E8A-4147-A177-3AD203B41FA5}">
                      <a16:colId xmlns:a16="http://schemas.microsoft.com/office/drawing/2014/main" val="20006"/>
                    </a:ext>
                  </a:extLst>
                </a:gridCol>
                <a:gridCol w="252984">
                  <a:extLst>
                    <a:ext uri="{9D8B030D-6E8A-4147-A177-3AD203B41FA5}">
                      <a16:colId xmlns:a16="http://schemas.microsoft.com/office/drawing/2014/main" val="20007"/>
                    </a:ext>
                  </a:extLst>
                </a:gridCol>
              </a:tblGrid>
              <a:tr h="219456">
                <a:tc>
                  <a:txBody>
                    <a:bodyPr/>
                    <a:lstStyle/>
                    <a:p>
                      <a:pPr marL="0" marR="0" indent="0"/>
                      <a:r>
                        <a:rPr lang="en-US" sz="950" b="1">
                          <a:latin typeface="Arial"/>
                        </a:rPr>
                        <a:t>Monthly Template</a:t>
                      </a:r>
                    </a:p>
                  </a:txBody>
                  <a:tcPr marL="0" marR="0" marT="0" marB="0" anchor="b"/>
                </a:tc>
                <a:tc>
                  <a:txBody>
                    <a:bodyPr/>
                    <a:lstStyle/>
                    <a:p>
                      <a:endParaRPr sz="1100"/>
                    </a:p>
                  </a:txBody>
                  <a:tcPr marL="0" marR="0" marT="0" marB="0"/>
                </a:tc>
                <a:tc>
                  <a:txBody>
                    <a:bodyPr/>
                    <a:lstStyle/>
                    <a:p>
                      <a:endParaRPr sz="1100"/>
                    </a:p>
                  </a:txBody>
                  <a:tcPr marL="0" marR="0" marT="0" marB="0"/>
                </a:tc>
                <a:tc>
                  <a:txBody>
                    <a:bodyPr/>
                    <a:lstStyle/>
                    <a:p>
                      <a:endParaRPr sz="1100"/>
                    </a:p>
                  </a:txBody>
                  <a:tcPr marL="0" marR="0" marT="0" marB="0"/>
                </a:tc>
                <a:tc>
                  <a:txBody>
                    <a:bodyPr/>
                    <a:lstStyle/>
                    <a:p>
                      <a:endParaRPr sz="1100"/>
                    </a:p>
                  </a:txBody>
                  <a:tcPr marL="0" marR="0" marT="0" marB="0"/>
                </a:tc>
                <a:tc>
                  <a:txBody>
                    <a:bodyPr/>
                    <a:lstStyle/>
                    <a:p>
                      <a:endParaRPr sz="1100"/>
                    </a:p>
                  </a:txBody>
                  <a:tcPr marL="0" marR="0" marT="0" marB="0"/>
                </a:tc>
                <a:tc>
                  <a:txBody>
                    <a:bodyPr/>
                    <a:lstStyle/>
                    <a:p>
                      <a:endParaRPr sz="1100"/>
                    </a:p>
                  </a:txBody>
                  <a:tcPr marL="0" marR="0" marT="0" marB="0"/>
                </a:tc>
                <a:tc>
                  <a:txBody>
                    <a:bodyPr/>
                    <a:lstStyle/>
                    <a:p>
                      <a:endParaRPr sz="1100"/>
                    </a:p>
                  </a:txBody>
                  <a:tcPr marL="0" marR="0" marT="0" marB="0"/>
                </a:tc>
                <a:extLst>
                  <a:ext uri="{0D108BD9-81ED-4DB2-BD59-A6C34878D82A}">
                    <a16:rowId xmlns:a16="http://schemas.microsoft.com/office/drawing/2014/main" val="10000"/>
                  </a:ext>
                </a:extLst>
              </a:tr>
              <a:tr h="170688">
                <a:tc>
                  <a:txBody>
                    <a:bodyPr/>
                    <a:lstStyle/>
                    <a:p>
                      <a:pPr marL="0" marR="0" indent="0"/>
                      <a:r>
                        <a:rPr lang="en-US" sz="900" b="1">
                          <a:latin typeface="Arial"/>
                        </a:rPr>
                        <a:t>Profit arid Loss</a:t>
                      </a:r>
                    </a:p>
                  </a:txBody>
                  <a:tcPr marL="0" marR="0" marT="0" marB="0" anchor="b"/>
                </a:tc>
                <a:tc>
                  <a:txBody>
                    <a:bodyPr/>
                    <a:lstStyle/>
                    <a:p>
                      <a:endParaRPr sz="900"/>
                    </a:p>
                  </a:txBody>
                  <a:tcPr marL="0" marR="0" marT="0" marB="0"/>
                </a:tc>
                <a:tc>
                  <a:txBody>
                    <a:bodyPr/>
                    <a:lstStyle/>
                    <a:p>
                      <a:endParaRPr sz="900"/>
                    </a:p>
                  </a:txBody>
                  <a:tcPr marL="0" marR="0" marT="0" marB="0"/>
                </a:tc>
                <a:tc>
                  <a:txBody>
                    <a:bodyPr/>
                    <a:lstStyle/>
                    <a:p>
                      <a:endParaRPr sz="900"/>
                    </a:p>
                  </a:txBody>
                  <a:tcPr marL="0" marR="0" marT="0" marB="0"/>
                </a:tc>
                <a:tc>
                  <a:txBody>
                    <a:bodyPr/>
                    <a:lstStyle/>
                    <a:p>
                      <a:endParaRPr sz="900"/>
                    </a:p>
                  </a:txBody>
                  <a:tcPr marL="0" marR="0" marT="0" marB="0"/>
                </a:tc>
                <a:tc>
                  <a:txBody>
                    <a:bodyPr/>
                    <a:lstStyle/>
                    <a:p>
                      <a:endParaRPr sz="900"/>
                    </a:p>
                  </a:txBody>
                  <a:tcPr marL="0" marR="0" marT="0" marB="0"/>
                </a:tc>
                <a:tc>
                  <a:txBody>
                    <a:bodyPr/>
                    <a:lstStyle/>
                    <a:p>
                      <a:endParaRPr sz="900"/>
                    </a:p>
                  </a:txBody>
                  <a:tcPr marL="0" marR="0" marT="0" marB="0"/>
                </a:tc>
                <a:tc>
                  <a:txBody>
                    <a:bodyPr/>
                    <a:lstStyle/>
                    <a:p>
                      <a:endParaRPr sz="900"/>
                    </a:p>
                  </a:txBody>
                  <a:tcPr marL="0" marR="0" marT="0" marB="0"/>
                </a:tc>
                <a:extLst>
                  <a:ext uri="{0D108BD9-81ED-4DB2-BD59-A6C34878D82A}">
                    <a16:rowId xmlns:a16="http://schemas.microsoft.com/office/drawing/2014/main" val="10001"/>
                  </a:ext>
                </a:extLst>
              </a:tr>
              <a:tr h="124968">
                <a:tc>
                  <a:txBody>
                    <a:bodyPr/>
                    <a:lstStyle/>
                    <a:p>
                      <a:pPr marL="0" marR="0" indent="0" algn="r"/>
                      <a:r>
                        <a:rPr lang="en-US" sz="750">
                          <a:solidFill>
                            <a:srgbClr val="221B28"/>
                          </a:solidFill>
                          <a:latin typeface="Arial"/>
                        </a:rPr>
                        <a:t>¥o¥ %&gt; change</a:t>
                      </a:r>
                    </a:p>
                  </a:txBody>
                  <a:tcPr marL="0" marR="0" marT="0" marB="0"/>
                </a:tc>
                <a:tc>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tc gridSpan="2">
                  <a:txBody>
                    <a:bodyPr/>
                    <a:lstStyle/>
                    <a:p>
                      <a:pPr marL="0" marR="179900" indent="0" algn="r"/>
                      <a:r>
                        <a:rPr lang="en-US" sz="950" b="1">
                          <a:solidFill>
                            <a:srgbClr val="403C3D"/>
                          </a:solidFill>
                          <a:latin typeface="Arial"/>
                        </a:rPr>
                        <a:t>14%</a:t>
                      </a:r>
                    </a:p>
                  </a:txBody>
                  <a:tcPr marL="0" marR="0" marT="0" marB="0"/>
                </a:tc>
                <a:tc hMerge="1">
                  <a:txBody>
                    <a:bodyPr/>
                    <a:lstStyle/>
                    <a:p>
                      <a:endParaRPr sz="600"/>
                    </a:p>
                  </a:txBody>
                  <a:tcPr marL="0" marR="0" marT="0" marB="0"/>
                </a:tc>
                <a:tc>
                  <a:txBody>
                    <a:bodyPr/>
                    <a:lstStyle/>
                    <a:p>
                      <a:pPr marL="0" marR="179900" indent="0" algn="r"/>
                      <a:r>
                        <a:rPr lang="en-US" sz="750">
                          <a:solidFill>
                            <a:srgbClr val="5E5650"/>
                          </a:solidFill>
                          <a:latin typeface="Arial"/>
                        </a:rPr>
                        <a:t>14%</a:t>
                      </a:r>
                    </a:p>
                  </a:txBody>
                  <a:tcPr marL="0" marR="0" marT="0" marB="0"/>
                </a:tc>
                <a:tc>
                  <a:txBody>
                    <a:bodyPr/>
                    <a:lstStyle/>
                    <a:p>
                      <a:pPr marL="0" marR="0" indent="190500" algn="just">
                        <a:spcBef>
                          <a:spcPts val="280"/>
                        </a:spcBef>
                      </a:pPr>
                      <a:r>
                        <a:rPr lang="en-US" sz="1000" i="1">
                          <a:latin typeface="Arial"/>
                        </a:rPr>
                        <a:t>-</a:t>
                      </a:r>
                    </a:p>
                  </a:txBody>
                  <a:tcPr marL="0" marR="0" marT="0" marB="0"/>
                </a:tc>
                <a:extLst>
                  <a:ext uri="{0D108BD9-81ED-4DB2-BD59-A6C34878D82A}">
                    <a16:rowId xmlns:a16="http://schemas.microsoft.com/office/drawing/2014/main" val="10002"/>
                  </a:ext>
                </a:extLst>
              </a:tr>
              <a:tr h="246888">
                <a:tc>
                  <a:txBody>
                    <a:bodyPr/>
                    <a:lstStyle/>
                    <a:p>
                      <a:endParaRPr sz="1200"/>
                    </a:p>
                  </a:txBody>
                  <a:tcPr marL="0" marR="0" marT="0" marB="0"/>
                </a:tc>
                <a:tc>
                  <a:txBody>
                    <a:bodyPr/>
                    <a:lstStyle/>
                    <a:p>
                      <a:pPr marL="0" marR="0" indent="165100" algn="just"/>
                      <a:r>
                        <a:rPr lang="en-US" sz="750">
                          <a:solidFill>
                            <a:srgbClr val="C6F1D9"/>
                          </a:solidFill>
                          <a:latin typeface="Arial"/>
                        </a:rPr>
                        <a:t>Actual</a:t>
                      </a:r>
                    </a:p>
                    <a:p>
                      <a:pPr marL="0" marR="0" indent="127000"/>
                      <a:r>
                        <a:rPr lang="en-US" sz="750">
                          <a:solidFill>
                            <a:srgbClr val="C6F1D9"/>
                          </a:solidFill>
                          <a:latin typeface="Arial"/>
                        </a:rPr>
                        <a:t>2019-07</a:t>
                      </a:r>
                    </a:p>
                  </a:txBody>
                  <a:tcPr marL="0" marR="0" marT="0" marB="0" anchor="b">
                    <a:solidFill>
                      <a:srgbClr val="01B54F"/>
                    </a:solidFill>
                  </a:tcPr>
                </a:tc>
                <a:tc>
                  <a:txBody>
                    <a:bodyPr/>
                    <a:lstStyle/>
                    <a:p>
                      <a:pPr marL="0" marR="0" indent="0" algn="ctr">
                        <a:lnSpc>
                          <a:spcPct val="115000"/>
                        </a:lnSpc>
                      </a:pPr>
                      <a:r>
                        <a:rPr lang="en-US" sz="750">
                          <a:solidFill>
                            <a:srgbClr val="C6F1D9"/>
                          </a:solidFill>
                          <a:latin typeface="Arial"/>
                        </a:rPr>
                        <a:t>Actual 2019-00</a:t>
                      </a:r>
                    </a:p>
                  </a:txBody>
                  <a:tcPr marL="0" marR="0" marT="0" marB="0" anchor="b">
                    <a:solidFill>
                      <a:srgbClr val="01B550"/>
                    </a:solidFill>
                  </a:tcPr>
                </a:tc>
                <a:tc>
                  <a:txBody>
                    <a:bodyPr/>
                    <a:lstStyle/>
                    <a:p>
                      <a:endParaRPr sz="1200"/>
                    </a:p>
                  </a:txBody>
                  <a:tcPr marL="0" marR="0" marT="0" marB="0">
                    <a:solidFill>
                      <a:srgbClr val="01B551"/>
                    </a:solidFill>
                  </a:tcPr>
                </a:tc>
                <a:tc gridSpan="2">
                  <a:txBody>
                    <a:bodyPr/>
                    <a:lstStyle/>
                    <a:p>
                      <a:pPr marL="0" marR="0" indent="0" defTabSz="670560">
                        <a:tabLst>
                          <a:tab pos="670560" algn="l"/>
                          <a:tab pos="1292352" algn="l"/>
                          <a:tab pos="1962912" algn="l"/>
                          <a:tab pos="2630424" algn="l"/>
                        </a:tabLst>
                      </a:pPr>
                      <a:r>
                        <a:rPr lang="en-US" sz="750">
                          <a:solidFill>
                            <a:srgbClr val="C6F1D9"/>
                          </a:solidFill>
                          <a:latin typeface="Arial"/>
                        </a:rPr>
                        <a:t>Actual	Actual	Actual	Actual	Actual</a:t>
                      </a:r>
                    </a:p>
                    <a:p>
                      <a:pPr marL="0" marR="0" indent="0" defTabSz="640080">
                        <a:tabLst>
                          <a:tab pos="640080" algn="l"/>
                          <a:tab pos="1338072" algn="l"/>
                          <a:tab pos="2008632" algn="l"/>
                          <a:tab pos="2676144" algn="l"/>
                        </a:tabLst>
                      </a:pPr>
                      <a:r>
                        <a:rPr lang="en-US" sz="750">
                          <a:solidFill>
                            <a:srgbClr val="C6F1D9"/>
                          </a:solidFill>
                          <a:latin typeface="Arial"/>
                        </a:rPr>
                        <a:t>2019-09	2019-10	2019-11	2019-12	2020-01</a:t>
                      </a:r>
                    </a:p>
                  </a:txBody>
                  <a:tcPr marL="0" marR="0" marT="0" marB="0" anchor="b">
                    <a:solidFill>
                      <a:srgbClr val="01B551"/>
                    </a:solidFill>
                  </a:tcPr>
                </a:tc>
                <a:tc hMerge="1">
                  <a:txBody>
                    <a:bodyPr/>
                    <a:lstStyle/>
                    <a:p>
                      <a:endParaRPr sz="1200"/>
                    </a:p>
                  </a:txBody>
                  <a:tcPr marL="0" marR="0" marT="0" marB="0"/>
                </a:tc>
                <a:tc>
                  <a:txBody>
                    <a:bodyPr/>
                    <a:lstStyle/>
                    <a:p>
                      <a:pPr marL="0" marR="0" indent="0" algn="ctr">
                        <a:lnSpc>
                          <a:spcPct val="115000"/>
                        </a:lnSpc>
                      </a:pPr>
                      <a:r>
                        <a:rPr lang="en-US" sz="750">
                          <a:solidFill>
                            <a:srgbClr val="C6F1D9"/>
                          </a:solidFill>
                          <a:latin typeface="Arial"/>
                        </a:rPr>
                        <a:t>Actual 2020-02</a:t>
                      </a:r>
                    </a:p>
                  </a:txBody>
                  <a:tcPr marL="0" marR="0" marT="0" marB="0" anchor="b">
                    <a:solidFill>
                      <a:srgbClr val="01B550"/>
                    </a:solidFill>
                  </a:tcPr>
                </a:tc>
                <a:tc>
                  <a:txBody>
                    <a:bodyPr/>
                    <a:lstStyle/>
                    <a:p>
                      <a:pPr marL="0" marR="0" indent="0" algn="r"/>
                      <a:r>
                        <a:rPr lang="en-US" sz="750">
                          <a:solidFill>
                            <a:srgbClr val="C6F1D9"/>
                          </a:solidFill>
                          <a:latin typeface="Arial"/>
                        </a:rPr>
                        <a:t>Fo</a:t>
                      </a:r>
                    </a:p>
                    <a:p>
                      <a:pPr marL="0" marR="0" indent="0" algn="r"/>
                      <a:r>
                        <a:rPr lang="en-US" sz="750">
                          <a:solidFill>
                            <a:srgbClr val="C6F1D9"/>
                          </a:solidFill>
                          <a:latin typeface="Arial"/>
                        </a:rPr>
                        <a:t>26</a:t>
                      </a:r>
                    </a:p>
                  </a:txBody>
                  <a:tcPr marL="0" marR="0" marT="0" marB="0" anchor="b">
                    <a:solidFill>
                      <a:srgbClr val="00B5F5"/>
                    </a:solidFill>
                  </a:tcPr>
                </a:tc>
                <a:extLst>
                  <a:ext uri="{0D108BD9-81ED-4DB2-BD59-A6C34878D82A}">
                    <a16:rowId xmlns:a16="http://schemas.microsoft.com/office/drawing/2014/main" val="10003"/>
                  </a:ext>
                </a:extLst>
              </a:tr>
              <a:tr h="115824">
                <a:tc>
                  <a:txBody>
                    <a:bodyPr/>
                    <a:lstStyle/>
                    <a:p>
                      <a:endParaRPr sz="600"/>
                    </a:p>
                  </a:txBody>
                  <a:tcPr marL="0" marR="0" marT="0" marB="0">
                    <a:solidFill>
                      <a:srgbClr val="FEFB99"/>
                    </a:solidFill>
                  </a:tcPr>
                </a:tc>
                <a:tc>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extLst>
                  <a:ext uri="{0D108BD9-81ED-4DB2-BD59-A6C34878D82A}">
                    <a16:rowId xmlns:a16="http://schemas.microsoft.com/office/drawing/2014/main" val="10004"/>
                  </a:ext>
                </a:extLst>
              </a:tr>
              <a:tr h="396240">
                <a:tc>
                  <a:txBody>
                    <a:bodyPr/>
                    <a:lstStyle/>
                    <a:p>
                      <a:pPr marL="0" marR="0" indent="228600">
                        <a:spcAft>
                          <a:spcPts val="770"/>
                        </a:spcAft>
                      </a:pPr>
                      <a:r>
                        <a:rPr lang="en-US" sz="750">
                          <a:latin typeface="Arial"/>
                        </a:rPr>
                        <a:t>Revenue</a:t>
                      </a:r>
                    </a:p>
                    <a:p>
                      <a:pPr marL="0" marR="0" indent="228600"/>
                      <a:r>
                        <a:rPr lang="en-US" sz="750">
                          <a:latin typeface="Arial"/>
                        </a:rPr>
                        <a:t>Cost of Goods Sold</a:t>
                      </a:r>
                    </a:p>
                  </a:txBody>
                  <a:tcPr marL="0" marR="0" marT="0" marB="0" anchor="b">
                    <a:solidFill>
                      <a:srgbClr val="FEFB99"/>
                    </a:solidFill>
                  </a:tcPr>
                </a:tc>
                <a:tc>
                  <a:txBody>
                    <a:bodyPr/>
                    <a:lstStyle/>
                    <a:p>
                      <a:pPr marL="0" marR="0" indent="190500" algn="just">
                        <a:spcAft>
                          <a:spcPts val="770"/>
                        </a:spcAft>
                      </a:pPr>
                      <a:r>
                        <a:rPr lang="en-US" sz="750">
                          <a:solidFill>
                            <a:srgbClr val="403C3D"/>
                          </a:solidFill>
                          <a:latin typeface="Arial"/>
                        </a:rPr>
                        <a:t>229,025</a:t>
                      </a:r>
                    </a:p>
                    <a:p>
                      <a:pPr marL="0" marR="0" indent="254000" algn="just"/>
                      <a:r>
                        <a:rPr lang="en-US" sz="750">
                          <a:solidFill>
                            <a:srgbClr val="403C3D"/>
                          </a:solidFill>
                          <a:latin typeface="Arial"/>
                        </a:rPr>
                        <a:t>12,129</a:t>
                      </a:r>
                    </a:p>
                  </a:txBody>
                  <a:tcPr marL="0" marR="0" marT="0" marB="0" anchor="b"/>
                </a:tc>
                <a:tc>
                  <a:txBody>
                    <a:bodyPr/>
                    <a:lstStyle/>
                    <a:p>
                      <a:pPr marL="0" marR="0" indent="0" algn="r">
                        <a:spcAft>
                          <a:spcPts val="770"/>
                        </a:spcAft>
                      </a:pPr>
                      <a:r>
                        <a:rPr lang="en-US" sz="750">
                          <a:solidFill>
                            <a:srgbClr val="403C3D"/>
                          </a:solidFill>
                          <a:latin typeface="Arial"/>
                        </a:rPr>
                        <a:t>270,425</a:t>
                      </a:r>
                    </a:p>
                    <a:p>
                      <a:pPr marL="0" marR="0" indent="0" algn="r"/>
                      <a:r>
                        <a:rPr lang="en-US" sz="750">
                          <a:solidFill>
                            <a:srgbClr val="403C3D"/>
                          </a:solidFill>
                          <a:latin typeface="Arial"/>
                        </a:rPr>
                        <a:t>6,091</a:t>
                      </a:r>
                    </a:p>
                  </a:txBody>
                  <a:tcPr marL="0" marR="0" marT="0" marB="0" anchor="b"/>
                </a:tc>
                <a:tc>
                  <a:txBody>
                    <a:bodyPr/>
                    <a:lstStyle/>
                    <a:p>
                      <a:endParaRPr sz="1900"/>
                    </a:p>
                  </a:txBody>
                  <a:tcPr marL="0" marR="0" marT="0" marB="0"/>
                </a:tc>
                <a:tc>
                  <a:txBody>
                    <a:bodyPr/>
                    <a:lstStyle/>
                    <a:p>
                      <a:pPr marL="0" marR="0" indent="88900"/>
                      <a:r>
                        <a:rPr lang="en-US" sz="950" i="1">
                          <a:solidFill>
                            <a:srgbClr val="403C3D"/>
                          </a:solidFill>
                          <a:latin typeface="Times New Roman"/>
                        </a:rPr>
                        <a:t>2^</a:t>
                      </a:r>
                    </a:p>
                  </a:txBody>
                  <a:tcPr marL="0" marR="0" marT="0" marB="0"/>
                </a:tc>
                <a:tc>
                  <a:txBody>
                    <a:bodyPr/>
                    <a:lstStyle/>
                    <a:p>
                      <a:pPr marL="0" marR="0" indent="0" algn="just">
                        <a:spcAft>
                          <a:spcPts val="770"/>
                        </a:spcAft>
                      </a:pPr>
                      <a:r>
                        <a:rPr lang="en-US" sz="750">
                          <a:solidFill>
                            <a:srgbClr val="403C3D"/>
                          </a:solidFill>
                          <a:latin typeface="Arial"/>
                        </a:rPr>
                        <a:t>^5,069</a:t>
                      </a:r>
                    </a:p>
                    <a:p>
                      <a:pPr marL="0" marR="0" indent="0"/>
                      <a:r>
                        <a:rPr lang="en-US" sz="750">
                          <a:solidFill>
                            <a:srgbClr val="403C3D"/>
                          </a:solidFill>
                          <a:latin typeface="Arial"/>
                        </a:rPr>
                        <a:t>3,613</a:t>
                      </a:r>
                    </a:p>
                  </a:txBody>
                  <a:tcPr marL="0" marR="0" marT="0" marB="0" anchor="b"/>
                </a:tc>
                <a:tc>
                  <a:txBody>
                    <a:bodyPr/>
                    <a:lstStyle/>
                    <a:p>
                      <a:pPr marL="0" marR="0" indent="0" algn="r">
                        <a:spcAft>
                          <a:spcPts val="770"/>
                        </a:spcAft>
                      </a:pPr>
                      <a:r>
                        <a:rPr lang="en-US" sz="750">
                          <a:solidFill>
                            <a:srgbClr val="403C3D"/>
                          </a:solidFill>
                          <a:latin typeface="Arial"/>
                        </a:rPr>
                        <a:t>235,000</a:t>
                      </a:r>
                    </a:p>
                    <a:p>
                      <a:pPr marL="0" marR="0" indent="0" algn="r"/>
                      <a:r>
                        <a:rPr lang="en-US" sz="750">
                          <a:solidFill>
                            <a:srgbClr val="403C3D"/>
                          </a:solidFill>
                          <a:latin typeface="Arial"/>
                        </a:rPr>
                        <a:t>12,825</a:t>
                      </a:r>
                    </a:p>
                  </a:txBody>
                  <a:tcPr marL="0" marR="0" marT="0" marB="0" anchor="b"/>
                </a:tc>
                <a:tc>
                  <a:txBody>
                    <a:bodyPr/>
                    <a:lstStyle/>
                    <a:p>
                      <a:endParaRPr sz="1900"/>
                    </a:p>
                  </a:txBody>
                  <a:tcPr marL="0" marR="0" marT="0" marB="0"/>
                </a:tc>
                <a:extLst>
                  <a:ext uri="{0D108BD9-81ED-4DB2-BD59-A6C34878D82A}">
                    <a16:rowId xmlns:a16="http://schemas.microsoft.com/office/drawing/2014/main" val="10005"/>
                  </a:ext>
                </a:extLst>
              </a:tr>
              <a:tr h="637032">
                <a:tc>
                  <a:txBody>
                    <a:bodyPr/>
                    <a:lstStyle/>
                    <a:p>
                      <a:pPr marL="0" marR="0" indent="228600"/>
                      <a:r>
                        <a:rPr lang="en-US" sz="800" b="1">
                          <a:solidFill>
                            <a:srgbClr val="221B28"/>
                          </a:solidFill>
                          <a:latin typeface="Arial"/>
                        </a:rPr>
                        <a:t>Gross Margin</a:t>
                      </a:r>
                    </a:p>
                    <a:p>
                      <a:pPr marL="1513400" marR="0" indent="0">
                        <a:lnSpc>
                          <a:spcPct val="95000"/>
                        </a:lnSpc>
                        <a:spcAft>
                          <a:spcPts val="770"/>
                        </a:spcAft>
                      </a:pPr>
                      <a:r>
                        <a:rPr lang="en-US" sz="900" b="1">
                          <a:solidFill>
                            <a:srgbClr val="221B28"/>
                          </a:solidFill>
                          <a:latin typeface="Arial"/>
                        </a:rPr>
                        <a:t>as </a:t>
                      </a:r>
                      <a:r>
                        <a:rPr lang="en-US" sz="900" b="1">
                          <a:solidFill>
                            <a:srgbClr val="5E5650"/>
                          </a:solidFill>
                          <a:latin typeface="Arial"/>
                        </a:rPr>
                        <a:t>a % </a:t>
                      </a:r>
                      <a:r>
                        <a:rPr lang="en-US" sz="750">
                          <a:solidFill>
                            <a:srgbClr val="221B28"/>
                          </a:solidFill>
                          <a:latin typeface="Arial"/>
                        </a:rPr>
                        <a:t>of sales</a:t>
                      </a:r>
                    </a:p>
                    <a:p>
                      <a:pPr marL="0" marR="0" indent="228600"/>
                      <a:r>
                        <a:rPr lang="en-US" sz="750">
                          <a:solidFill>
                            <a:srgbClr val="221B28"/>
                          </a:solidFill>
                          <a:latin typeface="Arial"/>
                        </a:rPr>
                        <a:t>Direct labor</a:t>
                      </a:r>
                    </a:p>
                  </a:txBody>
                  <a:tcPr marL="0" marR="0" marT="0" marB="0" anchor="b">
                    <a:solidFill>
                      <a:srgbClr val="FEFB99"/>
                    </a:solidFill>
                  </a:tcPr>
                </a:tc>
                <a:tc>
                  <a:txBody>
                    <a:bodyPr/>
                    <a:lstStyle/>
                    <a:p>
                      <a:pPr marL="0" marR="0" indent="190500" algn="just"/>
                      <a:r>
                        <a:rPr lang="en-US" sz="750">
                          <a:solidFill>
                            <a:srgbClr val="403C3D"/>
                          </a:solidFill>
                          <a:latin typeface="Arial"/>
                        </a:rPr>
                        <a:t>216,096</a:t>
                      </a:r>
                    </a:p>
                    <a:p>
                      <a:pPr marL="0" marR="0" indent="419100" algn="just">
                        <a:spcAft>
                          <a:spcPts val="770"/>
                        </a:spcAft>
                      </a:pPr>
                      <a:r>
                        <a:rPr lang="en-US" sz="750">
                          <a:solidFill>
                            <a:srgbClr val="5E5650"/>
                          </a:solidFill>
                          <a:latin typeface="Arial"/>
                        </a:rPr>
                        <a:t>95%</a:t>
                      </a:r>
                    </a:p>
                    <a:p>
                      <a:pPr marL="0" marR="0" indent="254000" algn="just"/>
                      <a:r>
                        <a:rPr lang="en-US" sz="750">
                          <a:solidFill>
                            <a:srgbClr val="403C3D"/>
                          </a:solidFill>
                          <a:latin typeface="Arial"/>
                        </a:rPr>
                        <a:t>90,541</a:t>
                      </a:r>
                    </a:p>
                  </a:txBody>
                  <a:tcPr marL="0" marR="0" marT="0" marB="0" anchor="b"/>
                </a:tc>
                <a:tc>
                  <a:txBody>
                    <a:bodyPr/>
                    <a:lstStyle/>
                    <a:p>
                      <a:pPr marL="0" marR="0" indent="0" algn="r">
                        <a:spcAft>
                          <a:spcPts val="140"/>
                        </a:spcAft>
                      </a:pPr>
                      <a:r>
                        <a:rPr lang="en-US" sz="750">
                          <a:solidFill>
                            <a:srgbClr val="403C3D"/>
                          </a:solidFill>
                          <a:latin typeface="Arial"/>
                        </a:rPr>
                        <a:t>264,334</a:t>
                      </a:r>
                    </a:p>
                    <a:p>
                      <a:pPr marL="0" marR="0" indent="0" algn="r">
                        <a:spcAft>
                          <a:spcPts val="770"/>
                        </a:spcAft>
                      </a:pPr>
                      <a:r>
                        <a:rPr lang="en-US" sz="750">
                          <a:solidFill>
                            <a:srgbClr val="403C3D"/>
                          </a:solidFill>
                          <a:latin typeface="Arial"/>
                        </a:rPr>
                        <a:t>93%</a:t>
                      </a:r>
                    </a:p>
                    <a:p>
                      <a:pPr marL="0" marR="0" indent="203200" algn="just"/>
                      <a:r>
                        <a:rPr lang="en-US" sz="750">
                          <a:solidFill>
                            <a:srgbClr val="403C3D"/>
                          </a:solidFill>
                          <a:latin typeface="Arial"/>
                        </a:rPr>
                        <a:t>115,779</a:t>
                      </a:r>
                    </a:p>
                  </a:txBody>
                  <a:tcPr marL="0" marR="0" marT="0" marB="0" anchor="b"/>
                </a:tc>
                <a:tc>
                  <a:txBody>
                    <a:bodyPr/>
                    <a:lstStyle/>
                    <a:p>
                      <a:endParaRPr sz="3100"/>
                    </a:p>
                  </a:txBody>
                  <a:tcPr marL="0" marR="0" marT="0" marB="0"/>
                </a:tc>
                <a:tc rowSpan="2">
                  <a:txBody>
                    <a:bodyPr/>
                    <a:lstStyle/>
                    <a:p>
                      <a:pPr marL="0" marR="0" indent="228600">
                        <a:spcAft>
                          <a:spcPts val="280"/>
                        </a:spcAft>
                      </a:pPr>
                      <a:r>
                        <a:rPr lang="en-US" sz="1400">
                          <a:latin typeface="Arial"/>
                        </a:rPr>
                        <a:t>Input Actual Numbers for:</a:t>
                      </a:r>
                    </a:p>
                    <a:p>
                      <a:pPr marL="0" marR="0" indent="228600">
                        <a:spcAft>
                          <a:spcPts val="280"/>
                        </a:spcAft>
                      </a:pPr>
                      <a:r>
                        <a:rPr lang="en-US" sz="950">
                          <a:latin typeface="Arial"/>
                        </a:rPr>
                        <a:t>Revenue,</a:t>
                      </a:r>
                    </a:p>
                    <a:p>
                      <a:pPr marL="0" marR="0" indent="228600">
                        <a:spcAft>
                          <a:spcPts val="280"/>
                        </a:spcAft>
                      </a:pPr>
                      <a:r>
                        <a:rPr lang="en-US" sz="950">
                          <a:latin typeface="Arial"/>
                        </a:rPr>
                        <a:t>Cost of Goods Sold,</a:t>
                      </a:r>
                    </a:p>
                    <a:p>
                      <a:pPr marL="0" marR="0" indent="228600"/>
                      <a:r>
                        <a:rPr lang="en-US" sz="950">
                          <a:latin typeface="Arial"/>
                        </a:rPr>
                        <a:t>Direct Labor</a:t>
                      </a:r>
                    </a:p>
                  </a:txBody>
                  <a:tcPr marL="0" marR="0" marT="0" marB="0" anchor="ctr"/>
                </a:tc>
                <a:tc>
                  <a:txBody>
                    <a:bodyPr/>
                    <a:lstStyle/>
                    <a:p>
                      <a:pPr marL="52900" marR="0" indent="-88900">
                        <a:lnSpc>
                          <a:spcPct val="115000"/>
                        </a:lnSpc>
                        <a:spcAft>
                          <a:spcPts val="630"/>
                        </a:spcAft>
                      </a:pPr>
                      <a:r>
                        <a:rPr lang="en-US" sz="750">
                          <a:solidFill>
                            <a:srgbClr val="403C3D"/>
                          </a:solidFill>
                          <a:latin typeface="Arial"/>
                        </a:rPr>
                        <a:t>11,456 99%</a:t>
                      </a:r>
                    </a:p>
                    <a:p>
                      <a:pPr marL="0" marR="0" indent="0" algn="just">
                        <a:lnSpc>
                          <a:spcPct val="115000"/>
                        </a:lnSpc>
                      </a:pPr>
                      <a:r>
                        <a:rPr lang="en-US" sz="750">
                          <a:solidFill>
                            <a:srgbClr val="403C3D"/>
                          </a:solidFill>
                          <a:latin typeface="Arial"/>
                        </a:rPr>
                        <a:t>15,169</a:t>
                      </a:r>
                    </a:p>
                  </a:txBody>
                  <a:tcPr marL="0" marR="0" marT="0" marB="0" anchor="b"/>
                </a:tc>
                <a:tc>
                  <a:txBody>
                    <a:bodyPr/>
                    <a:lstStyle/>
                    <a:p>
                      <a:pPr marL="345000" marR="0" indent="-177800">
                        <a:lnSpc>
                          <a:spcPct val="109000"/>
                        </a:lnSpc>
                        <a:spcAft>
                          <a:spcPts val="770"/>
                        </a:spcAft>
                      </a:pPr>
                      <a:r>
                        <a:rPr lang="en-US" sz="750">
                          <a:solidFill>
                            <a:srgbClr val="403C3D"/>
                          </a:solidFill>
                          <a:latin typeface="Arial"/>
                        </a:rPr>
                        <a:t>272,175 96%</a:t>
                      </a:r>
                    </a:p>
                    <a:p>
                      <a:pPr marL="0" marR="0" indent="0" algn="r">
                        <a:lnSpc>
                          <a:spcPct val="109000"/>
                        </a:lnSpc>
                      </a:pPr>
                      <a:r>
                        <a:rPr lang="en-US" sz="750">
                          <a:solidFill>
                            <a:srgbClr val="403C3D"/>
                          </a:solidFill>
                          <a:latin typeface="Arial"/>
                        </a:rPr>
                        <a:t>99,742</a:t>
                      </a:r>
                    </a:p>
                  </a:txBody>
                  <a:tcPr marL="0" marR="0" marT="0" marB="0" anchor="b"/>
                </a:tc>
                <a:tc>
                  <a:txBody>
                    <a:bodyPr/>
                    <a:lstStyle/>
                    <a:p>
                      <a:pPr marL="0" marR="0" indent="190500">
                        <a:spcBef>
                          <a:spcPts val="770"/>
                        </a:spcBef>
                      </a:pPr>
                      <a:r>
                        <a:rPr lang="en-US" sz="750">
                          <a:solidFill>
                            <a:srgbClr val="221B28"/>
                          </a:solidFill>
                          <a:latin typeface="Arial"/>
                        </a:rPr>
                        <a:t>1</a:t>
                      </a:r>
                    </a:p>
                  </a:txBody>
                  <a:tcPr marL="0" marR="0" marT="0" marB="0"/>
                </a:tc>
                <a:extLst>
                  <a:ext uri="{0D108BD9-81ED-4DB2-BD59-A6C34878D82A}">
                    <a16:rowId xmlns:a16="http://schemas.microsoft.com/office/drawing/2014/main" val="10006"/>
                  </a:ext>
                </a:extLst>
              </a:tr>
              <a:tr h="387096">
                <a:tc>
                  <a:txBody>
                    <a:bodyPr/>
                    <a:lstStyle/>
                    <a:p>
                      <a:pPr marL="1488000" marR="0" indent="0" algn="r">
                        <a:lnSpc>
                          <a:spcPct val="115000"/>
                        </a:lnSpc>
                      </a:pPr>
                      <a:r>
                        <a:rPr lang="en-US" sz="750">
                          <a:solidFill>
                            <a:srgbClr val="221B28"/>
                          </a:solidFill>
                          <a:latin typeface="Arial"/>
                        </a:rPr>
                        <a:t>as a </a:t>
                      </a:r>
                      <a:r>
                        <a:rPr lang="en-US" sz="750">
                          <a:solidFill>
                            <a:srgbClr val="403C3D"/>
                          </a:solidFill>
                          <a:latin typeface="Arial"/>
                        </a:rPr>
                        <a:t>% </a:t>
                      </a:r>
                      <a:r>
                        <a:rPr lang="en-US" sz="750">
                          <a:solidFill>
                            <a:srgbClr val="221B28"/>
                          </a:solidFill>
                          <a:latin typeface="Arial"/>
                        </a:rPr>
                        <a:t>of sales Direct LER</a:t>
                      </a:r>
                    </a:p>
                  </a:txBody>
                  <a:tcPr marL="0" marR="0" marT="0" marB="0">
                    <a:solidFill>
                      <a:srgbClr val="FEFB99"/>
                    </a:solidFill>
                  </a:tcPr>
                </a:tc>
                <a:tc>
                  <a:txBody>
                    <a:bodyPr/>
                    <a:lstStyle/>
                    <a:p>
                      <a:pPr marL="0" marR="0" indent="381000" algn="just"/>
                      <a:r>
                        <a:rPr lang="en-US" sz="750" i="1">
                          <a:solidFill>
                            <a:srgbClr val="403C3D"/>
                          </a:solidFill>
                          <a:latin typeface="Arial"/>
                        </a:rPr>
                        <a:t>43%</a:t>
                      </a:r>
                    </a:p>
                    <a:p>
                      <a:pPr marL="0" marR="0" indent="381000" algn="just"/>
                      <a:r>
                        <a:rPr lang="en-US" sz="750" i="1">
                          <a:solidFill>
                            <a:srgbClr val="403C3D"/>
                          </a:solidFill>
                          <a:latin typeface="Arial"/>
                        </a:rPr>
                        <a:t>2.20</a:t>
                      </a:r>
                    </a:p>
                  </a:txBody>
                  <a:tcPr marL="0" marR="0" marT="0" marB="0"/>
                </a:tc>
                <a:tc>
                  <a:txBody>
                    <a:bodyPr/>
                    <a:lstStyle/>
                    <a:p>
                      <a:pPr marL="0" marR="0" indent="0" algn="r"/>
                      <a:r>
                        <a:rPr lang="en-US" sz="750" i="1">
                          <a:solidFill>
                            <a:srgbClr val="403C3D"/>
                          </a:solidFill>
                          <a:latin typeface="Arial"/>
                        </a:rPr>
                        <a:t>43%</a:t>
                      </a:r>
                    </a:p>
                    <a:p>
                      <a:pPr marL="0" marR="0" indent="0" algn="r"/>
                      <a:r>
                        <a:rPr lang="en-US" sz="750" i="1">
                          <a:solidFill>
                            <a:srgbClr val="403C3D"/>
                          </a:solidFill>
                          <a:latin typeface="Arial"/>
                        </a:rPr>
                        <a:t>2.26</a:t>
                      </a:r>
                    </a:p>
                  </a:txBody>
                  <a:tcPr marL="0" marR="0" marT="0" marB="0"/>
                </a:tc>
                <a:tc>
                  <a:txBody>
                    <a:bodyPr/>
                    <a:lstStyle/>
                    <a:p>
                      <a:endParaRPr sz="1900"/>
                    </a:p>
                  </a:txBody>
                  <a:tcPr marL="0" marR="0" marT="0" marB="0"/>
                </a:tc>
                <a:tc vMerge="1">
                  <a:txBody>
                    <a:bodyPr/>
                    <a:lstStyle/>
                    <a:p>
                      <a:endParaRPr sz="1900"/>
                    </a:p>
                  </a:txBody>
                  <a:tcPr marL="0" marR="0" marT="0" marB="0"/>
                </a:tc>
                <a:tc>
                  <a:txBody>
                    <a:bodyPr/>
                    <a:lstStyle/>
                    <a:p>
                      <a:pPr marL="0" marR="0" indent="88900"/>
                      <a:r>
                        <a:rPr lang="en-US" sz="750" i="1">
                          <a:solidFill>
                            <a:srgbClr val="403C3D"/>
                          </a:solidFill>
                          <a:latin typeface="Arial"/>
                        </a:rPr>
                        <a:t>34%</a:t>
                      </a:r>
                    </a:p>
                    <a:p>
                      <a:pPr marL="0" marR="0" indent="0" algn="r"/>
                      <a:r>
                        <a:rPr lang="en-US" sz="750" i="1">
                          <a:solidFill>
                            <a:srgbClr val="403C3D"/>
                          </a:solidFill>
                          <a:latin typeface="Arial"/>
                        </a:rPr>
                        <a:t>2.39</a:t>
                      </a:r>
                    </a:p>
                  </a:txBody>
                  <a:tcPr marL="0" marR="0" marT="0" marB="0"/>
                </a:tc>
                <a:tc>
                  <a:txBody>
                    <a:bodyPr/>
                    <a:lstStyle/>
                    <a:p>
                      <a:pPr marL="0" marR="0" indent="0" algn="r"/>
                      <a:r>
                        <a:rPr lang="en-US" sz="750" i="1">
                          <a:solidFill>
                            <a:srgbClr val="403C3D"/>
                          </a:solidFill>
                          <a:latin typeface="Arial"/>
                        </a:rPr>
                        <a:t>35%</a:t>
                      </a:r>
                    </a:p>
                    <a:p>
                      <a:pPr marL="0" marR="0" indent="0" algn="r"/>
                      <a:r>
                        <a:rPr lang="en-US" sz="750" i="1">
                          <a:solidFill>
                            <a:srgbClr val="403C3D"/>
                          </a:solidFill>
                          <a:latin typeface="Arial"/>
                        </a:rPr>
                        <a:t>2.73</a:t>
                      </a:r>
                    </a:p>
                  </a:txBody>
                  <a:tcPr marL="0" marR="0" marT="0" marB="0"/>
                </a:tc>
                <a:tc>
                  <a:txBody>
                    <a:bodyPr/>
                    <a:lstStyle/>
                    <a:p>
                      <a:endParaRPr sz="1900"/>
                    </a:p>
                  </a:txBody>
                  <a:tcPr marL="0" marR="0" marT="0" marB="0"/>
                </a:tc>
                <a:extLst>
                  <a:ext uri="{0D108BD9-81ED-4DB2-BD59-A6C34878D82A}">
                    <a16:rowId xmlns:a16="http://schemas.microsoft.com/office/drawing/2014/main" val="10007"/>
                  </a:ext>
                </a:extLst>
              </a:tr>
              <a:tr h="131064">
                <a:tc>
                  <a:txBody>
                    <a:bodyPr/>
                    <a:lstStyle/>
                    <a:p>
                      <a:pPr marL="0" marR="0" indent="355600"/>
                      <a:r>
                        <a:rPr lang="en-US" sz="750">
                          <a:latin typeface="Arial"/>
                        </a:rPr>
                        <a:t>Contribution Margin</a:t>
                      </a:r>
                    </a:p>
                  </a:txBody>
                  <a:tcPr marL="0" marR="0" marT="0" marB="0" anchor="b">
                    <a:solidFill>
                      <a:srgbClr val="FEFB99"/>
                    </a:solidFill>
                  </a:tcPr>
                </a:tc>
                <a:tc>
                  <a:txBody>
                    <a:bodyPr/>
                    <a:lstStyle/>
                    <a:p>
                      <a:pPr marL="0" marR="0" indent="190500" algn="just"/>
                      <a:r>
                        <a:rPr lang="en-US" sz="750">
                          <a:solidFill>
                            <a:srgbClr val="403C3D"/>
                          </a:solidFill>
                          <a:latin typeface="Arial"/>
                        </a:rPr>
                        <a:t>110,3S6</a:t>
                      </a:r>
                    </a:p>
                  </a:txBody>
                  <a:tcPr marL="0" marR="0" marT="0" marB="0" anchor="b"/>
                </a:tc>
                <a:tc>
                  <a:txBody>
                    <a:bodyPr/>
                    <a:lstStyle/>
                    <a:p>
                      <a:pPr marL="0" marR="0" indent="0" algn="r"/>
                      <a:r>
                        <a:rPr lang="en-US" sz="750">
                          <a:solidFill>
                            <a:srgbClr val="403C3D"/>
                          </a:solidFill>
                          <a:latin typeface="Arial"/>
                        </a:rPr>
                        <a:t>147,555</a:t>
                      </a:r>
                    </a:p>
                  </a:txBody>
                  <a:tcPr marL="0" marR="0" marT="0" marB="0" anchor="b"/>
                </a:tc>
                <a:tc>
                  <a:txBody>
                    <a:bodyPr/>
                    <a:lstStyle/>
                    <a:p>
                      <a:endParaRPr sz="700"/>
                    </a:p>
                  </a:txBody>
                  <a:tcPr marL="0" marR="0" marT="0" marB="0"/>
                </a:tc>
                <a:tc>
                  <a:txBody>
                    <a:bodyPr/>
                    <a:lstStyle/>
                    <a:p>
                      <a:pPr marL="0" marR="0" indent="228600"/>
                      <a:r>
                        <a:rPr lang="en-US" sz="1400">
                          <a:latin typeface="Arial"/>
                        </a:rPr>
                        <a:t>AND</a:t>
                      </a:r>
                    </a:p>
                  </a:txBody>
                  <a:tcPr marL="0" marR="0" marT="0" marB="0" anchor="b"/>
                </a:tc>
                <a:tc>
                  <a:txBody>
                    <a:bodyPr/>
                    <a:lstStyle/>
                    <a:p>
                      <a:pPr marL="0" marR="0" indent="0" algn="just"/>
                      <a:r>
                        <a:rPr lang="en-US" sz="750">
                          <a:solidFill>
                            <a:srgbClr val="403C3D"/>
                          </a:solidFill>
                          <a:latin typeface="Arial"/>
                        </a:rPr>
                        <a:t>:6,287</a:t>
                      </a:r>
                    </a:p>
                  </a:txBody>
                  <a:tcPr marL="0" marR="0" marT="0" marB="0" anchor="b"/>
                </a:tc>
                <a:tc>
                  <a:txBody>
                    <a:bodyPr/>
                    <a:lstStyle/>
                    <a:p>
                      <a:pPr marL="0" marR="0" indent="0" algn="r"/>
                      <a:r>
                        <a:rPr lang="en-US" sz="750">
                          <a:solidFill>
                            <a:srgbClr val="403C3D"/>
                          </a:solidFill>
                          <a:latin typeface="Arial"/>
                        </a:rPr>
                        <a:t>172,433</a:t>
                      </a:r>
                    </a:p>
                  </a:txBody>
                  <a:tcPr marL="0" marR="0" marT="0" marB="0" anchor="b"/>
                </a:tc>
                <a:tc>
                  <a:txBody>
                    <a:bodyPr/>
                    <a:lstStyle/>
                    <a:p>
                      <a:endParaRPr sz="700"/>
                    </a:p>
                  </a:txBody>
                  <a:tcPr marL="0" marR="0" marT="0" marB="0"/>
                </a:tc>
                <a:extLst>
                  <a:ext uri="{0D108BD9-81ED-4DB2-BD59-A6C34878D82A}">
                    <a16:rowId xmlns:a16="http://schemas.microsoft.com/office/drawing/2014/main" val="10008"/>
                  </a:ext>
                </a:extLst>
              </a:tr>
              <a:tr h="1155192">
                <a:tc>
                  <a:txBody>
                    <a:bodyPr/>
                    <a:lstStyle/>
                    <a:p>
                      <a:pPr marL="1513400" marR="0" indent="0">
                        <a:spcAft>
                          <a:spcPts val="770"/>
                        </a:spcAft>
                      </a:pPr>
                      <a:r>
                        <a:rPr lang="ru" sz="750">
                          <a:solidFill>
                            <a:srgbClr val="221B28"/>
                          </a:solidFill>
                          <a:latin typeface="Arial"/>
                        </a:rPr>
                        <a:t>аза </a:t>
                      </a:r>
                      <a:r>
                        <a:rPr lang="en-US" sz="750">
                          <a:solidFill>
                            <a:srgbClr val="403C3D"/>
                          </a:solidFill>
                          <a:latin typeface="Arial"/>
                        </a:rPr>
                        <a:t>% </a:t>
                      </a:r>
                      <a:r>
                        <a:rPr lang="en-US" sz="750">
                          <a:solidFill>
                            <a:srgbClr val="221B28"/>
                          </a:solidFill>
                          <a:latin typeface="Arial"/>
                        </a:rPr>
                        <a:t>of sales</a:t>
                      </a:r>
                    </a:p>
                    <a:p>
                      <a:pPr marL="0" marR="0" indent="114300"/>
                      <a:r>
                        <a:rPr lang="en-US" sz="750">
                          <a:solidFill>
                            <a:srgbClr val="221B28"/>
                          </a:solidFill>
                          <a:latin typeface="Arial"/>
                        </a:rPr>
                        <a:t>Operating expenses:</a:t>
                      </a:r>
                    </a:p>
                    <a:p>
                      <a:pPr marL="0" marR="0" indent="152400"/>
                      <a:r>
                        <a:rPr lang="en-US" sz="750">
                          <a:solidFill>
                            <a:srgbClr val="403C3D"/>
                          </a:solidFill>
                          <a:latin typeface="Arial"/>
                        </a:rPr>
                        <a:t>Facilities</a:t>
                      </a:r>
                    </a:p>
                    <a:p>
                      <a:pPr marL="0" marR="0" indent="152400"/>
                      <a:r>
                        <a:rPr lang="en-US" sz="750">
                          <a:solidFill>
                            <a:srgbClr val="403C3D"/>
                          </a:solidFill>
                          <a:latin typeface="Arial"/>
                        </a:rPr>
                        <a:t>Marketing</a:t>
                      </a:r>
                    </a:p>
                    <a:p>
                      <a:pPr marL="0" marR="0" indent="152400"/>
                      <a:r>
                        <a:rPr lang="en-US" sz="750">
                          <a:solidFill>
                            <a:srgbClr val="403C3D"/>
                          </a:solidFill>
                          <a:latin typeface="Arial"/>
                        </a:rPr>
                        <a:t>Management </a:t>
                      </a:r>
                      <a:r>
                        <a:rPr lang="en-US" sz="750">
                          <a:solidFill>
                            <a:srgbClr val="221B28"/>
                          </a:solidFill>
                          <a:latin typeface="Arial"/>
                        </a:rPr>
                        <a:t>Labar</a:t>
                      </a:r>
                    </a:p>
                    <a:p>
                      <a:pPr marL="0" marR="0" indent="152400"/>
                      <a:r>
                        <a:rPr lang="en-US" sz="750">
                          <a:solidFill>
                            <a:srgbClr val="403C3D"/>
                          </a:solidFill>
                          <a:latin typeface="Arial"/>
                        </a:rPr>
                        <a:t>Payroll </a:t>
                      </a:r>
                      <a:r>
                        <a:rPr lang="en-US" sz="750">
                          <a:solidFill>
                            <a:srgbClr val="221B28"/>
                          </a:solidFill>
                          <a:latin typeface="Arial"/>
                        </a:rPr>
                        <a:t>Tax </a:t>
                      </a:r>
                      <a:r>
                        <a:rPr lang="en-US" sz="750">
                          <a:solidFill>
                            <a:srgbClr val="403C3D"/>
                          </a:solidFill>
                          <a:latin typeface="Arial"/>
                        </a:rPr>
                        <a:t>and Benefit</a:t>
                      </a:r>
                    </a:p>
                    <a:p>
                      <a:pPr marL="0" marR="0" indent="152400"/>
                      <a:r>
                        <a:rPr lang="en-US" sz="750">
                          <a:solidFill>
                            <a:srgbClr val="221B28"/>
                          </a:solidFill>
                          <a:latin typeface="Arial"/>
                        </a:rPr>
                        <a:t>Other </a:t>
                      </a:r>
                      <a:r>
                        <a:rPr lang="en-US" sz="750">
                          <a:solidFill>
                            <a:srgbClr val="403C3D"/>
                          </a:solidFill>
                          <a:latin typeface="Arial"/>
                        </a:rPr>
                        <a:t>Operating </a:t>
                      </a:r>
                      <a:r>
                        <a:rPr lang="en-US" sz="750">
                          <a:solidFill>
                            <a:srgbClr val="221B28"/>
                          </a:solidFill>
                          <a:latin typeface="Arial"/>
                        </a:rPr>
                        <a:t>Expense</a:t>
                      </a:r>
                    </a:p>
                  </a:txBody>
                  <a:tcPr marL="0" marR="0" marT="0" marB="0">
                    <a:solidFill>
                      <a:srgbClr val="FEFB99"/>
                    </a:solidFill>
                  </a:tcPr>
                </a:tc>
                <a:tc>
                  <a:txBody>
                    <a:bodyPr/>
                    <a:lstStyle/>
                    <a:p>
                      <a:pPr marL="0" marR="0" indent="381000" algn="just">
                        <a:spcAft>
                          <a:spcPts val="1540"/>
                        </a:spcAft>
                      </a:pPr>
                      <a:r>
                        <a:rPr lang="en-US" sz="750">
                          <a:solidFill>
                            <a:srgbClr val="403C3D"/>
                          </a:solidFill>
                          <a:latin typeface="Arial"/>
                        </a:rPr>
                        <a:t>52%</a:t>
                      </a:r>
                    </a:p>
                    <a:p>
                      <a:pPr marL="0" marR="0" indent="254000" algn="just"/>
                      <a:r>
                        <a:rPr lang="en-US" sz="750">
                          <a:solidFill>
                            <a:srgbClr val="403C3D"/>
                          </a:solidFill>
                          <a:latin typeface="Arial"/>
                        </a:rPr>
                        <a:t>17,150</a:t>
                      </a:r>
                    </a:p>
                    <a:p>
                      <a:pPr marL="0" marR="0" indent="0" algn="r"/>
                      <a:r>
                        <a:rPr lang="en-US" sz="750">
                          <a:solidFill>
                            <a:srgbClr val="403C3D"/>
                          </a:solidFill>
                          <a:latin typeface="Arial"/>
                        </a:rPr>
                        <a:t>0,044</a:t>
                      </a:r>
                    </a:p>
                    <a:p>
                      <a:pPr marL="0" marR="0" indent="254000" algn="just"/>
                      <a:r>
                        <a:rPr lang="en-US" sz="750">
                          <a:solidFill>
                            <a:srgbClr val="403C3D"/>
                          </a:solidFill>
                          <a:latin typeface="Arial"/>
                        </a:rPr>
                        <a:t>37,650</a:t>
                      </a:r>
                    </a:p>
                    <a:p>
                      <a:pPr marL="0" marR="0" indent="254000" algn="just"/>
                      <a:r>
                        <a:rPr lang="en-US" sz="750">
                          <a:solidFill>
                            <a:srgbClr val="403C3D"/>
                          </a:solidFill>
                          <a:latin typeface="Arial"/>
                        </a:rPr>
                        <a:t>25,932</a:t>
                      </a:r>
                    </a:p>
                    <a:p>
                      <a:pPr marL="0" marR="0" indent="254000" algn="just"/>
                      <a:r>
                        <a:rPr lang="en-US" sz="750">
                          <a:solidFill>
                            <a:srgbClr val="403C3D"/>
                          </a:solidFill>
                          <a:latin typeface="Arial"/>
                        </a:rPr>
                        <a:t>41,394</a:t>
                      </a:r>
                    </a:p>
                  </a:txBody>
                  <a:tcPr marL="0" marR="0" marT="0" marB="0"/>
                </a:tc>
                <a:tc>
                  <a:txBody>
                    <a:bodyPr/>
                    <a:lstStyle/>
                    <a:p>
                      <a:pPr marL="0" marR="0" indent="0" algn="r">
                        <a:lnSpc>
                          <a:spcPct val="115000"/>
                        </a:lnSpc>
                        <a:spcAft>
                          <a:spcPts val="1400"/>
                        </a:spcAft>
                      </a:pPr>
                      <a:r>
                        <a:rPr lang="en-US" sz="750">
                          <a:solidFill>
                            <a:srgbClr val="403C3D"/>
                          </a:solidFill>
                          <a:latin typeface="Arial"/>
                        </a:rPr>
                        <a:t>55%</a:t>
                      </a:r>
                    </a:p>
                    <a:p>
                      <a:pPr marL="218000" marR="0" indent="0" algn="just">
                        <a:lnSpc>
                          <a:spcPct val="115000"/>
                        </a:lnSpc>
                      </a:pPr>
                      <a:r>
                        <a:rPr lang="en-US" sz="750">
                          <a:solidFill>
                            <a:srgbClr val="403C3D"/>
                          </a:solidFill>
                          <a:latin typeface="Arial"/>
                        </a:rPr>
                        <a:t>IB, 544 13,300 37,650 26,975 26,995</a:t>
                      </a:r>
                    </a:p>
                  </a:txBody>
                  <a:tcPr marL="0" marR="0" marT="0" marB="0"/>
                </a:tc>
                <a:tc>
                  <a:txBody>
                    <a:bodyPr/>
                    <a:lstStyle/>
                    <a:p>
                      <a:endParaRPr sz="5500"/>
                    </a:p>
                  </a:txBody>
                  <a:tcPr marL="0" marR="0" marT="0" marB="0"/>
                </a:tc>
                <a:tc>
                  <a:txBody>
                    <a:bodyPr/>
                    <a:lstStyle/>
                    <a:p>
                      <a:pPr marL="0" marR="0" indent="228600">
                        <a:lnSpc>
                          <a:spcPct val="140000"/>
                        </a:lnSpc>
                      </a:pPr>
                      <a:r>
                        <a:rPr lang="en-US" sz="950">
                          <a:latin typeface="Arial"/>
                        </a:rPr>
                        <a:t>Facilities,</a:t>
                      </a:r>
                    </a:p>
                    <a:p>
                      <a:pPr marL="0" marR="0" indent="228600">
                        <a:lnSpc>
                          <a:spcPct val="140000"/>
                        </a:lnSpc>
                      </a:pPr>
                      <a:r>
                        <a:rPr lang="en-US" sz="950">
                          <a:latin typeface="Arial"/>
                        </a:rPr>
                        <a:t>Marketing,</a:t>
                      </a:r>
                    </a:p>
                    <a:p>
                      <a:pPr marL="192600" marR="0" indent="0">
                        <a:lnSpc>
                          <a:spcPct val="140000"/>
                        </a:lnSpc>
                      </a:pPr>
                      <a:r>
                        <a:rPr lang="en-US" sz="950">
                          <a:latin typeface="Arial"/>
                        </a:rPr>
                        <a:t>Management Labor, Payroll Taxes &amp; Benefits, and Other Operating Expenses</a:t>
                      </a:r>
                    </a:p>
                  </a:txBody>
                  <a:tcPr marL="0" marR="0" marT="0" marB="0" anchor="ctr"/>
                </a:tc>
                <a:tc>
                  <a:txBody>
                    <a:bodyPr/>
                    <a:lstStyle/>
                    <a:p>
                      <a:pPr marL="0" marR="0" indent="88900">
                        <a:spcAft>
                          <a:spcPts val="1470"/>
                        </a:spcAft>
                      </a:pPr>
                      <a:r>
                        <a:rPr lang="en-US" sz="750">
                          <a:solidFill>
                            <a:srgbClr val="403C3D"/>
                          </a:solidFill>
                          <a:latin typeface="Arial"/>
                        </a:rPr>
                        <a:t>65%</a:t>
                      </a:r>
                    </a:p>
                    <a:p>
                      <a:pPr marL="0" marR="0" indent="0" algn="just"/>
                      <a:r>
                        <a:rPr lang="en-US" sz="750">
                          <a:solidFill>
                            <a:srgbClr val="403C3D"/>
                          </a:solidFill>
                          <a:latin typeface="Arial"/>
                        </a:rPr>
                        <a:t>12,917</a:t>
                      </a:r>
                    </a:p>
                    <a:p>
                      <a:pPr marL="0" marR="0" indent="0"/>
                      <a:r>
                        <a:rPr lang="en-US" sz="750">
                          <a:solidFill>
                            <a:srgbClr val="403C3D"/>
                          </a:solidFill>
                          <a:latin typeface="Arial"/>
                        </a:rPr>
                        <a:t>3,349</a:t>
                      </a:r>
                    </a:p>
                    <a:p>
                      <a:pPr marL="0" marR="0" indent="0" algn="just"/>
                      <a:r>
                        <a:rPr lang="en-US" sz="750">
                          <a:solidFill>
                            <a:srgbClr val="403C3D"/>
                          </a:solidFill>
                          <a:latin typeface="Arial"/>
                        </a:rPr>
                        <a:t>19,317</a:t>
                      </a:r>
                    </a:p>
                    <a:p>
                      <a:pPr marL="0" marR="0" indent="0" algn="just"/>
                      <a:r>
                        <a:rPr lang="en-US" sz="750">
                          <a:solidFill>
                            <a:srgbClr val="403C3D"/>
                          </a:solidFill>
                          <a:latin typeface="Arial"/>
                        </a:rPr>
                        <a:t>14,800</a:t>
                      </a:r>
                    </a:p>
                    <a:p>
                      <a:pPr marL="0" marR="0" indent="0" algn="just"/>
                      <a:r>
                        <a:rPr lang="en-US" sz="750">
                          <a:solidFill>
                            <a:srgbClr val="403C3D"/>
                          </a:solidFill>
                          <a:latin typeface="Arial"/>
                        </a:rPr>
                        <a:t>■1,794</a:t>
                      </a:r>
                    </a:p>
                  </a:txBody>
                  <a:tcPr marL="0" marR="0" marT="0" marB="0"/>
                </a:tc>
                <a:tc>
                  <a:txBody>
                    <a:bodyPr/>
                    <a:lstStyle/>
                    <a:p>
                      <a:pPr marL="0" marR="0" indent="0" algn="r">
                        <a:spcAft>
                          <a:spcPts val="1540"/>
                        </a:spcAft>
                      </a:pPr>
                      <a:r>
                        <a:rPr lang="en-US" sz="750">
                          <a:solidFill>
                            <a:srgbClr val="403C3D"/>
                          </a:solidFill>
                          <a:latin typeface="Arial"/>
                        </a:rPr>
                        <a:t>61%</a:t>
                      </a:r>
                    </a:p>
                    <a:p>
                      <a:pPr marL="0" marR="0" indent="0" algn="r"/>
                      <a:r>
                        <a:rPr lang="en-US" sz="750">
                          <a:solidFill>
                            <a:srgbClr val="403C3D"/>
                          </a:solidFill>
                          <a:latin typeface="Arial"/>
                        </a:rPr>
                        <a:t>22,642</a:t>
                      </a:r>
                    </a:p>
                    <a:p>
                      <a:pPr marL="0" marR="0" indent="0" algn="r"/>
                      <a:r>
                        <a:rPr lang="en-US" sz="750">
                          <a:solidFill>
                            <a:srgbClr val="403C3D"/>
                          </a:solidFill>
                          <a:latin typeface="Arial"/>
                        </a:rPr>
                        <a:t>9,452</a:t>
                      </a:r>
                    </a:p>
                    <a:p>
                      <a:pPr marL="0" marR="0" indent="0" algn="r"/>
                      <a:r>
                        <a:rPr lang="en-US" sz="750">
                          <a:solidFill>
                            <a:srgbClr val="403C3D"/>
                          </a:solidFill>
                          <a:latin typeface="Arial"/>
                        </a:rPr>
                        <a:t>38,250</a:t>
                      </a:r>
                    </a:p>
                    <a:p>
                      <a:pPr marL="0" marR="0" indent="0" algn="r"/>
                      <a:r>
                        <a:rPr lang="en-US" sz="750">
                          <a:solidFill>
                            <a:srgbClr val="403C3D"/>
                          </a:solidFill>
                          <a:latin typeface="Arial"/>
                        </a:rPr>
                        <a:t>27,121</a:t>
                      </a:r>
                    </a:p>
                    <a:p>
                      <a:pPr marL="0" marR="0" indent="0" algn="r"/>
                      <a:r>
                        <a:rPr lang="en-US" sz="750">
                          <a:solidFill>
                            <a:srgbClr val="403C3D"/>
                          </a:solidFill>
                          <a:latin typeface="Arial"/>
                        </a:rPr>
                        <a:t>39,876</a:t>
                      </a:r>
                    </a:p>
                  </a:txBody>
                  <a:tcPr marL="0" marR="0" marT="0" marB="0"/>
                </a:tc>
                <a:tc>
                  <a:txBody>
                    <a:bodyPr/>
                    <a:lstStyle/>
                    <a:p>
                      <a:endParaRPr sz="5500"/>
                    </a:p>
                  </a:txBody>
                  <a:tcPr marL="0" marR="0" marT="0" marB="0"/>
                </a:tc>
                <a:extLst>
                  <a:ext uri="{0D108BD9-81ED-4DB2-BD59-A6C34878D82A}">
                    <a16:rowId xmlns:a16="http://schemas.microsoft.com/office/drawing/2014/main" val="10009"/>
                  </a:ext>
                </a:extLst>
              </a:tr>
              <a:tr h="374904">
                <a:tc rowSpan="2">
                  <a:txBody>
                    <a:bodyPr/>
                    <a:lstStyle/>
                    <a:p>
                      <a:pPr marL="0" marR="0" indent="228600"/>
                      <a:r>
                        <a:rPr lang="en-US" sz="800" b="1">
                          <a:solidFill>
                            <a:srgbClr val="221B28"/>
                          </a:solidFill>
                          <a:latin typeface="Arial"/>
                        </a:rPr>
                        <a:t>Total operating expenses</a:t>
                      </a:r>
                    </a:p>
                    <a:p>
                      <a:pPr marL="0" marR="0" indent="0" algn="r"/>
                      <a:r>
                        <a:rPr lang="en-US" sz="750" i="1">
                          <a:solidFill>
                            <a:srgbClr val="403C3D"/>
                          </a:solidFill>
                          <a:latin typeface="Arial"/>
                        </a:rPr>
                        <a:t>OpEx</a:t>
                      </a:r>
                      <a:r>
                        <a:rPr lang="en-US" sz="750">
                          <a:solidFill>
                            <a:srgbClr val="403C3D"/>
                          </a:solidFill>
                          <a:latin typeface="Arial"/>
                        </a:rPr>
                        <a:t> </a:t>
                      </a:r>
                      <a:r>
                        <a:rPr lang="en-US" sz="750">
                          <a:solidFill>
                            <a:srgbClr val="221B28"/>
                          </a:solidFill>
                          <a:latin typeface="Arial"/>
                        </a:rPr>
                        <a:t>as </a:t>
                      </a:r>
                      <a:r>
                        <a:rPr lang="en-US" sz="750">
                          <a:solidFill>
                            <a:srgbClr val="5E5650"/>
                          </a:solidFill>
                          <a:latin typeface="Arial"/>
                        </a:rPr>
                        <a:t>% </a:t>
                      </a:r>
                      <a:r>
                        <a:rPr lang="en-US" sz="750" i="1">
                          <a:solidFill>
                            <a:srgbClr val="403C3D"/>
                          </a:solidFill>
                          <a:latin typeface="Arial"/>
                        </a:rPr>
                        <a:t>of </a:t>
                      </a:r>
                      <a:r>
                        <a:rPr lang="en-US" sz="750" i="1">
                          <a:solidFill>
                            <a:srgbClr val="221B28"/>
                          </a:solidFill>
                          <a:latin typeface="Arial"/>
                        </a:rPr>
                        <a:t>Sales</a:t>
                      </a:r>
                    </a:p>
                    <a:p>
                      <a:pPr marL="0" marR="0" indent="0" algn="r"/>
                      <a:r>
                        <a:rPr lang="en-US" sz="750" i="1">
                          <a:solidFill>
                            <a:srgbClr val="221B28"/>
                          </a:solidFill>
                          <a:latin typeface="Arial"/>
                        </a:rPr>
                        <a:t>Management LER</a:t>
                      </a:r>
                    </a:p>
                  </a:txBody>
                  <a:tcPr marL="0" marR="0" marT="0" marB="0">
                    <a:solidFill>
                      <a:srgbClr val="FEFB99"/>
                    </a:solidFill>
                  </a:tcPr>
                </a:tc>
                <a:tc>
                  <a:txBody>
                    <a:bodyPr/>
                    <a:lstStyle/>
                    <a:p>
                      <a:pPr marL="129100" marR="0" indent="0" algn="r">
                        <a:lnSpc>
                          <a:spcPct val="115000"/>
                        </a:lnSpc>
                      </a:pPr>
                      <a:r>
                        <a:rPr lang="en-US" sz="750">
                          <a:solidFill>
                            <a:srgbClr val="403C3D"/>
                          </a:solidFill>
                          <a:latin typeface="Arial"/>
                        </a:rPr>
                        <a:t>130,171 57% </a:t>
                      </a:r>
                      <a:r>
                        <a:rPr lang="en-US" sz="750" i="1">
                          <a:solidFill>
                            <a:srgbClr val="403C3D"/>
                          </a:solidFill>
                          <a:latin typeface="Arial"/>
                        </a:rPr>
                        <a:t>3.14</a:t>
                      </a:r>
                    </a:p>
                  </a:txBody>
                  <a:tcPr marL="0" marR="0" marT="0" marB="0" anchor="b"/>
                </a:tc>
                <a:tc>
                  <a:txBody>
                    <a:bodyPr/>
                    <a:lstStyle/>
                    <a:p>
                      <a:pPr marL="141800" marR="0" indent="0" algn="r">
                        <a:lnSpc>
                          <a:spcPct val="118000"/>
                        </a:lnSpc>
                      </a:pPr>
                      <a:r>
                        <a:rPr lang="en-US" sz="750">
                          <a:solidFill>
                            <a:srgbClr val="403C3D"/>
                          </a:solidFill>
                          <a:latin typeface="Arial"/>
                        </a:rPr>
                        <a:t>123,471 46% </a:t>
                      </a:r>
                      <a:r>
                        <a:rPr lang="en-US" sz="750" i="1">
                          <a:solidFill>
                            <a:srgbClr val="403C3D"/>
                          </a:solidFill>
                          <a:latin typeface="Arial"/>
                        </a:rPr>
                        <a:t>3.92</a:t>
                      </a:r>
                    </a:p>
                  </a:txBody>
                  <a:tcPr marL="0" marR="0" marT="0" marB="0" anchor="b"/>
                </a:tc>
                <a:tc>
                  <a:txBody>
                    <a:bodyPr/>
                    <a:lstStyle/>
                    <a:p>
                      <a:endParaRPr sz="1800"/>
                    </a:p>
                  </a:txBody>
                  <a:tcPr marL="0" marR="0" marT="0" marB="0"/>
                </a:tc>
                <a:tc>
                  <a:txBody>
                    <a:bodyPr/>
                    <a:lstStyle/>
                    <a:p>
                      <a:endParaRPr sz="1800"/>
                    </a:p>
                  </a:txBody>
                  <a:tcPr marL="0" marR="0" marT="0" marB="0"/>
                </a:tc>
                <a:tc>
                  <a:txBody>
                    <a:bodyPr/>
                    <a:lstStyle/>
                    <a:p>
                      <a:pPr marL="52900" marR="0" indent="-88900">
                        <a:lnSpc>
                          <a:spcPct val="115000"/>
                        </a:lnSpc>
                      </a:pPr>
                      <a:r>
                        <a:rPr lang="en-US" sz="750">
                          <a:solidFill>
                            <a:srgbClr val="403C3D"/>
                          </a:solidFill>
                          <a:latin typeface="Arial"/>
                        </a:rPr>
                        <a:t>52,677 </a:t>
                      </a:r>
                      <a:r>
                        <a:rPr lang="en-US" sz="750" i="1">
                          <a:solidFill>
                            <a:srgbClr val="403C3D"/>
                          </a:solidFill>
                          <a:latin typeface="Arial"/>
                        </a:rPr>
                        <a:t>42%</a:t>
                      </a:r>
                    </a:p>
                    <a:p>
                      <a:pPr marL="0" marR="0" indent="0" algn="r">
                        <a:lnSpc>
                          <a:spcPct val="115000"/>
                        </a:lnSpc>
                      </a:pPr>
                      <a:r>
                        <a:rPr lang="en-US" sz="750" i="1">
                          <a:solidFill>
                            <a:srgbClr val="403C3D"/>
                          </a:solidFill>
                          <a:latin typeface="Arial"/>
                        </a:rPr>
                        <a:t>6.01</a:t>
                      </a:r>
                    </a:p>
                  </a:txBody>
                  <a:tcPr marL="0" marR="0" marT="0" marB="0" anchor="b"/>
                </a:tc>
                <a:tc>
                  <a:txBody>
                    <a:bodyPr/>
                    <a:lstStyle/>
                    <a:p>
                      <a:pPr marL="0" marR="0" indent="0" algn="r"/>
                      <a:r>
                        <a:rPr lang="en-US" sz="750">
                          <a:solidFill>
                            <a:srgbClr val="403C3D"/>
                          </a:solidFill>
                          <a:latin typeface="Arial"/>
                        </a:rPr>
                        <a:t>137,341</a:t>
                      </a:r>
                    </a:p>
                    <a:p>
                      <a:pPr marL="0" marR="0" indent="0" algn="r"/>
                      <a:r>
                        <a:rPr lang="en-US" sz="750">
                          <a:solidFill>
                            <a:srgbClr val="403C3D"/>
                          </a:solidFill>
                          <a:latin typeface="Arial"/>
                        </a:rPr>
                        <a:t>48%</a:t>
                      </a:r>
                    </a:p>
                    <a:p>
                      <a:pPr marL="0" marR="0" indent="0" algn="r"/>
                      <a:r>
                        <a:rPr lang="en-US" sz="750" i="1">
                          <a:solidFill>
                            <a:srgbClr val="403C3D"/>
                          </a:solidFill>
                          <a:latin typeface="Arial"/>
                        </a:rPr>
                        <a:t>4.51</a:t>
                      </a:r>
                    </a:p>
                  </a:txBody>
                  <a:tcPr marL="0" marR="0" marT="0" marB="0" anchor="b"/>
                </a:tc>
                <a:tc>
                  <a:txBody>
                    <a:bodyPr/>
                    <a:lstStyle/>
                    <a:p>
                      <a:pPr marL="0" marR="0" indent="190500"/>
                      <a:r>
                        <a:rPr lang="en-US" sz="750">
                          <a:solidFill>
                            <a:srgbClr val="221B28"/>
                          </a:solidFill>
                          <a:latin typeface="Arial"/>
                        </a:rPr>
                        <a:t>1</a:t>
                      </a:r>
                    </a:p>
                  </a:txBody>
                  <a:tcPr marL="0" marR="0" marT="0" marB="0"/>
                </a:tc>
                <a:extLst>
                  <a:ext uri="{0D108BD9-81ED-4DB2-BD59-A6C34878D82A}">
                    <a16:rowId xmlns:a16="http://schemas.microsoft.com/office/drawing/2014/main" val="10010"/>
                  </a:ext>
                </a:extLst>
              </a:tr>
              <a:tr h="134112">
                <a:tc vMerge="1">
                  <a:txBody>
                    <a:bodyPr/>
                    <a:lstStyle/>
                    <a:p>
                      <a:endParaRPr sz="700"/>
                    </a:p>
                  </a:txBody>
                  <a:tcPr marL="0" marR="0" marT="0" marB="0"/>
                </a:tc>
                <a:tc>
                  <a:txBody>
                    <a:bodyPr/>
                    <a:lstStyle/>
                    <a:p>
                      <a:endParaRPr sz="700"/>
                    </a:p>
                  </a:txBody>
                  <a:tcPr marL="0" marR="0" marT="0" marB="0"/>
                </a:tc>
                <a:tc>
                  <a:txBody>
                    <a:bodyPr/>
                    <a:lstStyle/>
                    <a:p>
                      <a:endParaRPr sz="700"/>
                    </a:p>
                  </a:txBody>
                  <a:tcPr marL="0" marR="0" marT="0" marB="0"/>
                </a:tc>
                <a:tc>
                  <a:txBody>
                    <a:bodyPr/>
                    <a:lstStyle/>
                    <a:p>
                      <a:endParaRPr sz="700"/>
                    </a:p>
                  </a:txBody>
                  <a:tcPr marL="0" marR="0" marT="0" marB="0"/>
                </a:tc>
                <a:tc>
                  <a:txBody>
                    <a:bodyPr/>
                    <a:lstStyle/>
                    <a:p>
                      <a:endParaRPr sz="700"/>
                    </a:p>
                  </a:txBody>
                  <a:tcPr marL="0" marR="0" marT="0" marB="0"/>
                </a:tc>
                <a:tc>
                  <a:txBody>
                    <a:bodyPr/>
                    <a:lstStyle/>
                    <a:p>
                      <a:endParaRPr sz="700"/>
                    </a:p>
                  </a:txBody>
                  <a:tcPr marL="0" marR="0" marT="0" marB="0"/>
                </a:tc>
                <a:tc>
                  <a:txBody>
                    <a:bodyPr/>
                    <a:lstStyle/>
                    <a:p>
                      <a:endParaRPr sz="700"/>
                    </a:p>
                  </a:txBody>
                  <a:tcPr marL="0" marR="0" marT="0" marB="0"/>
                </a:tc>
                <a:tc>
                  <a:txBody>
                    <a:bodyPr/>
                    <a:lstStyle/>
                    <a:p>
                      <a:endParaRPr sz="700"/>
                    </a:p>
                  </a:txBody>
                  <a:tcPr marL="0" marR="0" marT="0" marB="0"/>
                </a:tc>
                <a:extLst>
                  <a:ext uri="{0D108BD9-81ED-4DB2-BD59-A6C34878D82A}">
                    <a16:rowId xmlns:a16="http://schemas.microsoft.com/office/drawing/2014/main" val="10011"/>
                  </a:ext>
                </a:extLst>
              </a:tr>
              <a:tr h="128016">
                <a:tc>
                  <a:txBody>
                    <a:bodyPr/>
                    <a:lstStyle/>
                    <a:p>
                      <a:pPr marL="0" marR="0" indent="228600"/>
                      <a:r>
                        <a:rPr lang="en-US" sz="800" b="1">
                          <a:solidFill>
                            <a:srgbClr val="221B28"/>
                          </a:solidFill>
                          <a:latin typeface="Arial"/>
                        </a:rPr>
                        <a:t>Net operating income</a:t>
                      </a:r>
                    </a:p>
                  </a:txBody>
                  <a:tcPr marL="0" marR="0" marT="0" marB="0" anchor="b">
                    <a:solidFill>
                      <a:srgbClr val="FEFB99"/>
                    </a:solidFill>
                  </a:tcPr>
                </a:tc>
                <a:tc>
                  <a:txBody>
                    <a:bodyPr/>
                    <a:lstStyle/>
                    <a:p>
                      <a:pPr marL="0" marR="0" indent="190500" algn="just"/>
                      <a:r>
                        <a:rPr lang="en-US" sz="750">
                          <a:solidFill>
                            <a:srgbClr val="403C3D"/>
                          </a:solidFill>
                          <a:latin typeface="Arial"/>
                        </a:rPr>
                        <a:t>(11,016)</a:t>
                      </a:r>
                    </a:p>
                  </a:txBody>
                  <a:tcPr marL="0" marR="0" marT="0" marB="0" anchor="b"/>
                </a:tc>
                <a:tc>
                  <a:txBody>
                    <a:bodyPr/>
                    <a:lstStyle/>
                    <a:p>
                      <a:pPr marL="0" marR="0" indent="0" algn="r"/>
                      <a:r>
                        <a:rPr lang="en-US" sz="750">
                          <a:solidFill>
                            <a:srgbClr val="403C3D"/>
                          </a:solidFill>
                          <a:latin typeface="Arial"/>
                        </a:rPr>
                        <a:t>24,034</a:t>
                      </a:r>
                    </a:p>
                  </a:txBody>
                  <a:tcPr marL="0" marR="0" marT="0" marB="0" anchor="b"/>
                </a:tc>
                <a:tc>
                  <a:txBody>
                    <a:bodyPr/>
                    <a:lstStyle/>
                    <a:p>
                      <a:endParaRPr sz="700"/>
                    </a:p>
                  </a:txBody>
                  <a:tcPr marL="0" marR="0" marT="0" marB="0"/>
                </a:tc>
                <a:tc gridSpan="2">
                  <a:txBody>
                    <a:bodyPr/>
                    <a:lstStyle/>
                    <a:p>
                      <a:pPr marL="0" marR="0" indent="0" algn="r" defTabSz="670560">
                        <a:tabLst>
                          <a:tab pos="670560" algn="l"/>
                          <a:tab pos="1307592" algn="l"/>
                          <a:tab pos="2029968" algn="l"/>
                          <a:tab pos="2703576" algn="l"/>
                        </a:tabLst>
                      </a:pPr>
                      <a:r>
                        <a:rPr lang="en-US" sz="750">
                          <a:solidFill>
                            <a:srgbClr val="403C3D"/>
                          </a:solidFill>
                          <a:latin typeface="Arial"/>
                        </a:rPr>
                        <a:t>30,149	4S,603	(14,743)	50,042	S3,610</a:t>
                      </a:r>
                    </a:p>
                  </a:txBody>
                  <a:tcPr marL="0" marR="0" marT="0" marB="0" anchor="b"/>
                </a:tc>
                <a:tc hMerge="1">
                  <a:txBody>
                    <a:bodyPr/>
                    <a:lstStyle/>
                    <a:p>
                      <a:endParaRPr sz="700"/>
                    </a:p>
                  </a:txBody>
                  <a:tcPr marL="0" marR="0" marT="0" marB="0"/>
                </a:tc>
                <a:tc>
                  <a:txBody>
                    <a:bodyPr/>
                    <a:lstStyle/>
                    <a:p>
                      <a:pPr marL="0" marR="0" indent="0" algn="r"/>
                      <a:r>
                        <a:rPr lang="en-US" sz="750">
                          <a:solidFill>
                            <a:srgbClr val="403C3D"/>
                          </a:solidFill>
                          <a:latin typeface="Arial"/>
                        </a:rPr>
                        <a:t>35,092</a:t>
                      </a:r>
                    </a:p>
                  </a:txBody>
                  <a:tcPr marL="0" marR="0" marT="0" marB="0" anchor="b"/>
                </a:tc>
                <a:tc>
                  <a:txBody>
                    <a:bodyPr/>
                    <a:lstStyle/>
                    <a:p>
                      <a:pPr marL="0" marR="0" indent="190500"/>
                      <a:r>
                        <a:rPr lang="en-US" sz="750">
                          <a:solidFill>
                            <a:srgbClr val="888487"/>
                          </a:solidFill>
                          <a:latin typeface="Arial"/>
                        </a:rPr>
                        <a:t>1</a:t>
                      </a:r>
                    </a:p>
                  </a:txBody>
                  <a:tcPr marL="0" marR="0" marT="0" marB="0" anchor="b"/>
                </a:tc>
                <a:extLst>
                  <a:ext uri="{0D108BD9-81ED-4DB2-BD59-A6C34878D82A}">
                    <a16:rowId xmlns:a16="http://schemas.microsoft.com/office/drawing/2014/main" val="10012"/>
                  </a:ext>
                </a:extLst>
              </a:tr>
              <a:tr h="137160">
                <a:tc>
                  <a:txBody>
                    <a:bodyPr/>
                    <a:lstStyle/>
                    <a:p>
                      <a:pPr marL="1335600" marR="0" indent="0"/>
                      <a:r>
                        <a:rPr lang="en-US" sz="750" i="1">
                          <a:solidFill>
                            <a:srgbClr val="403C3D"/>
                          </a:solidFill>
                          <a:latin typeface="Arial"/>
                        </a:rPr>
                        <a:t>NO!</a:t>
                      </a:r>
                      <a:r>
                        <a:rPr lang="en-US" sz="750">
                          <a:solidFill>
                            <a:srgbClr val="403C3D"/>
                          </a:solidFill>
                          <a:latin typeface="Arial"/>
                        </a:rPr>
                        <a:t> as </a:t>
                      </a:r>
                      <a:r>
                        <a:rPr lang="en-US" sz="750">
                          <a:solidFill>
                            <a:srgbClr val="5E5650"/>
                          </a:solidFill>
                          <a:latin typeface="Arial"/>
                        </a:rPr>
                        <a:t>% </a:t>
                      </a:r>
                      <a:r>
                        <a:rPr lang="en-US" sz="750">
                          <a:solidFill>
                            <a:srgbClr val="403C3D"/>
                          </a:solidFill>
                          <a:latin typeface="Arial"/>
                        </a:rPr>
                        <a:t>to Saies</a:t>
                      </a:r>
                    </a:p>
                  </a:txBody>
                  <a:tcPr marL="0" marR="0" marT="0" marB="0">
                    <a:solidFill>
                      <a:srgbClr val="FEFB99"/>
                    </a:solidFill>
                  </a:tcPr>
                </a:tc>
                <a:tc>
                  <a:txBody>
                    <a:bodyPr/>
                    <a:lstStyle/>
                    <a:p>
                      <a:pPr marL="0" marR="0" indent="419100" algn="just"/>
                      <a:r>
                        <a:rPr lang="en-US" sz="750">
                          <a:solidFill>
                            <a:srgbClr val="5E5650"/>
                          </a:solidFill>
                          <a:latin typeface="Arial"/>
                        </a:rPr>
                        <a:t>-5%</a:t>
                      </a:r>
                    </a:p>
                  </a:txBody>
                  <a:tcPr marL="0" marR="0" marT="0" marB="0"/>
                </a:tc>
                <a:tc>
                  <a:txBody>
                    <a:bodyPr/>
                    <a:lstStyle/>
                    <a:p>
                      <a:pPr marL="0" marR="0" indent="0" algn="r"/>
                      <a:r>
                        <a:rPr lang="en-US" sz="750">
                          <a:solidFill>
                            <a:srgbClr val="5E5650"/>
                          </a:solidFill>
                          <a:latin typeface="Arial"/>
                        </a:rPr>
                        <a:t>9%</a:t>
                      </a:r>
                    </a:p>
                  </a:txBody>
                  <a:tcPr marL="0" marR="0" marT="0" marB="0"/>
                </a:tc>
                <a:tc>
                  <a:txBody>
                    <a:bodyPr/>
                    <a:lstStyle/>
                    <a:p>
                      <a:endParaRPr sz="700"/>
                    </a:p>
                  </a:txBody>
                  <a:tcPr marL="0" marR="0" marT="0" marB="0"/>
                </a:tc>
                <a:tc>
                  <a:txBody>
                    <a:bodyPr/>
                    <a:lstStyle/>
                    <a:p>
                      <a:pPr marL="0" marR="0" indent="304800" defTabSz="670560">
                        <a:tabLst>
                          <a:tab pos="670560" algn="l"/>
                          <a:tab pos="1362456" algn="l"/>
                          <a:tab pos="2020824" algn="l"/>
                        </a:tabLst>
                      </a:pPr>
                      <a:r>
                        <a:rPr lang="en-US" sz="750">
                          <a:solidFill>
                            <a:srgbClr val="5E5650"/>
                          </a:solidFill>
                          <a:latin typeface="Arial"/>
                        </a:rPr>
                        <a:t>12%	16%	-6%	16%</a:t>
                      </a:r>
                    </a:p>
                  </a:txBody>
                  <a:tcPr marL="0" marR="0" marT="0" marB="0"/>
                </a:tc>
                <a:tc>
                  <a:txBody>
                    <a:bodyPr/>
                    <a:lstStyle/>
                    <a:p>
                      <a:pPr marL="0" marR="0" indent="88900"/>
                      <a:r>
                        <a:rPr lang="en-US" sz="950" i="1">
                          <a:solidFill>
                            <a:srgbClr val="403C3D"/>
                          </a:solidFill>
                          <a:latin typeface="Times New Roman"/>
                        </a:rPr>
                        <a:t>23%</a:t>
                      </a:r>
                    </a:p>
                  </a:txBody>
                  <a:tcPr marL="0" marR="0" marT="0" marB="0"/>
                </a:tc>
                <a:tc>
                  <a:txBody>
                    <a:bodyPr/>
                    <a:lstStyle/>
                    <a:p>
                      <a:pPr marL="0" marR="0" indent="0" algn="r"/>
                      <a:r>
                        <a:rPr lang="en-US" sz="750" i="1">
                          <a:solidFill>
                            <a:srgbClr val="5E5650"/>
                          </a:solidFill>
                          <a:latin typeface="Arial"/>
                        </a:rPr>
                        <a:t>12%</a:t>
                      </a:r>
                    </a:p>
                  </a:txBody>
                  <a:tcPr marL="0" marR="0" marT="0" marB="0"/>
                </a:tc>
                <a:tc>
                  <a:txBody>
                    <a:bodyPr/>
                    <a:lstStyle/>
                    <a:p>
                      <a:endParaRPr sz="700"/>
                    </a:p>
                  </a:txBody>
                  <a:tcPr marL="0" marR="0" marT="0" marB="0"/>
                </a:tc>
                <a:extLst>
                  <a:ext uri="{0D108BD9-81ED-4DB2-BD59-A6C34878D82A}">
                    <a16:rowId xmlns:a16="http://schemas.microsoft.com/office/drawing/2014/main" val="10013"/>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51688" y="411480"/>
            <a:ext cx="7129272" cy="460248"/>
          </a:xfrm>
          <a:prstGeom prst="rect">
            <a:avLst/>
          </a:prstGeom>
          <a:solidFill>
            <a:srgbClr val="FFFFFF"/>
          </a:solidFill>
        </p:spPr>
        <p:txBody>
          <a:bodyPr wrap="none" lIns="0" tIns="0" rIns="0" bIns="0">
            <a:noAutofit/>
          </a:bodyPr>
          <a:lstStyle/>
          <a:p>
            <a:pPr marL="0" marR="0" indent="0"/>
            <a:r>
              <a:rPr lang="en-US" sz="3600">
                <a:solidFill>
                  <a:srgbClr val="DC5B2B"/>
                </a:solidFill>
                <a:latin typeface="Arial"/>
              </a:rPr>
              <a:t>Step Two: </a:t>
            </a:r>
            <a:r>
              <a:rPr lang="en-US" sz="2800">
                <a:solidFill>
                  <a:srgbClr val="DC5B2B"/>
                </a:solidFill>
                <a:latin typeface="Arial"/>
              </a:rPr>
              <a:t>Input Actuals for Balance Sheet</a:t>
            </a:r>
          </a:p>
        </p:txBody>
      </p:sp>
      <p:graphicFrame>
        <p:nvGraphicFramePr>
          <p:cNvPr id="3" name="Таблица 2"/>
          <p:cNvGraphicFramePr>
            <a:graphicFrameLocks noGrp="1"/>
          </p:cNvGraphicFramePr>
          <p:nvPr/>
        </p:nvGraphicFramePr>
        <p:xfrm>
          <a:off x="637032" y="1133856"/>
          <a:ext cx="8151368" cy="4187952"/>
        </p:xfrm>
        <a:graphic>
          <a:graphicData uri="http://schemas.openxmlformats.org/drawingml/2006/table">
            <a:tbl>
              <a:tblPr/>
              <a:tblGrid>
                <a:gridCol w="208280">
                  <a:extLst>
                    <a:ext uri="{9D8B030D-6E8A-4147-A177-3AD203B41FA5}">
                      <a16:colId xmlns:a16="http://schemas.microsoft.com/office/drawing/2014/main" val="20000"/>
                    </a:ext>
                  </a:extLst>
                </a:gridCol>
                <a:gridCol w="2191512">
                  <a:extLst>
                    <a:ext uri="{9D8B030D-6E8A-4147-A177-3AD203B41FA5}">
                      <a16:colId xmlns:a16="http://schemas.microsoft.com/office/drawing/2014/main" val="20001"/>
                    </a:ext>
                  </a:extLst>
                </a:gridCol>
                <a:gridCol w="670560">
                  <a:extLst>
                    <a:ext uri="{9D8B030D-6E8A-4147-A177-3AD203B41FA5}">
                      <a16:colId xmlns:a16="http://schemas.microsoft.com/office/drawing/2014/main" val="20002"/>
                    </a:ext>
                  </a:extLst>
                </a:gridCol>
                <a:gridCol w="3474720">
                  <a:extLst>
                    <a:ext uri="{9D8B030D-6E8A-4147-A177-3AD203B41FA5}">
                      <a16:colId xmlns:a16="http://schemas.microsoft.com/office/drawing/2014/main" val="20003"/>
                    </a:ext>
                  </a:extLst>
                </a:gridCol>
                <a:gridCol w="1045464">
                  <a:extLst>
                    <a:ext uri="{9D8B030D-6E8A-4147-A177-3AD203B41FA5}">
                      <a16:colId xmlns:a16="http://schemas.microsoft.com/office/drawing/2014/main" val="20004"/>
                    </a:ext>
                  </a:extLst>
                </a:gridCol>
                <a:gridCol w="560832">
                  <a:extLst>
                    <a:ext uri="{9D8B030D-6E8A-4147-A177-3AD203B41FA5}">
                      <a16:colId xmlns:a16="http://schemas.microsoft.com/office/drawing/2014/main" val="20005"/>
                    </a:ext>
                  </a:extLst>
                </a:gridCol>
              </a:tblGrid>
              <a:tr h="481584">
                <a:tc rowSpan="2">
                  <a:txBody>
                    <a:bodyPr/>
                    <a:lstStyle/>
                    <a:p>
                      <a:endParaRPr sz="2300"/>
                    </a:p>
                  </a:txBody>
                  <a:tcPr marL="0" marR="0" marT="0" marB="0">
                    <a:solidFill>
                      <a:srgbClr val="E8EFE2"/>
                    </a:solidFill>
                  </a:tcPr>
                </a:tc>
                <a:tc>
                  <a:txBody>
                    <a:bodyPr/>
                    <a:lstStyle/>
                    <a:p>
                      <a:pPr marL="0" marR="0" indent="0">
                        <a:lnSpc>
                          <a:spcPct val="88000"/>
                        </a:lnSpc>
                        <a:spcAft>
                          <a:spcPts val="140"/>
                        </a:spcAft>
                      </a:pPr>
                      <a:r>
                        <a:rPr lang="en-US" sz="950" b="1">
                          <a:solidFill>
                            <a:srgbClr val="221B28"/>
                          </a:solidFill>
                          <a:latin typeface="Arial"/>
                        </a:rPr>
                        <a:t>Monthly </a:t>
                      </a:r>
                      <a:r>
                        <a:rPr lang="en-US" sz="950" b="1">
                          <a:latin typeface="Arial"/>
                        </a:rPr>
                        <a:t>Template</a:t>
                      </a:r>
                    </a:p>
                    <a:p>
                      <a:pPr marL="1335600" marR="0" indent="-1371600">
                        <a:lnSpc>
                          <a:spcPct val="88000"/>
                        </a:lnSpc>
                      </a:pPr>
                      <a:r>
                        <a:rPr lang="en-US" sz="950" b="1">
                          <a:solidFill>
                            <a:srgbClr val="221B28"/>
                          </a:solidFill>
                          <a:latin typeface="Arial"/>
                        </a:rPr>
                        <a:t>Profit and Loss Y6Y change</a:t>
                      </a:r>
                    </a:p>
                  </a:txBody>
                  <a:tcPr marL="0" marR="0" marT="0" marB="0" anchor="b"/>
                </a:tc>
                <a:tc>
                  <a:txBody>
                    <a:bodyPr/>
                    <a:lstStyle/>
                    <a:p>
                      <a:endParaRPr sz="2300"/>
                    </a:p>
                  </a:txBody>
                  <a:tcPr marL="0" marR="0" marT="0" marB="0"/>
                </a:tc>
                <a:tc>
                  <a:txBody>
                    <a:bodyPr/>
                    <a:lstStyle/>
                    <a:p>
                      <a:pPr marL="0" marR="0" indent="0" algn="r"/>
                      <a:r>
                        <a:rPr lang="en-US" sz="750">
                          <a:solidFill>
                            <a:srgbClr val="403C3D"/>
                          </a:solidFill>
                          <a:latin typeface="Times New Roman"/>
                        </a:rPr>
                        <a:t>1</a:t>
                      </a:r>
                    </a:p>
                  </a:txBody>
                  <a:tcPr marL="0" marR="0" marT="0" marB="0" anchor="b"/>
                </a:tc>
                <a:tc>
                  <a:txBody>
                    <a:bodyPr/>
                    <a:lstStyle/>
                    <a:p>
                      <a:pPr marL="0" marR="0" indent="0" defTabSz="588264">
                        <a:tabLst>
                          <a:tab pos="588264" algn="l"/>
                        </a:tabLst>
                      </a:pPr>
                      <a:r>
                        <a:rPr lang="en-US" sz="750">
                          <a:solidFill>
                            <a:srgbClr val="403C3D"/>
                          </a:solidFill>
                          <a:latin typeface="Arial"/>
                        </a:rPr>
                        <a:t>446	14%</a:t>
                      </a:r>
                    </a:p>
                  </a:txBody>
                  <a:tcPr marL="0" marR="0" marT="0" marB="0" anchor="b"/>
                </a:tc>
                <a:tc>
                  <a:txBody>
                    <a:bodyPr/>
                    <a:lstStyle/>
                    <a:p>
                      <a:pPr marL="0" marR="0" indent="177800"/>
                      <a:r>
                        <a:rPr lang="en-US" sz="950" b="1">
                          <a:solidFill>
                            <a:srgbClr val="403C3D"/>
                          </a:solidFill>
                          <a:latin typeface="Arial"/>
                        </a:rPr>
                        <a:t>-424</a:t>
                      </a:r>
                    </a:p>
                  </a:txBody>
                  <a:tcPr marL="0" marR="0" marT="0" marB="0" anchor="b"/>
                </a:tc>
                <a:extLst>
                  <a:ext uri="{0D108BD9-81ED-4DB2-BD59-A6C34878D82A}">
                    <a16:rowId xmlns:a16="http://schemas.microsoft.com/office/drawing/2014/main" val="10000"/>
                  </a:ext>
                </a:extLst>
              </a:tr>
              <a:tr h="234696">
                <a:tc vMerge="1">
                  <a:txBody>
                    <a:bodyPr/>
                    <a:lstStyle/>
                    <a:p>
                      <a:endParaRPr sz="1200"/>
                    </a:p>
                  </a:txBody>
                  <a:tcPr marL="0" marR="0" marT="0" marB="0"/>
                </a:tc>
                <a:tc>
                  <a:txBody>
                    <a:bodyPr/>
                    <a:lstStyle/>
                    <a:p>
                      <a:endParaRPr sz="1200"/>
                    </a:p>
                  </a:txBody>
                  <a:tcPr marL="0" marR="0" marT="0" marB="0">
                    <a:solidFill>
                      <a:srgbClr val="FEFB99"/>
                    </a:solidFill>
                  </a:tcPr>
                </a:tc>
                <a:tc>
                  <a:txBody>
                    <a:bodyPr/>
                    <a:lstStyle/>
                    <a:p>
                      <a:pPr marL="0" marR="0" indent="0" algn="ctr">
                        <a:lnSpc>
                          <a:spcPct val="111000"/>
                        </a:lnSpc>
                      </a:pPr>
                      <a:r>
                        <a:rPr lang="en-US" sz="750">
                          <a:solidFill>
                            <a:srgbClr val="C6F1D9"/>
                          </a:solidFill>
                          <a:latin typeface="Arial"/>
                        </a:rPr>
                        <a:t>Actual 2019-07</a:t>
                      </a:r>
                    </a:p>
                  </a:txBody>
                  <a:tcPr marL="0" marR="0" marT="0" marB="0" anchor="b">
                    <a:solidFill>
                      <a:srgbClr val="01B550"/>
                    </a:solidFill>
                  </a:tcPr>
                </a:tc>
                <a:tc>
                  <a:txBody>
                    <a:bodyPr/>
                    <a:lstStyle/>
                    <a:p>
                      <a:pPr marL="0" marR="0" indent="152400" defTabSz="576072">
                        <a:tabLst>
                          <a:tab pos="576072" algn="l"/>
                          <a:tab pos="1225296" algn="l"/>
                          <a:tab pos="1871472" algn="l"/>
                          <a:tab pos="2520696" algn="l"/>
                          <a:tab pos="3169920" algn="l"/>
                        </a:tabLst>
                      </a:pPr>
                      <a:r>
                        <a:rPr lang="en-US" sz="750">
                          <a:solidFill>
                            <a:srgbClr val="C6F1D9"/>
                          </a:solidFill>
                          <a:latin typeface="Arial"/>
                        </a:rPr>
                        <a:t>Actual	Actual	Actual	Actual	Actual	</a:t>
                      </a:r>
                      <a:r>
                        <a:rPr lang="en-US" sz="750" i="1">
                          <a:solidFill>
                            <a:srgbClr val="C6F1D9"/>
                          </a:solidFill>
                          <a:latin typeface="Arial"/>
                        </a:rPr>
                        <a:t>At</a:t>
                      </a:r>
                    </a:p>
                    <a:p>
                      <a:pPr marL="0" marR="0" indent="0" algn="r" defTabSz="621792">
                        <a:tabLst>
                          <a:tab pos="621792" algn="l"/>
                          <a:tab pos="1271016" algn="l"/>
                          <a:tab pos="1917192" algn="l"/>
                          <a:tab pos="2566416" algn="l"/>
                          <a:tab pos="3215640" algn="l"/>
                        </a:tabLst>
                      </a:pPr>
                      <a:r>
                        <a:rPr lang="en-US" sz="750">
                          <a:solidFill>
                            <a:srgbClr val="C6F1D9"/>
                          </a:solidFill>
                          <a:latin typeface="Arial"/>
                        </a:rPr>
                        <a:t>2019-08	2019-09	2019-10	2019-11	2019-12	20</a:t>
                      </a:r>
                    </a:p>
                  </a:txBody>
                  <a:tcPr marL="0" marR="0" marT="0" marB="0" anchor="b">
                    <a:solidFill>
                      <a:srgbClr val="01B550"/>
                    </a:solidFill>
                  </a:tcPr>
                </a:tc>
                <a:tc>
                  <a:txBody>
                    <a:bodyPr/>
                    <a:lstStyle/>
                    <a:p>
                      <a:pPr marL="0" marR="0" indent="0" defTabSz="566928">
                        <a:tabLst>
                          <a:tab pos="566928" algn="l"/>
                        </a:tabLst>
                      </a:pPr>
                      <a:r>
                        <a:rPr lang="en-US" sz="750">
                          <a:solidFill>
                            <a:srgbClr val="C6F1D9"/>
                          </a:solidFill>
                          <a:latin typeface="Arial"/>
                        </a:rPr>
                        <a:t>ctual	Actual</a:t>
                      </a:r>
                    </a:p>
                    <a:p>
                      <a:pPr marL="0" marR="0" indent="0" defTabSz="499872">
                        <a:tabLst>
                          <a:tab pos="499872" algn="l"/>
                        </a:tabLst>
                      </a:pPr>
                      <a:r>
                        <a:rPr lang="en-US" sz="750">
                          <a:solidFill>
                            <a:srgbClr val="C6F1D9"/>
                          </a:solidFill>
                          <a:latin typeface="Arial"/>
                        </a:rPr>
                        <a:t>20-01	2020-02</a:t>
                      </a:r>
                    </a:p>
                  </a:txBody>
                  <a:tcPr marL="0" marR="0" marT="0" marB="0" anchor="b">
                    <a:solidFill>
                      <a:srgbClr val="01B550"/>
                    </a:solidFill>
                  </a:tcPr>
                </a:tc>
                <a:tc>
                  <a:txBody>
                    <a:bodyPr/>
                    <a:lstStyle/>
                    <a:p>
                      <a:pPr marL="78300" marR="0" indent="0">
                        <a:lnSpc>
                          <a:spcPct val="111000"/>
                        </a:lnSpc>
                      </a:pPr>
                      <a:r>
                        <a:rPr lang="en-US" sz="750">
                          <a:solidFill>
                            <a:srgbClr val="C6F1D9"/>
                          </a:solidFill>
                          <a:latin typeface="Arial"/>
                        </a:rPr>
                        <a:t>Fg recast 2020-03</a:t>
                      </a:r>
                    </a:p>
                  </a:txBody>
                  <a:tcPr marL="0" marR="0" marT="0" marB="0" anchor="b">
                    <a:solidFill>
                      <a:srgbClr val="01B5F8"/>
                    </a:solidFill>
                  </a:tcPr>
                </a:tc>
                <a:extLst>
                  <a:ext uri="{0D108BD9-81ED-4DB2-BD59-A6C34878D82A}">
                    <a16:rowId xmlns:a16="http://schemas.microsoft.com/office/drawing/2014/main" val="10001"/>
                  </a:ext>
                </a:extLst>
              </a:tr>
              <a:tr h="362712">
                <a:tc rowSpan="21">
                  <a:txBody>
                    <a:bodyPr/>
                    <a:lstStyle/>
                    <a:p>
                      <a:endParaRPr sz="1800"/>
                    </a:p>
                  </a:txBody>
                  <a:tcPr marL="0" marR="0" marT="0" marB="0">
                    <a:solidFill>
                      <a:srgbClr val="E8EFE2"/>
                    </a:solidFill>
                  </a:tcPr>
                </a:tc>
                <a:tc>
                  <a:txBody>
                    <a:bodyPr/>
                    <a:lstStyle/>
                    <a:p>
                      <a:pPr marL="0" marR="0" indent="0"/>
                      <a:r>
                        <a:rPr lang="en-US" sz="800" b="1">
                          <a:solidFill>
                            <a:srgbClr val="221B28"/>
                          </a:solidFill>
                          <a:latin typeface="Arial"/>
                        </a:rPr>
                        <a:t>Balance Sheet Key Drivers</a:t>
                      </a:r>
                    </a:p>
                  </a:txBody>
                  <a:tcPr marL="0" marR="0" marT="0" marB="0" anchor="b"/>
                </a:tc>
                <a:tc>
                  <a:txBody>
                    <a:bodyPr/>
                    <a:lstStyle/>
                    <a:p>
                      <a:endParaRPr sz="1800"/>
                    </a:p>
                  </a:txBody>
                  <a:tcPr marL="0" marR="0" marT="0" marB="0"/>
                </a:tc>
                <a:tc>
                  <a:txBody>
                    <a:bodyPr/>
                    <a:lstStyle/>
                    <a:p>
                      <a:endParaRPr sz="1800"/>
                    </a:p>
                  </a:txBody>
                  <a:tcPr marL="0" marR="0" marT="0" marB="0"/>
                </a:tc>
                <a:tc>
                  <a:txBody>
                    <a:bodyPr/>
                    <a:lstStyle/>
                    <a:p>
                      <a:endParaRPr sz="1800"/>
                    </a:p>
                  </a:txBody>
                  <a:tcPr marL="0" marR="0" marT="0" marB="0"/>
                </a:tc>
                <a:tc>
                  <a:txBody>
                    <a:bodyPr/>
                    <a:lstStyle/>
                    <a:p>
                      <a:endParaRPr sz="1800"/>
                    </a:p>
                  </a:txBody>
                  <a:tcPr marL="0" marR="0" marT="0" marB="0"/>
                </a:tc>
                <a:extLst>
                  <a:ext uri="{0D108BD9-81ED-4DB2-BD59-A6C34878D82A}">
                    <a16:rowId xmlns:a16="http://schemas.microsoft.com/office/drawing/2014/main" val="10002"/>
                  </a:ext>
                </a:extLst>
              </a:tr>
              <a:tr h="134112">
                <a:tc vMerge="1">
                  <a:txBody>
                    <a:bodyPr/>
                    <a:lstStyle/>
                    <a:p>
                      <a:endParaRPr sz="700"/>
                    </a:p>
                  </a:txBody>
                  <a:tcPr marL="0" marR="0" marT="0" marB="0"/>
                </a:tc>
                <a:tc rowSpan="2">
                  <a:txBody>
                    <a:bodyPr/>
                    <a:lstStyle/>
                    <a:p>
                      <a:pPr marL="0" marR="0" indent="0"/>
                      <a:r>
                        <a:rPr lang="en-US" sz="750">
                          <a:solidFill>
                            <a:srgbClr val="403C3D"/>
                          </a:solidFill>
                          <a:latin typeface="Arial"/>
                        </a:rPr>
                        <a:t>A/R Days</a:t>
                      </a:r>
                    </a:p>
                    <a:p>
                      <a:pPr marL="0" marR="0" indent="0"/>
                      <a:r>
                        <a:rPr lang="en-US" sz="750">
                          <a:solidFill>
                            <a:srgbClr val="403C3D"/>
                          </a:solidFill>
                          <a:latin typeface="Arial"/>
                        </a:rPr>
                        <a:t>Inventory Days</a:t>
                      </a:r>
                    </a:p>
                  </a:txBody>
                  <a:tcPr marL="0" marR="0" marT="0" marB="0" anchor="b"/>
                </a:tc>
                <a:tc>
                  <a:txBody>
                    <a:bodyPr/>
                    <a:lstStyle/>
                    <a:p>
                      <a:pPr marL="0" marR="0" indent="304800"/>
                      <a:r>
                        <a:rPr lang="en-US" sz="750">
                          <a:solidFill>
                            <a:srgbClr val="403C3D"/>
                          </a:solidFill>
                          <a:latin typeface="Arial"/>
                        </a:rPr>
                        <a:t>55.41</a:t>
                      </a:r>
                    </a:p>
                  </a:txBody>
                  <a:tcPr marL="0" marR="0" marT="0" marB="0" anchor="b">
                    <a:solidFill>
                      <a:srgbClr val="FFCEAD"/>
                    </a:solidFill>
                  </a:tcPr>
                </a:tc>
                <a:tc>
                  <a:txBody>
                    <a:bodyPr/>
                    <a:lstStyle/>
                    <a:p>
                      <a:endParaRPr sz="700"/>
                    </a:p>
                  </a:txBody>
                  <a:tcPr marL="0" marR="0" marT="0" marB="0"/>
                </a:tc>
                <a:tc>
                  <a:txBody>
                    <a:bodyPr/>
                    <a:lstStyle/>
                    <a:p>
                      <a:pPr marL="0" marR="0" indent="0" defTabSz="637032">
                        <a:tabLst>
                          <a:tab pos="637032" algn="l"/>
                        </a:tabLst>
                      </a:pPr>
                      <a:r>
                        <a:rPr lang="en-US" sz="750">
                          <a:solidFill>
                            <a:srgbClr val="221B28"/>
                          </a:solidFill>
                          <a:latin typeface="Arial"/>
                        </a:rPr>
                        <a:t>34,50	45.00</a:t>
                      </a:r>
                    </a:p>
                  </a:txBody>
                  <a:tcPr marL="0" marR="0" marT="0" marB="0" anchor="b">
                    <a:solidFill>
                      <a:srgbClr val="FFCEAD"/>
                    </a:solidFill>
                  </a:tcPr>
                </a:tc>
                <a:tc>
                  <a:txBody>
                    <a:bodyPr/>
                    <a:lstStyle/>
                    <a:p>
                      <a:pPr marL="0" marR="0" indent="0" algn="r"/>
                      <a:r>
                        <a:rPr lang="en-US" sz="750">
                          <a:solidFill>
                            <a:srgbClr val="052F48"/>
                          </a:solidFill>
                          <a:latin typeface="Arial"/>
                        </a:rPr>
                        <a:t>43-0(</a:t>
                      </a:r>
                    </a:p>
                  </a:txBody>
                  <a:tcPr marL="0" marR="0" marT="0" marB="0" anchor="b">
                    <a:solidFill>
                      <a:srgbClr val="00B3F5"/>
                    </a:solidFill>
                  </a:tcPr>
                </a:tc>
                <a:extLst>
                  <a:ext uri="{0D108BD9-81ED-4DB2-BD59-A6C34878D82A}">
                    <a16:rowId xmlns:a16="http://schemas.microsoft.com/office/drawing/2014/main" val="10003"/>
                  </a:ext>
                </a:extLst>
              </a:tr>
              <a:tr h="118872">
                <a:tc vMerge="1">
                  <a:txBody>
                    <a:bodyPr/>
                    <a:lstStyle/>
                    <a:p>
                      <a:endParaRPr sz="600"/>
                    </a:p>
                  </a:txBody>
                  <a:tcPr marL="0" marR="0" marT="0" marB="0"/>
                </a:tc>
                <a:tc vMerge="1">
                  <a:txBody>
                    <a:bodyPr/>
                    <a:lstStyle/>
                    <a:p>
                      <a:endParaRPr sz="600"/>
                    </a:p>
                  </a:txBody>
                  <a:tcPr marL="0" marR="0" marT="0" marB="0"/>
                </a:tc>
                <a:tc>
                  <a:txBody>
                    <a:bodyPr/>
                    <a:lstStyle/>
                    <a:p>
                      <a:pPr marL="0" marR="0" indent="419100"/>
                      <a:r>
                        <a:rPr lang="en-US" sz="750">
                          <a:solidFill>
                            <a:srgbClr val="221B28"/>
                          </a:solidFill>
                          <a:latin typeface="Arial"/>
                        </a:rPr>
                        <a:t>-</a:t>
                      </a:r>
                    </a:p>
                  </a:txBody>
                  <a:tcPr marL="0" marR="0" marT="0" marB="0" anchor="ctr"/>
                </a:tc>
                <a:tc>
                  <a:txBody>
                    <a:bodyPr/>
                    <a:lstStyle/>
                    <a:p>
                      <a:endParaRPr sz="600"/>
                    </a:p>
                  </a:txBody>
                  <a:tcPr marL="0" marR="0" marT="0" marB="0"/>
                </a:tc>
                <a:tc>
                  <a:txBody>
                    <a:bodyPr/>
                    <a:lstStyle/>
                    <a:p>
                      <a:pPr marL="0" marR="0" indent="177800" algn="just"/>
                      <a:r>
                        <a:rPr lang="en-US" sz="750">
                          <a:solidFill>
                            <a:srgbClr val="221B28"/>
                          </a:solidFill>
                          <a:latin typeface="Arial"/>
                        </a:rPr>
                        <a:t>- -</a:t>
                      </a:r>
                    </a:p>
                  </a:txBody>
                  <a:tcPr marL="0" marR="0" marT="0" marB="0" anchor="ctr"/>
                </a:tc>
                <a:tc>
                  <a:txBody>
                    <a:bodyPr/>
                    <a:lstStyle/>
                    <a:p>
                      <a:pPr marL="0" marR="65600" indent="0" algn="r"/>
                      <a:r>
                        <a:rPr lang="en-US" sz="750">
                          <a:solidFill>
                            <a:srgbClr val="221B28"/>
                          </a:solidFill>
                          <a:latin typeface="Arial"/>
                        </a:rPr>
                        <a:t>-</a:t>
                      </a:r>
                    </a:p>
                  </a:txBody>
                  <a:tcPr marL="0" marR="0" marT="0" marB="0" anchor="ctr"/>
                </a:tc>
                <a:extLst>
                  <a:ext uri="{0D108BD9-81ED-4DB2-BD59-A6C34878D82A}">
                    <a16:rowId xmlns:a16="http://schemas.microsoft.com/office/drawing/2014/main" val="10004"/>
                  </a:ext>
                </a:extLst>
              </a:tr>
              <a:tr h="243840">
                <a:tc vMerge="1">
                  <a:txBody>
                    <a:bodyPr/>
                    <a:lstStyle/>
                    <a:p>
                      <a:endParaRPr sz="1200"/>
                    </a:p>
                  </a:txBody>
                  <a:tcPr marL="0" marR="0" marT="0" marB="0"/>
                </a:tc>
                <a:tc>
                  <a:txBody>
                    <a:bodyPr/>
                    <a:lstStyle/>
                    <a:p>
                      <a:pPr marL="0" marR="0" indent="0"/>
                      <a:r>
                        <a:rPr lang="ru" sz="750">
                          <a:solidFill>
                            <a:srgbClr val="403C3D"/>
                          </a:solidFill>
                          <a:latin typeface="Arial"/>
                        </a:rPr>
                        <a:t>А</a:t>
                      </a:r>
                      <a:r>
                        <a:rPr lang="en-US" sz="750">
                          <a:solidFill>
                            <a:srgbClr val="403C3D"/>
                          </a:solidFill>
                          <a:latin typeface="Arial"/>
                        </a:rPr>
                        <a:t>/P Days</a:t>
                      </a:r>
                    </a:p>
                    <a:p>
                      <a:pPr marL="0" marR="0" indent="0"/>
                      <a:r>
                        <a:rPr lang="en-US" sz="750">
                          <a:solidFill>
                            <a:srgbClr val="403C3D"/>
                          </a:solidFill>
                          <a:latin typeface="Arial"/>
                        </a:rPr>
                        <a:t>Deferred Revenue Days</a:t>
                      </a:r>
                    </a:p>
                  </a:txBody>
                  <a:tcPr marL="0" marR="0" marT="0" marB="0" anchor="b"/>
                </a:tc>
                <a:tc>
                  <a:txBody>
                    <a:bodyPr/>
                    <a:lstStyle/>
                    <a:p>
                      <a:pPr marL="0" marR="0" indent="368300"/>
                      <a:r>
                        <a:rPr lang="en-US" sz="750">
                          <a:solidFill>
                            <a:srgbClr val="403C3D"/>
                          </a:solidFill>
                          <a:latin typeface="Arial"/>
                        </a:rPr>
                        <a:t>6.84</a:t>
                      </a:r>
                    </a:p>
                  </a:txBody>
                  <a:tcPr marL="0" marR="0" marT="0" marB="0"/>
                </a:tc>
                <a:tc>
                  <a:txBody>
                    <a:bodyPr/>
                    <a:lstStyle/>
                    <a:p>
                      <a:pPr marL="0" marR="0" indent="0"/>
                      <a:r>
                        <a:rPr lang="en-US" sz="950">
                          <a:solidFill>
                            <a:srgbClr val="221B28"/>
                          </a:solidFill>
                          <a:latin typeface="Arial"/>
                        </a:rPr>
                        <a:t>' Using your Balance Sheet, Input the following data:</a:t>
                      </a:r>
                    </a:p>
                  </a:txBody>
                  <a:tcPr marL="0" marR="0" marT="0" marB="0" anchor="b"/>
                </a:tc>
                <a:tc>
                  <a:txBody>
                    <a:bodyPr/>
                    <a:lstStyle/>
                    <a:p>
                      <a:pPr marL="0" marR="0" indent="0" defTabSz="646176">
                        <a:tabLst>
                          <a:tab pos="646176" algn="l"/>
                        </a:tabLst>
                      </a:pPr>
                      <a:r>
                        <a:rPr lang="en-US" sz="750">
                          <a:solidFill>
                            <a:srgbClr val="403C3D"/>
                          </a:solidFill>
                          <a:latin typeface="Arial"/>
                        </a:rPr>
                        <a:t>51.84	17.37</a:t>
                      </a:r>
                    </a:p>
                  </a:txBody>
                  <a:tcPr marL="0" marR="0" marT="0" marB="0"/>
                </a:tc>
                <a:tc>
                  <a:txBody>
                    <a:bodyPr/>
                    <a:lstStyle/>
                    <a:p>
                      <a:pPr marL="0" marR="0" indent="0" algn="r"/>
                      <a:r>
                        <a:rPr lang="en-US" sz="750">
                          <a:solidFill>
                            <a:srgbClr val="052F48"/>
                          </a:solidFill>
                          <a:latin typeface="Arial"/>
                        </a:rPr>
                        <a:t>7.01</a:t>
                      </a:r>
                    </a:p>
                  </a:txBody>
                  <a:tcPr marL="0" marR="0" marT="0" marB="0">
                    <a:solidFill>
                      <a:srgbClr val="00B3F5"/>
                    </a:solidFill>
                  </a:tcPr>
                </a:tc>
                <a:extLst>
                  <a:ext uri="{0D108BD9-81ED-4DB2-BD59-A6C34878D82A}">
                    <a16:rowId xmlns:a16="http://schemas.microsoft.com/office/drawing/2014/main" val="10005"/>
                  </a:ext>
                </a:extLst>
              </a:tr>
              <a:tr h="115824">
                <a:tc vMerge="1">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extLst>
                  <a:ext uri="{0D108BD9-81ED-4DB2-BD59-A6C34878D82A}">
                    <a16:rowId xmlns:a16="http://schemas.microsoft.com/office/drawing/2014/main" val="10006"/>
                  </a:ext>
                </a:extLst>
              </a:tr>
              <a:tr h="131064">
                <a:tc vMerge="1">
                  <a:txBody>
                    <a:bodyPr/>
                    <a:lstStyle/>
                    <a:p>
                      <a:endParaRPr sz="700"/>
                    </a:p>
                  </a:txBody>
                  <a:tcPr marL="0" marR="0" marT="0" marB="0"/>
                </a:tc>
                <a:tc>
                  <a:txBody>
                    <a:bodyPr/>
                    <a:lstStyle/>
                    <a:p>
                      <a:pPr marL="0" marR="0" indent="0"/>
                      <a:r>
                        <a:rPr lang="en-US" sz="750">
                          <a:solidFill>
                            <a:srgbClr val="221B28"/>
                          </a:solidFill>
                          <a:latin typeface="Arial"/>
                        </a:rPr>
                        <a:t>Trade Capital</a:t>
                      </a:r>
                    </a:p>
                  </a:txBody>
                  <a:tcPr marL="0" marR="0" marT="0" marB="0" anchor="b"/>
                </a:tc>
                <a:tc>
                  <a:txBody>
                    <a:bodyPr/>
                    <a:lstStyle/>
                    <a:p>
                      <a:pPr marL="0" marR="0" indent="101600"/>
                      <a:r>
                        <a:rPr lang="en-US" sz="800" b="1">
                          <a:solidFill>
                            <a:srgbClr val="221B28"/>
                          </a:solidFill>
                          <a:latin typeface="Arial"/>
                        </a:rPr>
                        <a:t>417,149</a:t>
                      </a:r>
                    </a:p>
                  </a:txBody>
                  <a:tcPr marL="0" marR="0" marT="0" marB="0" anchor="b"/>
                </a:tc>
                <a:tc>
                  <a:txBody>
                    <a:bodyPr/>
                    <a:lstStyle/>
                    <a:p>
                      <a:pPr marL="0" marR="0" indent="457200"/>
                      <a:r>
                        <a:rPr lang="en-US" sz="850">
                          <a:latin typeface="Arial"/>
                        </a:rPr>
                        <a:t>• Amounts Receivable Days Sales Outstanding</a:t>
                      </a:r>
                    </a:p>
                  </a:txBody>
                  <a:tcPr marL="0" marR="0" marT="0" marB="0" anchor="b"/>
                </a:tc>
                <a:tc>
                  <a:txBody>
                    <a:bodyPr/>
                    <a:lstStyle/>
                    <a:p>
                      <a:pPr marL="0" marR="0" indent="0" defTabSz="505968">
                        <a:tabLst>
                          <a:tab pos="505968" algn="l"/>
                        </a:tabLst>
                      </a:pPr>
                      <a:r>
                        <a:rPr lang="en-US" sz="800" b="1">
                          <a:solidFill>
                            <a:srgbClr val="221B28"/>
                          </a:solidFill>
                          <a:latin typeface="Arial"/>
                        </a:rPr>
                        <a:t>7,317	345,039</a:t>
                      </a:r>
                    </a:p>
                  </a:txBody>
                  <a:tcPr marL="0" marR="0" marT="0" marB="0" anchor="b"/>
                </a:tc>
                <a:tc>
                  <a:txBody>
                    <a:bodyPr/>
                    <a:lstStyle/>
                    <a:p>
                      <a:pPr marL="0" marR="0" indent="0" algn="r"/>
                      <a:r>
                        <a:rPr lang="en-US" sz="800" b="1">
                          <a:latin typeface="Arial"/>
                        </a:rPr>
                        <a:t>70,78(5</a:t>
                      </a:r>
                    </a:p>
                  </a:txBody>
                  <a:tcPr marL="0" marR="0" marT="0" marB="0" anchor="b"/>
                </a:tc>
                <a:extLst>
                  <a:ext uri="{0D108BD9-81ED-4DB2-BD59-A6C34878D82A}">
                    <a16:rowId xmlns:a16="http://schemas.microsoft.com/office/drawing/2014/main" val="10007"/>
                  </a:ext>
                </a:extLst>
              </a:tr>
              <a:tr h="121920">
                <a:tc vMerge="1">
                  <a:txBody>
                    <a:bodyPr/>
                    <a:lstStyle/>
                    <a:p>
                      <a:endParaRPr sz="600"/>
                    </a:p>
                  </a:txBody>
                  <a:tcPr marL="0" marR="0" marT="0" marB="0"/>
                </a:tc>
                <a:tc>
                  <a:txBody>
                    <a:bodyPr/>
                    <a:lstStyle/>
                    <a:p>
                      <a:pPr marL="0" marR="0" indent="88900"/>
                      <a:r>
                        <a:rPr lang="en-US" sz="750">
                          <a:solidFill>
                            <a:srgbClr val="403C3D"/>
                          </a:solidFill>
                          <a:latin typeface="Arial"/>
                        </a:rPr>
                        <a:t>Accounts Receivable</a:t>
                      </a:r>
                    </a:p>
                  </a:txBody>
                  <a:tcPr marL="0" marR="0" marT="0" marB="0" anchor="b"/>
                </a:tc>
                <a:tc>
                  <a:txBody>
                    <a:bodyPr/>
                    <a:lstStyle/>
                    <a:p>
                      <a:pPr marL="0" marR="0" indent="177800"/>
                      <a:r>
                        <a:rPr lang="en-US" sz="750">
                          <a:solidFill>
                            <a:srgbClr val="403C3D"/>
                          </a:solidFill>
                          <a:latin typeface="Arial"/>
                        </a:rPr>
                        <a:t>481,493</a:t>
                      </a:r>
                    </a:p>
                  </a:txBody>
                  <a:tcPr marL="0" marR="0" marT="0" marB="0" anchor="b">
                    <a:solidFill>
                      <a:srgbClr val="FFCEAD"/>
                    </a:solidFill>
                  </a:tcPr>
                </a:tc>
                <a:tc>
                  <a:txBody>
                    <a:bodyPr/>
                    <a:lstStyle/>
                    <a:p>
                      <a:endParaRPr sz="600"/>
                    </a:p>
                  </a:txBody>
                  <a:tcPr marL="0" marR="0" marT="0" marB="0"/>
                </a:tc>
                <a:tc>
                  <a:txBody>
                    <a:bodyPr/>
                    <a:lstStyle/>
                    <a:p>
                      <a:pPr marL="0" marR="0" indent="0" defTabSz="579120">
                        <a:tabLst>
                          <a:tab pos="579120" algn="l"/>
                        </a:tabLst>
                      </a:pPr>
                      <a:r>
                        <a:rPr lang="en-US" sz="750">
                          <a:solidFill>
                            <a:srgbClr val="221B28"/>
                          </a:solidFill>
                          <a:latin typeface="Arial"/>
                        </a:rPr>
                        <a:t>58,046	437,552</a:t>
                      </a:r>
                    </a:p>
                  </a:txBody>
                  <a:tcPr marL="0" marR="0" marT="0" marB="0" anchor="b">
                    <a:solidFill>
                      <a:srgbClr val="FFCEAD"/>
                    </a:solidFill>
                  </a:tcPr>
                </a:tc>
                <a:tc>
                  <a:txBody>
                    <a:bodyPr/>
                    <a:lstStyle/>
                    <a:p>
                      <a:pPr marL="0" marR="0" indent="0" algn="r"/>
                      <a:r>
                        <a:rPr lang="en-US" sz="750" u="sng">
                          <a:solidFill>
                            <a:srgbClr val="403C3D"/>
                          </a:solidFill>
                          <a:latin typeface="Arial"/>
                        </a:rPr>
                        <a:t>215,OO</a:t>
                      </a:r>
                      <a:r>
                        <a:rPr lang="en-US" sz="750">
                          <a:solidFill>
                            <a:srgbClr val="403C3D"/>
                          </a:solidFill>
                          <a:latin typeface="Arial"/>
                        </a:rPr>
                        <a:t>t</a:t>
                      </a:r>
                    </a:p>
                  </a:txBody>
                  <a:tcPr marL="0" marR="0" marT="0" marB="0" anchor="b"/>
                </a:tc>
                <a:extLst>
                  <a:ext uri="{0D108BD9-81ED-4DB2-BD59-A6C34878D82A}">
                    <a16:rowId xmlns:a16="http://schemas.microsoft.com/office/drawing/2014/main" val="10008"/>
                  </a:ext>
                </a:extLst>
              </a:tr>
              <a:tr h="240792">
                <a:tc vMerge="1">
                  <a:txBody>
                    <a:bodyPr/>
                    <a:lstStyle/>
                    <a:p>
                      <a:endParaRPr sz="1200"/>
                    </a:p>
                  </a:txBody>
                  <a:tcPr marL="0" marR="0" marT="0" marB="0"/>
                </a:tc>
                <a:tc>
                  <a:txBody>
                    <a:bodyPr/>
                    <a:lstStyle/>
                    <a:p>
                      <a:pPr marL="0" marR="0" indent="88900"/>
                      <a:r>
                        <a:rPr lang="en-US" sz="750">
                          <a:solidFill>
                            <a:srgbClr val="403C3D"/>
                          </a:solidFill>
                          <a:latin typeface="Arial"/>
                        </a:rPr>
                        <a:t>Inventory</a:t>
                      </a:r>
                    </a:p>
                    <a:p>
                      <a:pPr marL="0" marR="0" indent="88900"/>
                      <a:r>
                        <a:rPr lang="en-US" sz="750">
                          <a:solidFill>
                            <a:srgbClr val="403C3D"/>
                          </a:solidFill>
                          <a:latin typeface="Arial"/>
                        </a:rPr>
                        <a:t>Other Current Assets</a:t>
                      </a:r>
                    </a:p>
                  </a:txBody>
                  <a:tcPr marL="0" marR="0" marT="0" marB="0"/>
                </a:tc>
                <a:tc>
                  <a:txBody>
                    <a:bodyPr/>
                    <a:lstStyle/>
                    <a:p>
                      <a:pPr marL="0" marR="0" indent="254000"/>
                      <a:r>
                        <a:rPr lang="en-US" sz="750">
                          <a:solidFill>
                            <a:srgbClr val="221B28"/>
                          </a:solidFill>
                          <a:latin typeface="Arial"/>
                        </a:rPr>
                        <a:t>15,051</a:t>
                      </a:r>
                    </a:p>
                  </a:txBody>
                  <a:tcPr marL="0" marR="0" marT="0" marB="0" anchor="b">
                    <a:solidFill>
                      <a:srgbClr val="FFCEAD"/>
                    </a:solidFill>
                  </a:tcPr>
                </a:tc>
                <a:tc>
                  <a:txBody>
                    <a:bodyPr/>
                    <a:lstStyle/>
                    <a:p>
                      <a:pPr marL="0" marR="0" indent="457200" defTabSz="213360">
                        <a:spcAft>
                          <a:spcPts val="280"/>
                        </a:spcAft>
                        <a:tabLst>
                          <a:tab pos="213360" algn="l"/>
                        </a:tabLst>
                      </a:pPr>
                      <a:r>
                        <a:rPr lang="en-US" sz="950">
                          <a:latin typeface="Arial"/>
                        </a:rPr>
                        <a:t>•	Accounts Receivable</a:t>
                      </a:r>
                    </a:p>
                    <a:p>
                      <a:pPr marL="0" marR="0" indent="457200" defTabSz="213360">
                        <a:tabLst>
                          <a:tab pos="213360" algn="l"/>
                        </a:tabLst>
                      </a:pPr>
                      <a:r>
                        <a:rPr lang="en-US" sz="750">
                          <a:latin typeface="Arial"/>
                        </a:rPr>
                        <a:t>•	Invpntnrv</a:t>
                      </a:r>
                    </a:p>
                  </a:txBody>
                  <a:tcPr marL="0" marR="0" marT="0" marB="0"/>
                </a:tc>
                <a:tc>
                  <a:txBody>
                    <a:bodyPr/>
                    <a:lstStyle/>
                    <a:p>
                      <a:pPr marL="0" marR="0" indent="0" defTabSz="655320">
                        <a:tabLst>
                          <a:tab pos="655320" algn="l"/>
                        </a:tabLst>
                      </a:pPr>
                      <a:r>
                        <a:rPr lang="en-US" sz="750" b="1">
                          <a:solidFill>
                            <a:srgbClr val="403C3D"/>
                          </a:solidFill>
                          <a:latin typeface="Times New Roman"/>
                        </a:rPr>
                        <a:t>6,603	</a:t>
                      </a:r>
                      <a:r>
                        <a:rPr lang="ru" sz="850" cap="small">
                          <a:solidFill>
                            <a:srgbClr val="403C3D"/>
                          </a:solidFill>
                          <a:latin typeface="Arial"/>
                        </a:rPr>
                        <a:t>б,6оз</a:t>
                      </a:r>
                    </a:p>
                  </a:txBody>
                  <a:tcPr marL="0" marR="0" marT="0" marB="0" anchor="b">
                    <a:solidFill>
                      <a:srgbClr val="FFCEAD"/>
                    </a:solidFill>
                  </a:tcPr>
                </a:tc>
                <a:tc>
                  <a:txBody>
                    <a:bodyPr/>
                    <a:lstStyle/>
                    <a:p>
                      <a:pPr marL="0" marR="0" indent="0" algn="r"/>
                      <a:r>
                        <a:rPr lang="en-US" sz="750">
                          <a:solidFill>
                            <a:srgbClr val="052F48"/>
                          </a:solidFill>
                          <a:latin typeface="Arial"/>
                        </a:rPr>
                        <a:t>6,6o:</a:t>
                      </a:r>
                    </a:p>
                  </a:txBody>
                  <a:tcPr marL="0" marR="0" marT="0" marB="0" anchor="b">
                    <a:solidFill>
                      <a:srgbClr val="00B3F5"/>
                    </a:solidFill>
                  </a:tcPr>
                </a:tc>
                <a:extLst>
                  <a:ext uri="{0D108BD9-81ED-4DB2-BD59-A6C34878D82A}">
                    <a16:rowId xmlns:a16="http://schemas.microsoft.com/office/drawing/2014/main" val="10009"/>
                  </a:ext>
                </a:extLst>
              </a:tr>
              <a:tr h="246888">
                <a:tc vMerge="1">
                  <a:txBody>
                    <a:bodyPr/>
                    <a:lstStyle/>
                    <a:p>
                      <a:endParaRPr sz="1200"/>
                    </a:p>
                  </a:txBody>
                  <a:tcPr marL="0" marR="0" marT="0" marB="0"/>
                </a:tc>
                <a:tc>
                  <a:txBody>
                    <a:bodyPr/>
                    <a:lstStyle/>
                    <a:p>
                      <a:pPr marL="0" marR="0" indent="88900"/>
                      <a:r>
                        <a:rPr lang="en-US" sz="750">
                          <a:solidFill>
                            <a:srgbClr val="403C3D"/>
                          </a:solidFill>
                          <a:latin typeface="Arial"/>
                        </a:rPr>
                        <a:t>Accounts Payable</a:t>
                      </a:r>
                    </a:p>
                    <a:p>
                      <a:pPr marL="0" marR="0" indent="88900"/>
                      <a:r>
                        <a:rPr lang="en-US" sz="750">
                          <a:solidFill>
                            <a:srgbClr val="403C3D"/>
                          </a:solidFill>
                          <a:latin typeface="Arial"/>
                        </a:rPr>
                        <a:t>Deferred Revenue</a:t>
                      </a:r>
                    </a:p>
                  </a:txBody>
                  <a:tcPr marL="0" marR="0" marT="0" marB="0"/>
                </a:tc>
                <a:tc>
                  <a:txBody>
                    <a:bodyPr/>
                    <a:lstStyle/>
                    <a:p>
                      <a:pPr marL="0" marR="0" indent="254000"/>
                      <a:r>
                        <a:rPr lang="en-US" sz="750">
                          <a:solidFill>
                            <a:srgbClr val="403C3D"/>
                          </a:solidFill>
                          <a:latin typeface="Arial"/>
                        </a:rPr>
                        <a:t>(2,764)</a:t>
                      </a:r>
                    </a:p>
                  </a:txBody>
                  <a:tcPr marL="0" marR="0" marT="0" marB="0">
                    <a:solidFill>
                      <a:srgbClr val="FFCEAD"/>
                    </a:solidFill>
                  </a:tcPr>
                </a:tc>
                <a:tc>
                  <a:txBody>
                    <a:bodyPr/>
                    <a:lstStyle/>
                    <a:p>
                      <a:pPr marL="0" marR="0" indent="457200"/>
                      <a:r>
                        <a:rPr lang="en-US" sz="950">
                          <a:latin typeface="Arial"/>
                        </a:rPr>
                        <a:t>• Other Current Assets</a:t>
                      </a:r>
                    </a:p>
                  </a:txBody>
                  <a:tcPr marL="0" marR="0" marT="0" marB="0" anchor="b"/>
                </a:tc>
                <a:tc>
                  <a:txBody>
                    <a:bodyPr/>
                    <a:lstStyle/>
                    <a:p>
                      <a:pPr marL="0" marR="0" indent="0" defTabSz="643128">
                        <a:tabLst>
                          <a:tab pos="643128" algn="l"/>
                        </a:tabLst>
                      </a:pPr>
                      <a:r>
                        <a:rPr lang="en-US" sz="750">
                          <a:solidFill>
                            <a:srgbClr val="403C3D"/>
                          </a:solidFill>
                          <a:latin typeface="Arial"/>
                        </a:rPr>
                        <a:t>(6,243)	(7,426)</a:t>
                      </a:r>
                    </a:p>
                  </a:txBody>
                  <a:tcPr marL="0" marR="0" marT="0" marB="0">
                    <a:solidFill>
                      <a:srgbClr val="FFCEAD"/>
                    </a:solidFill>
                  </a:tcPr>
                </a:tc>
                <a:tc>
                  <a:txBody>
                    <a:bodyPr/>
                    <a:lstStyle/>
                    <a:p>
                      <a:pPr marL="0" marR="0" indent="0" algn="r"/>
                      <a:r>
                        <a:rPr lang="en-US" sz="750">
                          <a:solidFill>
                            <a:srgbClr val="5E5650"/>
                          </a:solidFill>
                          <a:latin typeface="Arial"/>
                        </a:rPr>
                        <a:t>(l,4Ot</a:t>
                      </a:r>
                    </a:p>
                  </a:txBody>
                  <a:tcPr marL="0" marR="0" marT="0" marB="0"/>
                </a:tc>
                <a:extLst>
                  <a:ext uri="{0D108BD9-81ED-4DB2-BD59-A6C34878D82A}">
                    <a16:rowId xmlns:a16="http://schemas.microsoft.com/office/drawing/2014/main" val="10010"/>
                  </a:ext>
                </a:extLst>
              </a:tr>
              <a:tr h="118872">
                <a:tc vMerge="1">
                  <a:txBody>
                    <a:bodyPr/>
                    <a:lstStyle/>
                    <a:p>
                      <a:endParaRPr sz="600"/>
                    </a:p>
                  </a:txBody>
                  <a:tcPr marL="0" marR="0" marT="0" marB="0"/>
                </a:tc>
                <a:tc>
                  <a:txBody>
                    <a:bodyPr/>
                    <a:lstStyle/>
                    <a:p>
                      <a:pPr marL="0" marR="0" indent="88900"/>
                      <a:r>
                        <a:rPr lang="en-US" sz="750">
                          <a:solidFill>
                            <a:srgbClr val="403C3D"/>
                          </a:solidFill>
                          <a:latin typeface="Arial"/>
                        </a:rPr>
                        <a:t>Other Liabilities</a:t>
                      </a:r>
                    </a:p>
                  </a:txBody>
                  <a:tcPr marL="0" marR="0" marT="0" marB="0" anchor="b"/>
                </a:tc>
                <a:tc>
                  <a:txBody>
                    <a:bodyPr/>
                    <a:lstStyle/>
                    <a:p>
                      <a:pPr marL="0" marR="0" indent="203200"/>
                      <a:r>
                        <a:rPr lang="en-US" sz="750">
                          <a:solidFill>
                            <a:srgbClr val="403C3D"/>
                          </a:solidFill>
                          <a:latin typeface="Arial"/>
                        </a:rPr>
                        <a:t>(76,631)</a:t>
                      </a:r>
                    </a:p>
                  </a:txBody>
                  <a:tcPr marL="0" marR="0" marT="0" marB="0" anchor="b">
                    <a:solidFill>
                      <a:srgbClr val="FFCEAD"/>
                    </a:solidFill>
                  </a:tcPr>
                </a:tc>
                <a:tc>
                  <a:txBody>
                    <a:bodyPr/>
                    <a:lstStyle/>
                    <a:p>
                      <a:pPr marL="0" marR="0" indent="457200" defTabSz="204216">
                        <a:tabLst>
                          <a:tab pos="204216" algn="l"/>
                        </a:tabLst>
                      </a:pPr>
                      <a:r>
                        <a:rPr lang="en-US" sz="750">
                          <a:latin typeface="Arial"/>
                        </a:rPr>
                        <a:t>•	Arm </a:t>
                      </a:r>
                      <a:r>
                        <a:rPr lang="ru" sz="750">
                          <a:solidFill>
                            <a:srgbClr val="221B28"/>
                          </a:solidFill>
                          <a:latin typeface="Arial"/>
                        </a:rPr>
                        <a:t>и </a:t>
                      </a:r>
                      <a:r>
                        <a:rPr lang="en-US" sz="750">
                          <a:latin typeface="Arial"/>
                        </a:rPr>
                        <a:t>nt*; </a:t>
                      </a:r>
                      <a:r>
                        <a:rPr lang="en-US" sz="750">
                          <a:solidFill>
                            <a:srgbClr val="221B28"/>
                          </a:solidFill>
                          <a:latin typeface="Arial"/>
                        </a:rPr>
                        <a:t>Pavablp</a:t>
                      </a:r>
                    </a:p>
                  </a:txBody>
                  <a:tcPr marL="0" marR="0" marT="0" marB="0" anchor="b"/>
                </a:tc>
                <a:tc>
                  <a:txBody>
                    <a:bodyPr/>
                    <a:lstStyle/>
                    <a:p>
                      <a:pPr marL="0" marR="0" indent="0" defTabSz="533400">
                        <a:tabLst>
                          <a:tab pos="533400" algn="l"/>
                        </a:tabLst>
                      </a:pPr>
                      <a:r>
                        <a:rPr lang="en-US" sz="750">
                          <a:solidFill>
                            <a:srgbClr val="403C3D"/>
                          </a:solidFill>
                          <a:latin typeface="Arial"/>
                        </a:rPr>
                        <a:t>41,090)	(141,090)</a:t>
                      </a:r>
                    </a:p>
                  </a:txBody>
                  <a:tcPr marL="0" marR="0" marT="0" marB="0" anchor="b">
                    <a:solidFill>
                      <a:srgbClr val="FFCEAD"/>
                    </a:solidFill>
                  </a:tcPr>
                </a:tc>
                <a:tc>
                  <a:txBody>
                    <a:bodyPr/>
                    <a:lstStyle/>
                    <a:p>
                      <a:pPr marL="0" marR="0" indent="0" algn="r"/>
                      <a:r>
                        <a:rPr lang="en-US" sz="750">
                          <a:solidFill>
                            <a:srgbClr val="052F48"/>
                          </a:solidFill>
                          <a:latin typeface="Arial"/>
                        </a:rPr>
                        <a:t>(149,41:</a:t>
                      </a:r>
                    </a:p>
                  </a:txBody>
                  <a:tcPr marL="0" marR="0" marT="0" marB="0" anchor="b">
                    <a:solidFill>
                      <a:srgbClr val="00B3F5"/>
                    </a:solidFill>
                  </a:tcPr>
                </a:tc>
                <a:extLst>
                  <a:ext uri="{0D108BD9-81ED-4DB2-BD59-A6C34878D82A}">
                    <a16:rowId xmlns:a16="http://schemas.microsoft.com/office/drawing/2014/main" val="10011"/>
                  </a:ext>
                </a:extLst>
              </a:tr>
              <a:tr h="124968">
                <a:tc vMerge="1">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extLst>
                  <a:ext uri="{0D108BD9-81ED-4DB2-BD59-A6C34878D82A}">
                    <a16:rowId xmlns:a16="http://schemas.microsoft.com/office/drawing/2014/main" val="10012"/>
                  </a:ext>
                </a:extLst>
              </a:tr>
              <a:tr h="118872">
                <a:tc vMerge="1">
                  <a:txBody>
                    <a:bodyPr/>
                    <a:lstStyle/>
                    <a:p>
                      <a:endParaRPr sz="600"/>
                    </a:p>
                  </a:txBody>
                  <a:tcPr marL="0" marR="0" marT="0" marB="0"/>
                </a:tc>
                <a:tc>
                  <a:txBody>
                    <a:bodyPr/>
                    <a:lstStyle/>
                    <a:p>
                      <a:pPr marL="0" marR="0" indent="0"/>
                      <a:r>
                        <a:rPr lang="en-US" sz="800" b="1">
                          <a:solidFill>
                            <a:srgbClr val="221B28"/>
                          </a:solidFill>
                          <a:latin typeface="Arial"/>
                        </a:rPr>
                        <a:t>Infrastructure Capital!</a:t>
                      </a:r>
                    </a:p>
                  </a:txBody>
                  <a:tcPr marL="0" marR="0" marT="0" marB="0" anchor="b"/>
                </a:tc>
                <a:tc>
                  <a:txBody>
                    <a:bodyPr/>
                    <a:lstStyle/>
                    <a:p>
                      <a:pPr marL="0" marR="0" indent="177800"/>
                      <a:r>
                        <a:rPr lang="en-US" sz="750" b="1">
                          <a:latin typeface="Times New Roman"/>
                        </a:rPr>
                        <a:t>21,554</a:t>
                      </a:r>
                    </a:p>
                  </a:txBody>
                  <a:tcPr marL="0" marR="0" marT="0" marB="0" anchor="b"/>
                </a:tc>
                <a:tc>
                  <a:txBody>
                    <a:bodyPr/>
                    <a:lstStyle/>
                    <a:p>
                      <a:pPr marL="0" marR="0" indent="457200"/>
                      <a:r>
                        <a:rPr lang="en-US" sz="950">
                          <a:latin typeface="Arial"/>
                        </a:rPr>
                        <a:t>• Deferred Revenue</a:t>
                      </a:r>
                    </a:p>
                  </a:txBody>
                  <a:tcPr marL="0" marR="0" marT="0" marB="0" anchor="b"/>
                </a:tc>
                <a:tc>
                  <a:txBody>
                    <a:bodyPr/>
                    <a:lstStyle/>
                    <a:p>
                      <a:pPr marL="0" marR="0" indent="0" defTabSz="569976">
                        <a:tabLst>
                          <a:tab pos="569976" algn="l"/>
                        </a:tabLst>
                      </a:pPr>
                      <a:r>
                        <a:rPr lang="en-US" sz="750" b="1">
                          <a:solidFill>
                            <a:srgbClr val="221B28"/>
                          </a:solidFill>
                          <a:latin typeface="Times New Roman"/>
                        </a:rPr>
                        <a:t>3,699	23,155</a:t>
                      </a:r>
                    </a:p>
                  </a:txBody>
                  <a:tcPr marL="0" marR="0" marT="0" marB="0" anchor="b"/>
                </a:tc>
                <a:tc>
                  <a:txBody>
                    <a:bodyPr/>
                    <a:lstStyle/>
                    <a:p>
                      <a:pPr marL="0" marR="0" indent="0" algn="r"/>
                      <a:r>
                        <a:rPr lang="en-US" sz="750" b="1">
                          <a:latin typeface="Times New Roman"/>
                        </a:rPr>
                        <a:t>22,611</a:t>
                      </a:r>
                    </a:p>
                  </a:txBody>
                  <a:tcPr marL="0" marR="0" marT="0" marB="0" anchor="b"/>
                </a:tc>
                <a:extLst>
                  <a:ext uri="{0D108BD9-81ED-4DB2-BD59-A6C34878D82A}">
                    <a16:rowId xmlns:a16="http://schemas.microsoft.com/office/drawing/2014/main" val="10013"/>
                  </a:ext>
                </a:extLst>
              </a:tr>
              <a:tr h="246888">
                <a:tc vMerge="1">
                  <a:txBody>
                    <a:bodyPr/>
                    <a:lstStyle/>
                    <a:p>
                      <a:endParaRPr sz="1200"/>
                    </a:p>
                  </a:txBody>
                  <a:tcPr marL="0" marR="0" marT="0" marB="0"/>
                </a:tc>
                <a:tc>
                  <a:txBody>
                    <a:bodyPr/>
                    <a:lstStyle/>
                    <a:p>
                      <a:pPr marL="0" marR="0" indent="0">
                        <a:lnSpc>
                          <a:spcPct val="111000"/>
                        </a:lnSpc>
                      </a:pPr>
                      <a:r>
                        <a:rPr lang="en-US" sz="750">
                          <a:solidFill>
                            <a:srgbClr val="403C3D"/>
                          </a:solidFill>
                          <a:latin typeface="Arial"/>
                        </a:rPr>
                        <a:t>Net Book Value of Fixed Asato Debt on Fixed Assets</a:t>
                      </a:r>
                    </a:p>
                  </a:txBody>
                  <a:tcPr marL="0" marR="0" marT="0" marB="0" anchor="b"/>
                </a:tc>
                <a:tc>
                  <a:txBody>
                    <a:bodyPr/>
                    <a:lstStyle/>
                    <a:p>
                      <a:pPr marL="0" marR="0" indent="254000"/>
                      <a:r>
                        <a:rPr lang="en-US" sz="750">
                          <a:solidFill>
                            <a:srgbClr val="221B28"/>
                          </a:solidFill>
                          <a:latin typeface="Arial"/>
                        </a:rPr>
                        <a:t>21,554</a:t>
                      </a:r>
                    </a:p>
                  </a:txBody>
                  <a:tcPr marL="0" marR="0" marT="0" marB="0">
                    <a:solidFill>
                      <a:srgbClr val="FFCEAD"/>
                    </a:solidFill>
                  </a:tcPr>
                </a:tc>
                <a:tc>
                  <a:txBody>
                    <a:bodyPr/>
                    <a:lstStyle/>
                    <a:p>
                      <a:pPr marL="0" marR="0" indent="457200"/>
                      <a:r>
                        <a:rPr lang="en-US" sz="950">
                          <a:latin typeface="Arial"/>
                        </a:rPr>
                        <a:t>• Other Liabilities</a:t>
                      </a:r>
                    </a:p>
                  </a:txBody>
                  <a:tcPr marL="0" marR="0" marT="0" marB="0"/>
                </a:tc>
                <a:tc>
                  <a:txBody>
                    <a:bodyPr/>
                    <a:lstStyle/>
                    <a:p>
                      <a:pPr marL="0" marR="0" indent="0" defTabSz="633984">
                        <a:tabLst>
                          <a:tab pos="633984" algn="l"/>
                        </a:tabLst>
                      </a:pPr>
                      <a:r>
                        <a:rPr lang="en-US" sz="750">
                          <a:solidFill>
                            <a:srgbClr val="221B28"/>
                          </a:solidFill>
                          <a:latin typeface="Arial"/>
                        </a:rPr>
                        <a:t>23,699	23,155</a:t>
                      </a:r>
                    </a:p>
                  </a:txBody>
                  <a:tcPr marL="0" marR="0" marT="0" marB="0">
                    <a:solidFill>
                      <a:srgbClr val="FFCEAD"/>
                    </a:solidFill>
                  </a:tcPr>
                </a:tc>
                <a:tc>
                  <a:txBody>
                    <a:bodyPr/>
                    <a:lstStyle/>
                    <a:p>
                      <a:pPr marL="0" marR="0" indent="0" algn="r"/>
                      <a:r>
                        <a:rPr lang="en-US" sz="800" b="1">
                          <a:latin typeface="Arial"/>
                        </a:rPr>
                        <a:t>22,61:</a:t>
                      </a:r>
                    </a:p>
                  </a:txBody>
                  <a:tcPr marL="0" marR="0" marT="0" marB="0">
                    <a:solidFill>
                      <a:srgbClr val="00B3F5"/>
                    </a:solidFill>
                  </a:tcPr>
                </a:tc>
                <a:extLst>
                  <a:ext uri="{0D108BD9-81ED-4DB2-BD59-A6C34878D82A}">
                    <a16:rowId xmlns:a16="http://schemas.microsoft.com/office/drawing/2014/main" val="10014"/>
                  </a:ext>
                </a:extLst>
              </a:tr>
              <a:tr h="124968">
                <a:tc vMerge="1">
                  <a:txBody>
                    <a:bodyPr/>
                    <a:lstStyle/>
                    <a:p>
                      <a:endParaRPr sz="600"/>
                    </a:p>
                  </a:txBody>
                  <a:tcPr marL="0" marR="0" marT="0" marB="0"/>
                </a:tc>
                <a:tc>
                  <a:txBody>
                    <a:bodyPr/>
                    <a:lstStyle/>
                    <a:p>
                      <a:endParaRPr sz="600"/>
                    </a:p>
                  </a:txBody>
                  <a:tcPr marL="0" marR="0" marT="0" marB="0"/>
                </a:tc>
                <a:tc>
                  <a:txBody>
                    <a:bodyPr/>
                    <a:lstStyle/>
                    <a:p>
                      <a:endParaRPr sz="600"/>
                    </a:p>
                  </a:txBody>
                  <a:tcPr marL="0" marR="0" marT="0" marB="0"/>
                </a:tc>
                <a:tc>
                  <a:txBody>
                    <a:bodyPr/>
                    <a:lstStyle/>
                    <a:p>
                      <a:pPr marL="0" marR="0" indent="457200"/>
                      <a:r>
                        <a:rPr lang="en-US" sz="950">
                          <a:latin typeface="Arial"/>
                        </a:rPr>
                        <a:t>• </a:t>
                      </a:r>
                      <a:r>
                        <a:rPr lang="en-US" sz="950">
                          <a:solidFill>
                            <a:srgbClr val="221B28"/>
                          </a:solidFill>
                          <a:latin typeface="Arial"/>
                        </a:rPr>
                        <a:t>Net Book Value of Fixed </a:t>
                      </a:r>
                      <a:r>
                        <a:rPr lang="en-US" sz="950">
                          <a:latin typeface="Arial"/>
                        </a:rPr>
                        <a:t>Assets</a:t>
                      </a:r>
                    </a:p>
                  </a:txBody>
                  <a:tcPr marL="0" marR="0" marT="0" marB="0"/>
                </a:tc>
                <a:tc>
                  <a:txBody>
                    <a:bodyPr/>
                    <a:lstStyle/>
                    <a:p>
                      <a:endParaRPr sz="600"/>
                    </a:p>
                  </a:txBody>
                  <a:tcPr marL="0" marR="0" marT="0" marB="0"/>
                </a:tc>
                <a:tc>
                  <a:txBody>
                    <a:bodyPr/>
                    <a:lstStyle/>
                    <a:p>
                      <a:endParaRPr sz="600"/>
                    </a:p>
                  </a:txBody>
                  <a:tcPr marL="0" marR="0" marT="0" marB="0"/>
                </a:tc>
                <a:extLst>
                  <a:ext uri="{0D108BD9-81ED-4DB2-BD59-A6C34878D82A}">
                    <a16:rowId xmlns:a16="http://schemas.microsoft.com/office/drawing/2014/main" val="10015"/>
                  </a:ext>
                </a:extLst>
              </a:tr>
              <a:tr h="115824">
                <a:tc vMerge="1">
                  <a:txBody>
                    <a:bodyPr/>
                    <a:lstStyle/>
                    <a:p>
                      <a:endParaRPr sz="600"/>
                    </a:p>
                  </a:txBody>
                  <a:tcPr marL="0" marR="0" marT="0" marB="0"/>
                </a:tc>
                <a:tc>
                  <a:txBody>
                    <a:bodyPr/>
                    <a:lstStyle/>
                    <a:p>
                      <a:pPr marL="0" marR="0" indent="0"/>
                      <a:r>
                        <a:rPr lang="en-US" sz="800" b="1">
                          <a:solidFill>
                            <a:srgbClr val="221B28"/>
                          </a:solidFill>
                          <a:latin typeface="Arial"/>
                        </a:rPr>
                        <a:t>Duffer Capital</a:t>
                      </a:r>
                    </a:p>
                  </a:txBody>
                  <a:tcPr marL="0" marR="0" marT="0" marB="0" anchor="b"/>
                </a:tc>
                <a:tc>
                  <a:txBody>
                    <a:bodyPr/>
                    <a:lstStyle/>
                    <a:p>
                      <a:pPr marL="0" marR="0" indent="101600"/>
                      <a:r>
                        <a:rPr lang="en-US" sz="750" b="1">
                          <a:solidFill>
                            <a:srgbClr val="221B28"/>
                          </a:solidFill>
                          <a:latin typeface="Times New Roman"/>
                        </a:rPr>
                        <a:t>25B,347</a:t>
                      </a:r>
                    </a:p>
                  </a:txBody>
                  <a:tcPr marL="0" marR="0" marT="0" marB="0" anchor="b"/>
                </a:tc>
                <a:tc>
                  <a:txBody>
                    <a:bodyPr/>
                    <a:lstStyle/>
                    <a:p>
                      <a:endParaRPr sz="600"/>
                    </a:p>
                  </a:txBody>
                  <a:tcPr marL="0" marR="0" marT="0" marB="0"/>
                </a:tc>
                <a:tc>
                  <a:txBody>
                    <a:bodyPr/>
                    <a:lstStyle/>
                    <a:p>
                      <a:pPr marL="0" marR="0" indent="0" defTabSz="481584">
                        <a:tabLst>
                          <a:tab pos="481584" algn="l"/>
                        </a:tabLst>
                      </a:pPr>
                      <a:r>
                        <a:rPr lang="en-US" sz="750" b="1">
                          <a:solidFill>
                            <a:srgbClr val="221B28"/>
                          </a:solidFill>
                          <a:latin typeface="Times New Roman"/>
                        </a:rPr>
                        <a:t>9,571	426,B85</a:t>
                      </a:r>
                    </a:p>
                  </a:txBody>
                  <a:tcPr marL="0" marR="0" marT="0" marB="0" anchor="b"/>
                </a:tc>
                <a:tc>
                  <a:txBody>
                    <a:bodyPr/>
                    <a:lstStyle/>
                    <a:p>
                      <a:pPr marL="0" marR="0" indent="0" algn="r"/>
                      <a:r>
                        <a:rPr lang="en-US" sz="750" b="1">
                          <a:solidFill>
                            <a:srgbClr val="221B28"/>
                          </a:solidFill>
                          <a:latin typeface="Times New Roman"/>
                        </a:rPr>
                        <a:t>615,872</a:t>
                      </a:r>
                    </a:p>
                  </a:txBody>
                  <a:tcPr marL="0" marR="0" marT="0" marB="0" anchor="b"/>
                </a:tc>
                <a:extLst>
                  <a:ext uri="{0D108BD9-81ED-4DB2-BD59-A6C34878D82A}">
                    <a16:rowId xmlns:a16="http://schemas.microsoft.com/office/drawing/2014/main" val="10016"/>
                  </a:ext>
                </a:extLst>
              </a:tr>
              <a:tr h="246888">
                <a:tc vMerge="1">
                  <a:txBody>
                    <a:bodyPr/>
                    <a:lstStyle/>
                    <a:p>
                      <a:endParaRPr sz="1200"/>
                    </a:p>
                  </a:txBody>
                  <a:tcPr marL="0" marR="0" marT="0" marB="0"/>
                </a:tc>
                <a:tc rowSpan="2">
                  <a:txBody>
                    <a:bodyPr/>
                    <a:lstStyle/>
                    <a:p>
                      <a:pPr marL="0" marR="0" indent="0">
                        <a:lnSpc>
                          <a:spcPct val="115000"/>
                        </a:lnSpc>
                      </a:pPr>
                      <a:r>
                        <a:rPr lang="en-US" sz="750">
                          <a:solidFill>
                            <a:srgbClr val="403C3D"/>
                          </a:solidFill>
                          <a:latin typeface="Arial"/>
                        </a:rPr>
                        <a:t>cash LOC</a:t>
                      </a:r>
                    </a:p>
                  </a:txBody>
                  <a:tcPr marL="0" marR="0" marT="0" marB="0"/>
                </a:tc>
                <a:tc>
                  <a:txBody>
                    <a:bodyPr/>
                    <a:lstStyle/>
                    <a:p>
                      <a:pPr marL="0" marR="0" indent="177800"/>
                      <a:r>
                        <a:rPr lang="en-US" sz="750">
                          <a:solidFill>
                            <a:srgbClr val="221B28"/>
                          </a:solidFill>
                          <a:latin typeface="Arial"/>
                        </a:rPr>
                        <a:t>258,347</a:t>
                      </a:r>
                    </a:p>
                  </a:txBody>
                  <a:tcPr marL="0" marR="0" marT="0" marB="0">
                    <a:solidFill>
                      <a:srgbClr val="FFCEAD"/>
                    </a:solidFill>
                  </a:tcPr>
                </a:tc>
                <a:tc>
                  <a:txBody>
                    <a:bodyPr/>
                    <a:lstStyle/>
                    <a:p>
                      <a:pPr marL="0" marR="0" indent="457200">
                        <a:spcAft>
                          <a:spcPts val="280"/>
                        </a:spcAft>
                      </a:pPr>
                      <a:r>
                        <a:rPr lang="en-US" sz="650">
                          <a:latin typeface="Arial"/>
                        </a:rPr>
                        <a:t>• </a:t>
                      </a:r>
                      <a:r>
                        <a:rPr lang="en-US" sz="650">
                          <a:solidFill>
                            <a:srgbClr val="221B28"/>
                          </a:solidFill>
                          <a:latin typeface="Arial"/>
                        </a:rPr>
                        <a:t>DEOL On rlXeu </a:t>
                      </a:r>
                      <a:r>
                        <a:rPr lang="en-US" sz="650">
                          <a:latin typeface="Arial"/>
                        </a:rPr>
                        <a:t>ASSeiS</a:t>
                      </a:r>
                    </a:p>
                    <a:p>
                      <a:pPr marL="0" marR="0" indent="457200"/>
                      <a:r>
                        <a:rPr lang="en-US" sz="950">
                          <a:latin typeface="Arial"/>
                        </a:rPr>
                        <a:t>• Cash</a:t>
                      </a:r>
                    </a:p>
                  </a:txBody>
                  <a:tcPr marL="0" marR="0" marT="0" marB="0"/>
                </a:tc>
                <a:tc>
                  <a:txBody>
                    <a:bodyPr/>
                    <a:lstStyle/>
                    <a:p>
                      <a:pPr marL="0" marR="0" indent="0" defTabSz="579120">
                        <a:spcAft>
                          <a:spcPts val="280"/>
                        </a:spcAft>
                        <a:tabLst>
                          <a:tab pos="579120" algn="l"/>
                        </a:tabLst>
                      </a:pPr>
                      <a:r>
                        <a:rPr lang="en-US" sz="750">
                          <a:solidFill>
                            <a:srgbClr val="221B28"/>
                          </a:solidFill>
                          <a:latin typeface="Arial"/>
                        </a:rPr>
                        <a:t>39,571	426,385</a:t>
                      </a:r>
                    </a:p>
                    <a:p>
                      <a:pPr marL="0" marR="0" indent="177800"/>
                      <a:r>
                        <a:rPr lang="en-US" sz="750">
                          <a:solidFill>
                            <a:srgbClr val="5E5650"/>
                          </a:solidFill>
                          <a:latin typeface="Arial"/>
                        </a:rPr>
                        <a:t>■ '</a:t>
                      </a:r>
                    </a:p>
                  </a:txBody>
                  <a:tcPr marL="0" marR="0" marT="0" marB="0">
                    <a:solidFill>
                      <a:srgbClr val="FFCEAD"/>
                    </a:solidFill>
                  </a:tcPr>
                </a:tc>
                <a:tc>
                  <a:txBody>
                    <a:bodyPr/>
                    <a:lstStyle/>
                    <a:p>
                      <a:pPr marL="0" marR="0" indent="0" algn="r"/>
                      <a:r>
                        <a:rPr lang="en-US" sz="750">
                          <a:solidFill>
                            <a:srgbClr val="5E5650"/>
                          </a:solidFill>
                          <a:latin typeface="Arial"/>
                        </a:rPr>
                        <a:t>615,87;</a:t>
                      </a:r>
                    </a:p>
                  </a:txBody>
                  <a:tcPr marL="0" marR="0" marT="0" marB="0">
                    <a:solidFill>
                      <a:srgbClr val="00B3F5"/>
                    </a:solidFill>
                  </a:tcPr>
                </a:tc>
                <a:extLst>
                  <a:ext uri="{0D108BD9-81ED-4DB2-BD59-A6C34878D82A}">
                    <a16:rowId xmlns:a16="http://schemas.microsoft.com/office/drawing/2014/main" val="10017"/>
                  </a:ext>
                </a:extLst>
              </a:tr>
              <a:tr h="128016">
                <a:tc vMerge="1">
                  <a:txBody>
                    <a:bodyPr/>
                    <a:lstStyle/>
                    <a:p>
                      <a:endParaRPr sz="700"/>
                    </a:p>
                  </a:txBody>
                  <a:tcPr marL="0" marR="0" marT="0" marB="0"/>
                </a:tc>
                <a:tc vMerge="1">
                  <a:txBody>
                    <a:bodyPr/>
                    <a:lstStyle/>
                    <a:p>
                      <a:endParaRPr sz="700"/>
                    </a:p>
                  </a:txBody>
                  <a:tcPr marL="0" marR="0" marT="0" marB="0"/>
                </a:tc>
                <a:tc>
                  <a:txBody>
                    <a:bodyPr/>
                    <a:lstStyle/>
                    <a:p>
                      <a:endParaRPr sz="700"/>
                    </a:p>
                  </a:txBody>
                  <a:tcPr marL="0" marR="0" marT="0" marB="0"/>
                </a:tc>
                <a:tc>
                  <a:txBody>
                    <a:bodyPr/>
                    <a:lstStyle/>
                    <a:p>
                      <a:endParaRPr sz="700"/>
                    </a:p>
                  </a:txBody>
                  <a:tcPr marL="0" marR="0" marT="0" marB="0"/>
                </a:tc>
                <a:tc>
                  <a:txBody>
                    <a:bodyPr/>
                    <a:lstStyle/>
                    <a:p>
                      <a:endParaRPr sz="700"/>
                    </a:p>
                  </a:txBody>
                  <a:tcPr marL="0" marR="0" marT="0" marB="0"/>
                </a:tc>
                <a:tc>
                  <a:txBody>
                    <a:bodyPr/>
                    <a:lstStyle/>
                    <a:p>
                      <a:endParaRPr sz="700"/>
                    </a:p>
                  </a:txBody>
                  <a:tcPr marL="0" marR="0" marT="0" marB="0"/>
                </a:tc>
                <a:extLst>
                  <a:ext uri="{0D108BD9-81ED-4DB2-BD59-A6C34878D82A}">
                    <a16:rowId xmlns:a16="http://schemas.microsoft.com/office/drawing/2014/main" val="10018"/>
                  </a:ext>
                </a:extLst>
              </a:tr>
              <a:tr h="118872">
                <a:tc vMerge="1">
                  <a:txBody>
                    <a:bodyPr/>
                    <a:lstStyle/>
                    <a:p>
                      <a:endParaRPr sz="600"/>
                    </a:p>
                  </a:txBody>
                  <a:tcPr marL="0" marR="0" marT="0" marB="0"/>
                </a:tc>
                <a:tc>
                  <a:txBody>
                    <a:bodyPr/>
                    <a:lstStyle/>
                    <a:p>
                      <a:pPr marL="0" marR="0" indent="0"/>
                      <a:r>
                        <a:rPr lang="en-US" sz="800" b="1">
                          <a:solidFill>
                            <a:srgbClr val="221B28"/>
                          </a:solidFill>
                          <a:latin typeface="Arial"/>
                        </a:rPr>
                        <a:t>Equity</a:t>
                      </a:r>
                    </a:p>
                  </a:txBody>
                  <a:tcPr marL="0" marR="0" marT="0" marB="0" anchor="b"/>
                </a:tc>
                <a:tc>
                  <a:txBody>
                    <a:bodyPr/>
                    <a:lstStyle/>
                    <a:p>
                      <a:pPr marL="0" marR="0" indent="101600"/>
                      <a:r>
                        <a:rPr lang="en-US" sz="800" b="1">
                          <a:solidFill>
                            <a:srgbClr val="221B28"/>
                          </a:solidFill>
                          <a:latin typeface="Arial"/>
                        </a:rPr>
                        <a:t>697,050</a:t>
                      </a:r>
                    </a:p>
                  </a:txBody>
                  <a:tcPr marL="0" marR="0" marT="0" marB="0" anchor="b"/>
                </a:tc>
                <a:tc>
                  <a:txBody>
                    <a:bodyPr/>
                    <a:lstStyle/>
                    <a:p>
                      <a:pPr marL="0" marR="0" indent="457200"/>
                      <a:r>
                        <a:rPr lang="en-US" sz="600">
                          <a:latin typeface="Arial"/>
                        </a:rPr>
                        <a:t>• Lill IE UI LI EU IL</a:t>
                      </a:r>
                    </a:p>
                  </a:txBody>
                  <a:tcPr marL="0" marR="0" marT="0" marB="0"/>
                </a:tc>
                <a:tc>
                  <a:txBody>
                    <a:bodyPr/>
                    <a:lstStyle/>
                    <a:p>
                      <a:pPr marL="0" marR="0" indent="0" defTabSz="521208">
                        <a:tabLst>
                          <a:tab pos="521208" algn="l"/>
                        </a:tabLst>
                      </a:pPr>
                      <a:r>
                        <a:rPr lang="en-US" sz="800" b="1">
                          <a:solidFill>
                            <a:srgbClr val="221B28"/>
                          </a:solidFill>
                          <a:latin typeface="Arial"/>
                        </a:rPr>
                        <a:t>0,587	795,679</a:t>
                      </a:r>
                    </a:p>
                  </a:txBody>
                  <a:tcPr marL="0" marR="0" marT="0" marB="0" anchor="b"/>
                </a:tc>
                <a:tc>
                  <a:txBody>
                    <a:bodyPr/>
                    <a:lstStyle/>
                    <a:p>
                      <a:pPr marL="0" marR="0" indent="0" algn="r"/>
                      <a:r>
                        <a:rPr lang="en-US" sz="800" b="1">
                          <a:solidFill>
                            <a:srgbClr val="221B28"/>
                          </a:solidFill>
                          <a:latin typeface="Arial"/>
                        </a:rPr>
                        <a:t>709,269</a:t>
                      </a:r>
                    </a:p>
                  </a:txBody>
                  <a:tcPr marL="0" marR="0" marT="0" marB="0" anchor="b"/>
                </a:tc>
                <a:extLst>
                  <a:ext uri="{0D108BD9-81ED-4DB2-BD59-A6C34878D82A}">
                    <a16:rowId xmlns:a16="http://schemas.microsoft.com/office/drawing/2014/main" val="10019"/>
                  </a:ext>
                </a:extLst>
              </a:tr>
              <a:tr h="115824">
                <a:tc vMerge="1">
                  <a:txBody>
                    <a:bodyPr/>
                    <a:lstStyle/>
                    <a:p>
                      <a:endParaRPr sz="600"/>
                    </a:p>
                  </a:txBody>
                  <a:tcPr marL="0" marR="0" marT="0" marB="0"/>
                </a:tc>
                <a:tc>
                  <a:txBody>
                    <a:bodyPr/>
                    <a:lstStyle/>
                    <a:p>
                      <a:pPr marL="0" marR="0" indent="0"/>
                      <a:r>
                        <a:rPr lang="en-US" sz="750">
                          <a:solidFill>
                            <a:srgbClr val="403C3D"/>
                          </a:solidFill>
                          <a:latin typeface="Arial"/>
                        </a:rPr>
                        <a:t>Starting Equity</a:t>
                      </a:r>
                    </a:p>
                  </a:txBody>
                  <a:tcPr marL="0" marR="0" marT="0" marB="0" anchor="b"/>
                </a:tc>
                <a:tc>
                  <a:txBody>
                    <a:bodyPr/>
                    <a:lstStyle/>
                    <a:p>
                      <a:pPr marL="0" marR="0" indent="177800"/>
                      <a:r>
                        <a:rPr lang="en-US" sz="750">
                          <a:solidFill>
                            <a:srgbClr val="403C3D"/>
                          </a:solidFill>
                          <a:latin typeface="Arial"/>
                        </a:rPr>
                        <a:t>708,866</a:t>
                      </a:r>
                    </a:p>
                  </a:txBody>
                  <a:tcPr marL="0" marR="0" marT="0" marB="0" anchor="b"/>
                </a:tc>
                <a:tc>
                  <a:txBody>
                    <a:bodyPr/>
                    <a:lstStyle/>
                    <a:p>
                      <a:endParaRPr sz="600"/>
                    </a:p>
                  </a:txBody>
                  <a:tcPr marL="0" marR="0" marT="0" marB="0"/>
                </a:tc>
                <a:tc>
                  <a:txBody>
                    <a:bodyPr/>
                    <a:lstStyle/>
                    <a:p>
                      <a:pPr marL="0" marR="0" indent="0" defTabSz="588264">
                        <a:tabLst>
                          <a:tab pos="588264" algn="l"/>
                        </a:tabLst>
                      </a:pPr>
                      <a:r>
                        <a:rPr lang="en-US" sz="750">
                          <a:solidFill>
                            <a:srgbClr val="403C3D"/>
                          </a:solidFill>
                          <a:latin typeface="Arial"/>
                        </a:rPr>
                        <a:t>76,977	760,587</a:t>
                      </a:r>
                    </a:p>
                  </a:txBody>
                  <a:tcPr marL="0" marR="0" marT="0" marB="0" anchor="b"/>
                </a:tc>
                <a:tc>
                  <a:txBody>
                    <a:bodyPr/>
                    <a:lstStyle/>
                    <a:p>
                      <a:pPr marL="0" marR="0" indent="0" algn="r"/>
                      <a:r>
                        <a:rPr lang="en-US" sz="750">
                          <a:solidFill>
                            <a:srgbClr val="403C3D"/>
                          </a:solidFill>
                          <a:latin typeface="Arial"/>
                        </a:rPr>
                        <a:t>795,67!</a:t>
                      </a:r>
                    </a:p>
                  </a:txBody>
                  <a:tcPr marL="0" marR="0" marT="0" marB="0" anchor="b"/>
                </a:tc>
                <a:extLst>
                  <a:ext uri="{0D108BD9-81ED-4DB2-BD59-A6C34878D82A}">
                    <a16:rowId xmlns:a16="http://schemas.microsoft.com/office/drawing/2014/main" val="10020"/>
                  </a:ext>
                </a:extLst>
              </a:tr>
              <a:tr h="124968">
                <a:tc vMerge="1">
                  <a:txBody>
                    <a:bodyPr/>
                    <a:lstStyle/>
                    <a:p>
                      <a:endParaRPr sz="600"/>
                    </a:p>
                  </a:txBody>
                  <a:tcPr marL="0" marR="0" marT="0" marB="0"/>
                </a:tc>
                <a:tc>
                  <a:txBody>
                    <a:bodyPr/>
                    <a:lstStyle/>
                    <a:p>
                      <a:pPr marL="0" marR="0" indent="0"/>
                      <a:r>
                        <a:rPr lang="en-US" sz="750">
                          <a:solidFill>
                            <a:srgbClr val="403C3D"/>
                          </a:solidFill>
                          <a:latin typeface="Arial"/>
                        </a:rPr>
                        <a:t>Profit (Loss)</a:t>
                      </a:r>
                    </a:p>
                  </a:txBody>
                  <a:tcPr marL="0" marR="0" marT="0" marB="0" anchor="b"/>
                </a:tc>
                <a:tc>
                  <a:txBody>
                    <a:bodyPr/>
                    <a:lstStyle/>
                    <a:p>
                      <a:pPr marL="0" marR="0" indent="203200"/>
                      <a:r>
                        <a:rPr lang="en-US" sz="750">
                          <a:solidFill>
                            <a:srgbClr val="403C3D"/>
                          </a:solidFill>
                          <a:latin typeface="Arial"/>
                        </a:rPr>
                        <a:t>(11,016)</a:t>
                      </a:r>
                    </a:p>
                  </a:txBody>
                  <a:tcPr marL="0" marR="0" marT="0" marB="0" anchor="b"/>
                </a:tc>
                <a:tc>
                  <a:txBody>
                    <a:bodyPr/>
                    <a:lstStyle/>
                    <a:p>
                      <a:endParaRPr sz="600"/>
                    </a:p>
                  </a:txBody>
                  <a:tcPr marL="0" marR="0" marT="0" marB="0"/>
                </a:tc>
                <a:tc>
                  <a:txBody>
                    <a:bodyPr/>
                    <a:lstStyle/>
                    <a:p>
                      <a:pPr marL="0" marR="0" indent="0" defTabSz="643128">
                        <a:tabLst>
                          <a:tab pos="643128" algn="l"/>
                        </a:tabLst>
                      </a:pPr>
                      <a:r>
                        <a:rPr lang="en-US" sz="750">
                          <a:solidFill>
                            <a:srgbClr val="403C3D"/>
                          </a:solidFill>
                          <a:latin typeface="Arial"/>
                        </a:rPr>
                        <a:t>83,610	35,092</a:t>
                      </a:r>
                    </a:p>
                  </a:txBody>
                  <a:tcPr marL="0" marR="0" marT="0" marB="0" anchor="b"/>
                </a:tc>
                <a:tc>
                  <a:txBody>
                    <a:bodyPr/>
                    <a:lstStyle/>
                    <a:p>
                      <a:pPr marL="0" marR="0" indent="0" algn="r"/>
                      <a:r>
                        <a:rPr lang="en-US" sz="750">
                          <a:solidFill>
                            <a:srgbClr val="403C3D"/>
                          </a:solidFill>
                          <a:latin typeface="Arial"/>
                        </a:rPr>
                        <a:t>(86,4 </a:t>
                      </a:r>
                      <a:r>
                        <a:rPr lang="ru" sz="750">
                          <a:solidFill>
                            <a:srgbClr val="403C3D"/>
                          </a:solidFill>
                          <a:latin typeface="Arial"/>
                        </a:rPr>
                        <a:t>К</a:t>
                      </a:r>
                    </a:p>
                  </a:txBody>
                  <a:tcPr marL="0" marR="0" marT="0" marB="0" anchor="b"/>
                </a:tc>
                <a:extLst>
                  <a:ext uri="{0D108BD9-81ED-4DB2-BD59-A6C34878D82A}">
                    <a16:rowId xmlns:a16="http://schemas.microsoft.com/office/drawing/2014/main" val="10021"/>
                  </a:ext>
                </a:extLst>
              </a:tr>
              <a:tr h="170688">
                <a:tc vMerge="1">
                  <a:txBody>
                    <a:bodyPr/>
                    <a:lstStyle/>
                    <a:p>
                      <a:endParaRPr sz="900"/>
                    </a:p>
                  </a:txBody>
                  <a:tcPr marL="0" marR="0" marT="0" marB="0"/>
                </a:tc>
                <a:tc>
                  <a:txBody>
                    <a:bodyPr/>
                    <a:lstStyle/>
                    <a:p>
                      <a:pPr marL="0" marR="0" indent="0"/>
                      <a:r>
                        <a:rPr lang="en-US" sz="750">
                          <a:solidFill>
                            <a:srgbClr val="403C3D"/>
                          </a:solidFill>
                          <a:latin typeface="Arial"/>
                        </a:rPr>
                        <a:t>Contribution (Distribution)</a:t>
                      </a:r>
                    </a:p>
                  </a:txBody>
                  <a:tcPr marL="0" marR="0" marT="0" marB="0"/>
                </a:tc>
                <a:tc>
                  <a:txBody>
                    <a:bodyPr/>
                    <a:lstStyle/>
                    <a:p>
                      <a:pPr marL="0" marR="0" indent="469900"/>
                      <a:r>
                        <a:rPr lang="en-US" sz="750">
                          <a:solidFill>
                            <a:srgbClr val="5E5650"/>
                          </a:solidFill>
                          <a:latin typeface="Arial"/>
                        </a:rPr>
                        <a:t>(0}</a:t>
                      </a:r>
                    </a:p>
                  </a:txBody>
                  <a:tcPr marL="0" marR="0" marT="0" marB="0"/>
                </a:tc>
                <a:tc>
                  <a:txBody>
                    <a:bodyPr/>
                    <a:lstStyle/>
                    <a:p>
                      <a:endParaRPr sz="900"/>
                    </a:p>
                  </a:txBody>
                  <a:tcPr marL="0" marR="0" marT="0" marB="0"/>
                </a:tc>
                <a:tc>
                  <a:txBody>
                    <a:bodyPr/>
                    <a:lstStyle/>
                    <a:p>
                      <a:pPr marL="0" marR="0" indent="0" algn="r" defTabSz="688848">
                        <a:tabLst>
                          <a:tab pos="688848" algn="l"/>
                        </a:tabLst>
                      </a:pPr>
                      <a:r>
                        <a:rPr lang="en-US" sz="750">
                          <a:solidFill>
                            <a:srgbClr val="5E5650"/>
                          </a:solidFill>
                          <a:latin typeface="Arial"/>
                        </a:rPr>
                        <a:t>(0)	0</a:t>
                      </a:r>
                    </a:p>
                  </a:txBody>
                  <a:tcPr marL="0" marR="0" marT="0" marB="0"/>
                </a:tc>
                <a:tc>
                  <a:txBody>
                    <a:bodyPr/>
                    <a:lstStyle/>
                    <a:p>
                      <a:endParaRPr sz="900"/>
                    </a:p>
                  </a:txBody>
                  <a:tcPr marL="0" marR="0" marT="0" marB="0">
                    <a:solidFill>
                      <a:srgbClr val="00B3F5"/>
                    </a:solidFill>
                  </a:tcPr>
                </a:tc>
                <a:extLst>
                  <a:ext uri="{0D108BD9-81ED-4DB2-BD59-A6C34878D82A}">
                    <a16:rowId xmlns:a16="http://schemas.microsoft.com/office/drawing/2014/main" val="10022"/>
                  </a:ext>
                </a:extLst>
              </a:tr>
            </a:tbl>
          </a:graphicData>
        </a:graphic>
      </p:graphicFrame>
      <p:sp>
        <p:nvSpPr>
          <p:cNvPr id="4" name="Прямоугольник 3"/>
          <p:cNvSpPr/>
          <p:nvPr/>
        </p:nvSpPr>
        <p:spPr>
          <a:xfrm>
            <a:off x="1170432" y="5897880"/>
            <a:ext cx="7269480" cy="664464"/>
          </a:xfrm>
          <a:prstGeom prst="rect">
            <a:avLst/>
          </a:prstGeom>
          <a:solidFill>
            <a:srgbClr val="FFFFFF"/>
          </a:solidFill>
        </p:spPr>
        <p:txBody>
          <a:bodyPr lIns="0" tIns="0" rIns="0" bIns="0">
            <a:noAutofit/>
          </a:bodyPr>
          <a:lstStyle/>
          <a:p>
            <a:pPr marL="0" marR="0" indent="0">
              <a:lnSpc>
                <a:spcPct val="97000"/>
              </a:lnSpc>
            </a:pPr>
            <a:r>
              <a:rPr lang="en-US" sz="2400">
                <a:latin typeface="Calibri"/>
              </a:rPr>
              <a:t>Use Traditional Balance Sheet Template to convert input to the Simple Numbers Balance Sheet if needed.</a:t>
            </a: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4645152" y="2511552"/>
            <a:ext cx="4044696" cy="2471928"/>
          </a:xfrm>
          <a:prstGeom prst="rect">
            <a:avLst/>
          </a:prstGeom>
        </p:spPr>
      </p:pic>
      <p:sp>
        <p:nvSpPr>
          <p:cNvPr id="3" name="Прямоугольник 2"/>
          <p:cNvSpPr/>
          <p:nvPr/>
        </p:nvSpPr>
        <p:spPr>
          <a:xfrm>
            <a:off x="551688" y="356616"/>
            <a:ext cx="7488936" cy="463296"/>
          </a:xfrm>
          <a:prstGeom prst="rect">
            <a:avLst/>
          </a:prstGeom>
          <a:solidFill>
            <a:srgbClr val="FFFFFF"/>
          </a:solidFill>
        </p:spPr>
        <p:txBody>
          <a:bodyPr wrap="none" lIns="0" tIns="0" rIns="0" bIns="0">
            <a:noAutofit/>
          </a:bodyPr>
          <a:lstStyle/>
          <a:p>
            <a:pPr marL="0" marR="0" indent="0"/>
            <a:r>
              <a:rPr lang="en-US" sz="3600">
                <a:solidFill>
                  <a:srgbClr val="DC5B2B"/>
                </a:solidFill>
                <a:latin typeface="Arial"/>
              </a:rPr>
              <a:t>Step Three: Revenue and GM% (PL)</a:t>
            </a:r>
          </a:p>
        </p:txBody>
      </p:sp>
      <p:sp>
        <p:nvSpPr>
          <p:cNvPr id="4" name="Прямоугольник 3"/>
          <p:cNvSpPr/>
          <p:nvPr/>
        </p:nvSpPr>
        <p:spPr>
          <a:xfrm>
            <a:off x="548640" y="1706880"/>
            <a:ext cx="103632" cy="405384"/>
          </a:xfrm>
          <a:prstGeom prst="rect">
            <a:avLst/>
          </a:prstGeom>
          <a:solidFill>
            <a:srgbClr val="FFFFFF"/>
          </a:solidFill>
        </p:spPr>
        <p:txBody>
          <a:bodyPr lIns="0" tIns="0" rIns="0" bIns="0">
            <a:noAutofit/>
          </a:bodyPr>
          <a:lstStyle/>
          <a:p>
            <a:pPr marL="0" marR="0" indent="0" algn="just"/>
            <a:r>
              <a:rPr lang="en-US" sz="1100">
                <a:solidFill>
                  <a:srgbClr val="DC5B2B"/>
                </a:solidFill>
                <a:latin typeface="Arial"/>
              </a:rPr>
              <a:t>■</a:t>
            </a:r>
          </a:p>
          <a:p>
            <a:pPr marL="0" marR="0" indent="0" algn="just"/>
            <a:r>
              <a:rPr lang="en-US" sz="1100">
                <a:solidFill>
                  <a:srgbClr val="DC5B2B"/>
                </a:solidFill>
                <a:latin typeface="Arial"/>
              </a:rPr>
              <a:t>■</a:t>
            </a:r>
          </a:p>
        </p:txBody>
      </p:sp>
      <p:sp>
        <p:nvSpPr>
          <p:cNvPr id="5" name="Прямоугольник 4"/>
          <p:cNvSpPr/>
          <p:nvPr/>
        </p:nvSpPr>
        <p:spPr>
          <a:xfrm>
            <a:off x="548640" y="2859024"/>
            <a:ext cx="103632" cy="103632"/>
          </a:xfrm>
          <a:prstGeom prst="rect">
            <a:avLst/>
          </a:prstGeom>
          <a:solidFill>
            <a:srgbClr val="FFFFFF"/>
          </a:solidFill>
        </p:spPr>
        <p:txBody>
          <a:bodyPr wrap="none" lIns="0" tIns="0" rIns="0" bIns="0">
            <a:noAutofit/>
          </a:bodyPr>
          <a:lstStyle/>
          <a:p>
            <a:pPr marL="0" marR="0" indent="0" algn="just"/>
            <a:r>
              <a:rPr lang="en-US" sz="1100">
                <a:solidFill>
                  <a:srgbClr val="DC5B2B"/>
                </a:solidFill>
                <a:latin typeface="Arial"/>
              </a:rPr>
              <a:t>■</a:t>
            </a:r>
          </a:p>
        </p:txBody>
      </p:sp>
      <p:sp>
        <p:nvSpPr>
          <p:cNvPr id="6" name="Прямоугольник 5"/>
          <p:cNvSpPr/>
          <p:nvPr/>
        </p:nvSpPr>
        <p:spPr>
          <a:xfrm>
            <a:off x="871728" y="1658112"/>
            <a:ext cx="3523488" cy="4346448"/>
          </a:xfrm>
          <a:prstGeom prst="rect">
            <a:avLst/>
          </a:prstGeom>
          <a:solidFill>
            <a:srgbClr val="FFFFFF"/>
          </a:solidFill>
        </p:spPr>
        <p:txBody>
          <a:bodyPr lIns="0" tIns="0" rIns="0" bIns="0">
            <a:noAutofit/>
          </a:bodyPr>
          <a:lstStyle/>
          <a:p>
            <a:pPr marL="0" marR="0" indent="7112">
              <a:lnSpc>
                <a:spcPct val="94000"/>
              </a:lnSpc>
            </a:pPr>
            <a:r>
              <a:rPr lang="en-US" sz="1800">
                <a:latin typeface="Arial"/>
              </a:rPr>
              <a:t>Forecast Revenues</a:t>
            </a:r>
          </a:p>
          <a:p>
            <a:pPr marL="0" marR="0" indent="7112">
              <a:lnSpc>
                <a:spcPct val="94000"/>
              </a:lnSpc>
            </a:pPr>
            <a:r>
              <a:rPr lang="en-US" sz="1800">
                <a:latin typeface="Arial"/>
              </a:rPr>
              <a:t>Next 90 Days</a:t>
            </a:r>
          </a:p>
          <a:p>
            <a:pPr marL="377512" marR="0" indent="-279400" algn="just" defTabSz="648784">
              <a:lnSpc>
                <a:spcPct val="118000"/>
              </a:lnSpc>
              <a:tabLst>
                <a:tab pos="648784" algn="l"/>
              </a:tabLst>
            </a:pPr>
            <a:r>
              <a:rPr lang="en-US" sz="1100">
                <a:solidFill>
                  <a:srgbClr val="DC5B2B"/>
                </a:solidFill>
                <a:latin typeface="Arial"/>
              </a:rPr>
              <a:t>■</a:t>
            </a:r>
            <a:r>
              <a:rPr lang="en-US" sz="1800">
                <a:latin typeface="Arial"/>
              </a:rPr>
              <a:t>	What is immediate impact to revenues?</a:t>
            </a:r>
          </a:p>
          <a:p>
            <a:pPr marL="0" marR="0" indent="7112" algn="just">
              <a:lnSpc>
                <a:spcPct val="94000"/>
              </a:lnSpc>
            </a:pPr>
            <a:r>
              <a:rPr lang="en-US" sz="1800">
                <a:latin typeface="Arial"/>
              </a:rPr>
              <a:t>After Initial 90 Days</a:t>
            </a:r>
          </a:p>
          <a:p>
            <a:pPr marL="377512" marR="0" indent="-279400" algn="just" defTabSz="648784">
              <a:lnSpc>
                <a:spcPct val="115000"/>
              </a:lnSpc>
              <a:tabLst>
                <a:tab pos="648784" algn="l"/>
              </a:tabLst>
            </a:pPr>
            <a:r>
              <a:rPr lang="en-US" sz="1100">
                <a:solidFill>
                  <a:srgbClr val="DC5B2B"/>
                </a:solidFill>
                <a:latin typeface="Arial"/>
              </a:rPr>
              <a:t>■</a:t>
            </a:r>
            <a:r>
              <a:rPr lang="en-US" sz="1800">
                <a:latin typeface="Arial"/>
              </a:rPr>
              <a:t>	Will revenue pop back up to normal operations?</a:t>
            </a:r>
          </a:p>
          <a:p>
            <a:pPr marL="377512" marR="0" indent="-279400" algn="just" defTabSz="648784">
              <a:lnSpc>
                <a:spcPct val="118000"/>
              </a:lnSpc>
              <a:tabLst>
                <a:tab pos="648784" algn="l"/>
              </a:tabLst>
            </a:pPr>
            <a:r>
              <a:rPr lang="en-US" sz="1100">
                <a:solidFill>
                  <a:srgbClr val="DC5B2B"/>
                </a:solidFill>
                <a:latin typeface="Arial"/>
              </a:rPr>
              <a:t>■</a:t>
            </a:r>
            <a:r>
              <a:rPr lang="en-US" sz="1800">
                <a:latin typeface="Arial"/>
              </a:rPr>
              <a:t>	Will revenue slowly creep back up?</a:t>
            </a:r>
          </a:p>
          <a:p>
            <a:pPr marL="377512" marR="0" indent="-279400" algn="just" defTabSz="648784">
              <a:lnSpc>
                <a:spcPct val="115000"/>
              </a:lnSpc>
              <a:tabLst>
                <a:tab pos="648784" algn="l"/>
              </a:tabLst>
            </a:pPr>
            <a:r>
              <a:rPr lang="en-US" sz="1100">
                <a:solidFill>
                  <a:srgbClr val="DC5B2B"/>
                </a:solidFill>
                <a:latin typeface="Arial"/>
              </a:rPr>
              <a:t>■</a:t>
            </a:r>
            <a:r>
              <a:rPr lang="en-US" sz="1800">
                <a:latin typeface="Arial"/>
              </a:rPr>
              <a:t>	What is long term affects on your industry and company?</a:t>
            </a:r>
          </a:p>
          <a:p>
            <a:pPr marL="377512" marR="0" indent="-279400" algn="just" defTabSz="648784">
              <a:lnSpc>
                <a:spcPct val="115000"/>
              </a:lnSpc>
              <a:tabLst>
                <a:tab pos="648784" algn="l"/>
              </a:tabLst>
            </a:pPr>
            <a:r>
              <a:rPr lang="en-US" sz="1100">
                <a:solidFill>
                  <a:srgbClr val="DC5B2B"/>
                </a:solidFill>
                <a:latin typeface="Arial"/>
              </a:rPr>
              <a:t>■</a:t>
            </a:r>
            <a:r>
              <a:rPr lang="en-US" sz="1800">
                <a:latin typeface="Arial"/>
              </a:rPr>
              <a:t>	What are affects to your competition?</a:t>
            </a:r>
          </a:p>
          <a:p>
            <a:pPr marL="377512" marR="0" indent="-279400" algn="just" defTabSz="648784">
              <a:lnSpc>
                <a:spcPct val="94000"/>
              </a:lnSpc>
              <a:tabLst>
                <a:tab pos="648784" algn="l"/>
              </a:tabLst>
            </a:pPr>
            <a:r>
              <a:rPr lang="en-US" sz="1100">
                <a:solidFill>
                  <a:srgbClr val="DC5B2B"/>
                </a:solidFill>
                <a:latin typeface="Arial"/>
              </a:rPr>
              <a:t>■</a:t>
            </a:r>
            <a:r>
              <a:rPr lang="en-US" sz="1800">
                <a:latin typeface="Arial"/>
              </a:rPr>
              <a:t>	Are there opportunities we can prepare for now to profit on ater?</a:t>
            </a: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5596128" y="2791968"/>
            <a:ext cx="2142744" cy="2142744"/>
          </a:xfrm>
          <a:prstGeom prst="rect">
            <a:avLst/>
          </a:prstGeom>
        </p:spPr>
      </p:pic>
      <p:sp>
        <p:nvSpPr>
          <p:cNvPr id="3" name="Прямоугольник 2"/>
          <p:cNvSpPr/>
          <p:nvPr/>
        </p:nvSpPr>
        <p:spPr>
          <a:xfrm>
            <a:off x="551688" y="411480"/>
            <a:ext cx="6263640" cy="463296"/>
          </a:xfrm>
          <a:prstGeom prst="rect">
            <a:avLst/>
          </a:prstGeom>
          <a:solidFill>
            <a:srgbClr val="FFFFFF"/>
          </a:solidFill>
        </p:spPr>
        <p:txBody>
          <a:bodyPr wrap="none" lIns="0" tIns="0" rIns="0" bIns="0">
            <a:noAutofit/>
          </a:bodyPr>
          <a:lstStyle/>
          <a:p>
            <a:pPr marL="0" marR="0" indent="0"/>
            <a:r>
              <a:rPr lang="en-US" sz="3600">
                <a:solidFill>
                  <a:srgbClr val="DC5B2B"/>
                </a:solidFill>
                <a:latin typeface="Arial"/>
              </a:rPr>
              <a:t>Step Four: </a:t>
            </a:r>
            <a:r>
              <a:rPr lang="en-US" sz="2800">
                <a:solidFill>
                  <a:srgbClr val="DC5B2B"/>
                </a:solidFill>
                <a:latin typeface="Arial"/>
              </a:rPr>
              <a:t>Operating Expenses (PL)</a:t>
            </a:r>
          </a:p>
        </p:txBody>
      </p:sp>
      <p:sp>
        <p:nvSpPr>
          <p:cNvPr id="4" name="Прямоугольник 3"/>
          <p:cNvSpPr/>
          <p:nvPr/>
        </p:nvSpPr>
        <p:spPr>
          <a:xfrm>
            <a:off x="551688" y="1691640"/>
            <a:ext cx="3797808" cy="3688080"/>
          </a:xfrm>
          <a:prstGeom prst="rect">
            <a:avLst/>
          </a:prstGeom>
          <a:solidFill>
            <a:srgbClr val="FFFFFF"/>
          </a:solidFill>
        </p:spPr>
        <p:txBody>
          <a:bodyPr lIns="0" tIns="0" rIns="0" bIns="0">
            <a:noAutofit/>
          </a:bodyPr>
          <a:lstStyle/>
          <a:p>
            <a:pPr marL="0" marR="0" indent="0" defTabSz="341376">
              <a:spcAft>
                <a:spcPts val="2240"/>
              </a:spcAft>
              <a:tabLst>
                <a:tab pos="341376" algn="l"/>
              </a:tabLst>
            </a:pPr>
            <a:r>
              <a:rPr lang="en-US" sz="1300">
                <a:solidFill>
                  <a:srgbClr val="DC5B2B"/>
                </a:solidFill>
                <a:latin typeface="Arial"/>
              </a:rPr>
              <a:t>■</a:t>
            </a:r>
            <a:r>
              <a:rPr lang="en-US" sz="2000">
                <a:latin typeface="Arial"/>
              </a:rPr>
              <a:t>	Forecast operating expenses</a:t>
            </a:r>
          </a:p>
          <a:p>
            <a:pPr marL="291152" marR="0" indent="-330200" defTabSz="632528">
              <a:spcAft>
                <a:spcPts val="2240"/>
              </a:spcAft>
              <a:tabLst>
                <a:tab pos="632528" algn="l"/>
              </a:tabLst>
            </a:pPr>
            <a:r>
              <a:rPr lang="en-US" sz="1300">
                <a:solidFill>
                  <a:srgbClr val="DC5B2B"/>
                </a:solidFill>
                <a:latin typeface="Arial"/>
              </a:rPr>
              <a:t>■</a:t>
            </a:r>
            <a:r>
              <a:rPr lang="en-US" sz="2000">
                <a:latin typeface="Arial"/>
              </a:rPr>
              <a:t>	What operating expenses can we reduce without effecting future operations? What can we eliminate altogether?</a:t>
            </a:r>
          </a:p>
          <a:p>
            <a:pPr marL="0" marR="0" indent="0" defTabSz="341376">
              <a:spcAft>
                <a:spcPts val="210"/>
              </a:spcAft>
              <a:tabLst>
                <a:tab pos="341376" algn="l"/>
              </a:tabLst>
            </a:pPr>
            <a:r>
              <a:rPr lang="en-US" sz="1300">
                <a:solidFill>
                  <a:srgbClr val="DC5B2B"/>
                </a:solidFill>
                <a:latin typeface="Arial"/>
              </a:rPr>
              <a:t>■</a:t>
            </a:r>
            <a:r>
              <a:rPr lang="en-US" sz="2000">
                <a:latin typeface="Arial"/>
              </a:rPr>
              <a:t>	Lease </a:t>
            </a:r>
            <a:r>
              <a:rPr lang="ru" sz="2000">
                <a:latin typeface="Arial"/>
              </a:rPr>
              <a:t>/ </a:t>
            </a:r>
            <a:r>
              <a:rPr lang="en-US" sz="2000">
                <a:latin typeface="Arial"/>
              </a:rPr>
              <a:t>Rent Expenses</a:t>
            </a:r>
          </a:p>
          <a:p>
            <a:pPr marL="0" marR="0" indent="0" defTabSz="341376">
              <a:spcAft>
                <a:spcPts val="210"/>
              </a:spcAft>
              <a:tabLst>
                <a:tab pos="341376" algn="l"/>
              </a:tabLst>
            </a:pPr>
            <a:r>
              <a:rPr lang="en-US" sz="1300">
                <a:solidFill>
                  <a:srgbClr val="DC5B2B"/>
                </a:solidFill>
                <a:latin typeface="Arial"/>
              </a:rPr>
              <a:t>■</a:t>
            </a:r>
            <a:r>
              <a:rPr lang="en-US" sz="2000">
                <a:latin typeface="Arial"/>
              </a:rPr>
              <a:t>	Marketing</a:t>
            </a:r>
          </a:p>
          <a:p>
            <a:pPr marL="291152" marR="0" indent="-330200" defTabSz="632528">
              <a:tabLst>
                <a:tab pos="632528" algn="l"/>
              </a:tabLst>
            </a:pPr>
            <a:r>
              <a:rPr lang="en-US" sz="1300">
                <a:solidFill>
                  <a:srgbClr val="DC5B2B"/>
                </a:solidFill>
                <a:latin typeface="Arial"/>
              </a:rPr>
              <a:t>■</a:t>
            </a:r>
            <a:r>
              <a:rPr lang="en-US" sz="2000">
                <a:latin typeface="Arial"/>
              </a:rPr>
              <a:t>	Management Labor reductions or temporary decrease in pay</a:t>
            </a: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457200" y="2615184"/>
            <a:ext cx="4041648" cy="3069336"/>
          </a:xfrm>
          <a:prstGeom prst="rect">
            <a:avLst/>
          </a:prstGeom>
        </p:spPr>
      </p:pic>
      <p:sp>
        <p:nvSpPr>
          <p:cNvPr id="3" name="Прямоугольник 2"/>
          <p:cNvSpPr/>
          <p:nvPr/>
        </p:nvSpPr>
        <p:spPr>
          <a:xfrm>
            <a:off x="551688" y="356616"/>
            <a:ext cx="5666232" cy="463296"/>
          </a:xfrm>
          <a:prstGeom prst="rect">
            <a:avLst/>
          </a:prstGeom>
          <a:solidFill>
            <a:srgbClr val="FFFFFF"/>
          </a:solidFill>
        </p:spPr>
        <p:txBody>
          <a:bodyPr wrap="none" lIns="0" tIns="0" rIns="0" bIns="0">
            <a:noAutofit/>
          </a:bodyPr>
          <a:lstStyle/>
          <a:p>
            <a:pPr marL="0" marR="0" indent="0"/>
            <a:r>
              <a:rPr lang="en-US" sz="3600">
                <a:solidFill>
                  <a:srgbClr val="DC5B2B"/>
                </a:solidFill>
                <a:latin typeface="Arial"/>
              </a:rPr>
              <a:t>Step Five: Direct Labor (PL)</a:t>
            </a:r>
          </a:p>
        </p:txBody>
      </p:sp>
      <p:sp>
        <p:nvSpPr>
          <p:cNvPr id="4" name="Прямоугольник 3"/>
          <p:cNvSpPr/>
          <p:nvPr/>
        </p:nvSpPr>
        <p:spPr>
          <a:xfrm>
            <a:off x="4742688" y="2279904"/>
            <a:ext cx="3605784" cy="3550920"/>
          </a:xfrm>
          <a:prstGeom prst="rect">
            <a:avLst/>
          </a:prstGeom>
          <a:solidFill>
            <a:srgbClr val="FFFFFF"/>
          </a:solidFill>
        </p:spPr>
        <p:txBody>
          <a:bodyPr lIns="0" tIns="0" rIns="0" bIns="0">
            <a:noAutofit/>
          </a:bodyPr>
          <a:lstStyle/>
          <a:p>
            <a:pPr marL="0" marR="0" indent="0" algn="ctr" defTabSz="341376">
              <a:lnSpc>
                <a:spcPct val="105000"/>
              </a:lnSpc>
              <a:spcAft>
                <a:spcPts val="2590"/>
              </a:spcAft>
              <a:tabLst>
                <a:tab pos="341376" algn="l"/>
              </a:tabLst>
            </a:pPr>
            <a:r>
              <a:rPr lang="en-US" sz="1500">
                <a:solidFill>
                  <a:srgbClr val="DC5B2B"/>
                </a:solidFill>
                <a:latin typeface="Arial"/>
              </a:rPr>
              <a:t>■</a:t>
            </a:r>
            <a:r>
              <a:rPr lang="en-US" sz="2400">
                <a:latin typeface="Arial"/>
              </a:rPr>
              <a:t>	Forecast Direct Labor costs (unburdened)</a:t>
            </a:r>
          </a:p>
          <a:p>
            <a:pPr marL="0" marR="0" indent="0" defTabSz="341376">
              <a:spcAft>
                <a:spcPts val="280"/>
              </a:spcAft>
              <a:tabLst>
                <a:tab pos="341376" algn="l"/>
              </a:tabLst>
            </a:pPr>
            <a:r>
              <a:rPr lang="en-US" sz="1500">
                <a:solidFill>
                  <a:srgbClr val="DC5B2B"/>
                </a:solidFill>
                <a:latin typeface="Arial"/>
              </a:rPr>
              <a:t>■</a:t>
            </a:r>
            <a:r>
              <a:rPr lang="en-US" sz="2400">
                <a:latin typeface="Arial"/>
              </a:rPr>
              <a:t>	If Revenue declines, will Direct Labor also decline?</a:t>
            </a:r>
          </a:p>
          <a:p>
            <a:pPr marL="0" marR="0" indent="0" defTabSz="341376">
              <a:lnSpc>
                <a:spcPct val="105000"/>
              </a:lnSpc>
              <a:spcAft>
                <a:spcPts val="2590"/>
              </a:spcAft>
              <a:tabLst>
                <a:tab pos="341376" algn="l"/>
              </a:tabLst>
            </a:pPr>
            <a:r>
              <a:rPr lang="en-US" sz="1500">
                <a:solidFill>
                  <a:srgbClr val="DC5B2B"/>
                </a:solidFill>
                <a:latin typeface="Arial"/>
              </a:rPr>
              <a:t>■</a:t>
            </a:r>
            <a:r>
              <a:rPr lang="en-US" sz="2400">
                <a:latin typeface="Arial"/>
              </a:rPr>
              <a:t>	i.e. Pay by Job</a:t>
            </a:r>
          </a:p>
          <a:p>
            <a:pPr marL="0" marR="0" indent="0">
              <a:lnSpc>
                <a:spcPct val="105000"/>
              </a:lnSpc>
            </a:pPr>
            <a:r>
              <a:rPr lang="en-US" sz="1500">
                <a:solidFill>
                  <a:srgbClr val="DC5B2B"/>
                </a:solidFill>
                <a:latin typeface="Arial"/>
              </a:rPr>
              <a:t>■ </a:t>
            </a:r>
            <a:r>
              <a:rPr lang="en-US" sz="2400">
                <a:latin typeface="Arial"/>
              </a:rPr>
              <a:t>Staff Reductions?</a:t>
            </a: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51688" y="411480"/>
            <a:ext cx="7662672" cy="6163056"/>
          </a:xfrm>
          <a:prstGeom prst="rect">
            <a:avLst/>
          </a:prstGeom>
          <a:solidFill>
            <a:srgbClr val="FFFFFF"/>
          </a:solidFill>
        </p:spPr>
        <p:txBody>
          <a:bodyPr lIns="0" tIns="0" rIns="0" bIns="0">
            <a:noAutofit/>
          </a:bodyPr>
          <a:lstStyle/>
          <a:p>
            <a:pPr marL="0" marR="0" indent="0">
              <a:lnSpc>
                <a:spcPct val="81000"/>
              </a:lnSpc>
              <a:spcAft>
                <a:spcPts val="1190"/>
              </a:spcAft>
            </a:pPr>
            <a:r>
              <a:rPr lang="en-US" sz="3600">
                <a:solidFill>
                  <a:srgbClr val="DC5B2B"/>
                </a:solidFill>
                <a:latin typeface="Arial"/>
              </a:rPr>
              <a:t>Step Six: </a:t>
            </a:r>
            <a:r>
              <a:rPr lang="en-US" sz="2800">
                <a:solidFill>
                  <a:srgbClr val="DC5B2B"/>
                </a:solidFill>
                <a:latin typeface="Arial"/>
              </a:rPr>
              <a:t>Key Drivers (BS)</a:t>
            </a:r>
          </a:p>
          <a:p>
            <a:pPr marL="291152" marR="0" indent="-330200" defTabSz="632528">
              <a:spcAft>
                <a:spcPts val="3080"/>
              </a:spcAft>
              <a:tabLst>
                <a:tab pos="632528" algn="l"/>
              </a:tabLst>
            </a:pPr>
            <a:r>
              <a:rPr lang="en-US" sz="1950">
                <a:solidFill>
                  <a:srgbClr val="DC5B2B"/>
                </a:solidFill>
                <a:latin typeface="Arial"/>
              </a:rPr>
              <a:t>■</a:t>
            </a:r>
            <a:r>
              <a:rPr lang="en-US" sz="2800">
                <a:latin typeface="Arial"/>
              </a:rPr>
              <a:t>	Utilize your knowledge of sector and prior performance to forecast these drivers.</a:t>
            </a:r>
          </a:p>
          <a:p>
            <a:pPr marL="291152" marR="0" indent="-330200" defTabSz="632528">
              <a:lnSpc>
                <a:spcPct val="105000"/>
              </a:lnSpc>
              <a:spcAft>
                <a:spcPts val="3080"/>
              </a:spcAft>
              <a:tabLst>
                <a:tab pos="632528" algn="l"/>
              </a:tabLst>
            </a:pPr>
            <a:r>
              <a:rPr lang="en-US" sz="1950">
                <a:solidFill>
                  <a:srgbClr val="DC5B2B"/>
                </a:solidFill>
                <a:latin typeface="Arial"/>
              </a:rPr>
              <a:t>■</a:t>
            </a:r>
            <a:r>
              <a:rPr lang="en-US" sz="2800">
                <a:latin typeface="Arial"/>
              </a:rPr>
              <a:t>	A/R Days - If you know your customers are strongly effected (offices closed, etc), then you can assume your A/R Days will be higher than normal for the next 90 days, then returning to normal levels.</a:t>
            </a:r>
          </a:p>
          <a:p>
            <a:pPr marL="291152" marR="0" indent="-330200" defTabSz="632528">
              <a:tabLst>
                <a:tab pos="632528" algn="l"/>
              </a:tabLst>
            </a:pPr>
            <a:r>
              <a:rPr lang="en-US" sz="1950">
                <a:solidFill>
                  <a:srgbClr val="DC5B2B"/>
                </a:solidFill>
                <a:latin typeface="Arial"/>
              </a:rPr>
              <a:t>■</a:t>
            </a:r>
            <a:r>
              <a:rPr lang="en-US" sz="2800">
                <a:latin typeface="Arial"/>
              </a:rPr>
              <a:t>	A/P Days - If you can extend out some of your payment terms on payables, then you should increase the AP Days.</a:t>
            </a: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51688" y="411480"/>
            <a:ext cx="7946136" cy="3429000"/>
          </a:xfrm>
          <a:prstGeom prst="rect">
            <a:avLst/>
          </a:prstGeom>
          <a:solidFill>
            <a:srgbClr val="FFFFFF"/>
          </a:solidFill>
        </p:spPr>
        <p:txBody>
          <a:bodyPr lIns="0" tIns="0" rIns="0" bIns="0">
            <a:noAutofit/>
          </a:bodyPr>
          <a:lstStyle/>
          <a:p>
            <a:pPr marL="0" marR="0" indent="0">
              <a:lnSpc>
                <a:spcPct val="81000"/>
              </a:lnSpc>
              <a:spcAft>
                <a:spcPts val="1190"/>
              </a:spcAft>
            </a:pPr>
            <a:r>
              <a:rPr lang="en-US" sz="3600">
                <a:solidFill>
                  <a:srgbClr val="DC5B2B"/>
                </a:solidFill>
                <a:latin typeface="Arial"/>
              </a:rPr>
              <a:t>Step Seven: </a:t>
            </a:r>
            <a:r>
              <a:rPr lang="en-US" sz="2800">
                <a:solidFill>
                  <a:srgbClr val="DC5B2B"/>
                </a:solidFill>
                <a:latin typeface="Arial"/>
              </a:rPr>
              <a:t>Trade Capital (BS)</a:t>
            </a:r>
          </a:p>
          <a:p>
            <a:pPr marL="303852" marR="0" indent="-342900" defTabSz="645228">
              <a:spcAft>
                <a:spcPts val="3150"/>
              </a:spcAft>
              <a:tabLst>
                <a:tab pos="645228" algn="l"/>
              </a:tabLst>
            </a:pPr>
            <a:r>
              <a:rPr lang="en-US" sz="1950">
                <a:solidFill>
                  <a:srgbClr val="DC5B2B"/>
                </a:solidFill>
                <a:latin typeface="Arial"/>
              </a:rPr>
              <a:t>■</a:t>
            </a:r>
            <a:r>
              <a:rPr lang="en-US" sz="2800">
                <a:latin typeface="Arial"/>
              </a:rPr>
              <a:t>	Forecast for Inventory, Other Current Assets, and Other Liabilities.</a:t>
            </a:r>
          </a:p>
          <a:p>
            <a:pPr marL="303852" marR="0" indent="-342900" defTabSz="645228">
              <a:lnSpc>
                <a:spcPct val="105000"/>
              </a:lnSpc>
              <a:tabLst>
                <a:tab pos="645228" algn="l"/>
              </a:tabLst>
            </a:pPr>
            <a:r>
              <a:rPr lang="en-US" sz="1950">
                <a:solidFill>
                  <a:srgbClr val="DC5B2B"/>
                </a:solidFill>
                <a:latin typeface="Arial"/>
              </a:rPr>
              <a:t>■</a:t>
            </a:r>
            <a:r>
              <a:rPr lang="en-US" sz="2800">
                <a:latin typeface="Arial"/>
              </a:rPr>
              <a:t>	If your inventory is seasonal, link the $$ to same month prior year (with edits as needed for the crisis)</a:t>
            </a: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51688" y="411480"/>
            <a:ext cx="8034528" cy="5154168"/>
          </a:xfrm>
          <a:prstGeom prst="rect">
            <a:avLst/>
          </a:prstGeom>
          <a:solidFill>
            <a:srgbClr val="FFFFFF"/>
          </a:solidFill>
        </p:spPr>
        <p:txBody>
          <a:bodyPr lIns="0" tIns="0" rIns="0" bIns="0">
            <a:noAutofit/>
          </a:bodyPr>
          <a:lstStyle/>
          <a:p>
            <a:pPr marL="0" marR="0" indent="0">
              <a:spcAft>
                <a:spcPts val="1190"/>
              </a:spcAft>
            </a:pPr>
            <a:r>
              <a:rPr lang="en-US" sz="3600">
                <a:solidFill>
                  <a:srgbClr val="DC5B2B"/>
                </a:solidFill>
                <a:latin typeface="Arial"/>
              </a:rPr>
              <a:t>Step Eight: </a:t>
            </a:r>
            <a:r>
              <a:rPr lang="en-US" sz="2800">
                <a:solidFill>
                  <a:srgbClr val="DC5B2B"/>
                </a:solidFill>
                <a:latin typeface="Arial"/>
              </a:rPr>
              <a:t>Infrastructure &amp; Buffer Capital (BS)</a:t>
            </a:r>
          </a:p>
          <a:p>
            <a:pPr marL="303852" marR="0" indent="-342900" defTabSz="645228">
              <a:spcAft>
                <a:spcPts val="2170"/>
              </a:spcAft>
              <a:tabLst>
                <a:tab pos="645228" algn="l"/>
              </a:tabLst>
            </a:pPr>
            <a:r>
              <a:rPr lang="en-US" sz="1300">
                <a:solidFill>
                  <a:srgbClr val="DC5B2B"/>
                </a:solidFill>
                <a:latin typeface="Arial"/>
              </a:rPr>
              <a:t>■</a:t>
            </a:r>
            <a:r>
              <a:rPr lang="en-US" sz="2000">
                <a:latin typeface="Arial"/>
              </a:rPr>
              <a:t>	Forecast Fixed Asset purchases, any Fixed Term Debt, and any Line of Credit balances here.</a:t>
            </a:r>
          </a:p>
          <a:p>
            <a:pPr marL="303852" marR="0" indent="-342900" defTabSz="645228">
              <a:spcAft>
                <a:spcPts val="2170"/>
              </a:spcAft>
              <a:tabLst>
                <a:tab pos="645228" algn="l"/>
              </a:tabLst>
            </a:pPr>
            <a:r>
              <a:rPr lang="en-US" sz="1300">
                <a:solidFill>
                  <a:srgbClr val="DC5B2B"/>
                </a:solidFill>
                <a:latin typeface="Arial"/>
              </a:rPr>
              <a:t>■</a:t>
            </a:r>
            <a:r>
              <a:rPr lang="en-US" sz="2000">
                <a:latin typeface="Arial"/>
              </a:rPr>
              <a:t>	Note: Many Banks are deferring payments and new loans have very low interest rates.</a:t>
            </a:r>
          </a:p>
          <a:p>
            <a:pPr marL="303852" marR="0" indent="-342900" defTabSz="645228">
              <a:lnSpc>
                <a:spcPct val="107000"/>
              </a:lnSpc>
              <a:spcAft>
                <a:spcPts val="2170"/>
              </a:spcAft>
              <a:tabLst>
                <a:tab pos="645228" algn="l"/>
              </a:tabLst>
            </a:pPr>
            <a:r>
              <a:rPr lang="en-US" sz="1300">
                <a:solidFill>
                  <a:srgbClr val="DC5B2B"/>
                </a:solidFill>
                <a:latin typeface="Arial"/>
              </a:rPr>
              <a:t>■</a:t>
            </a:r>
            <a:r>
              <a:rPr lang="en-US" sz="2000">
                <a:latin typeface="Arial"/>
              </a:rPr>
              <a:t>	SBA Disaster Loans are good for longer term financing at low interest rates.</a:t>
            </a:r>
          </a:p>
          <a:p>
            <a:pPr marL="0" marR="0" indent="0" defTabSz="341376">
              <a:spcAft>
                <a:spcPts val="2170"/>
              </a:spcAft>
              <a:tabLst>
                <a:tab pos="341376" algn="l"/>
              </a:tabLst>
            </a:pPr>
            <a:r>
              <a:rPr lang="en-US" sz="1300">
                <a:solidFill>
                  <a:srgbClr val="DC5B2B"/>
                </a:solidFill>
                <a:latin typeface="Arial"/>
              </a:rPr>
              <a:t>■</a:t>
            </a:r>
            <a:r>
              <a:rPr lang="en-US" sz="2000">
                <a:latin typeface="Arial"/>
              </a:rPr>
              <a:t>	Stay informed on local (City and State) resources</a:t>
            </a:r>
          </a:p>
          <a:p>
            <a:pPr marL="303852" marR="0" indent="-342900" defTabSz="645228">
              <a:tabLst>
                <a:tab pos="645228" algn="l"/>
              </a:tabLst>
            </a:pPr>
            <a:r>
              <a:rPr lang="en-US" sz="1300">
                <a:solidFill>
                  <a:srgbClr val="DC5B2B"/>
                </a:solidFill>
                <a:latin typeface="Arial"/>
              </a:rPr>
              <a:t>■</a:t>
            </a:r>
            <a:r>
              <a:rPr lang="en-US" sz="2000">
                <a:latin typeface="Arial"/>
              </a:rPr>
              <a:t>	Template helps to quantify the cash flow need, given certain parameters and decisions.</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a:picLocks noChangeAspect="1"/>
          </p:cNvPicPr>
          <p:nvPr/>
        </p:nvPicPr>
        <p:blipFill>
          <a:blip r:embed="rId2"/>
          <a:stretch>
            <a:fillRect/>
          </a:stretch>
        </p:blipFill>
        <p:spPr>
          <a:xfrm>
            <a:off x="5833872" y="4514088"/>
            <a:ext cx="2505456" cy="1627632"/>
          </a:xfrm>
          <a:prstGeom prst="rect">
            <a:avLst/>
          </a:prstGeom>
        </p:spPr>
      </p:pic>
      <p:sp>
        <p:nvSpPr>
          <p:cNvPr id="3" name="Прямоугольник 2"/>
          <p:cNvSpPr/>
          <p:nvPr/>
        </p:nvSpPr>
        <p:spPr>
          <a:xfrm>
            <a:off x="551688" y="411480"/>
            <a:ext cx="6754368" cy="463296"/>
          </a:xfrm>
          <a:prstGeom prst="rect">
            <a:avLst/>
          </a:prstGeom>
          <a:solidFill>
            <a:srgbClr val="FFFFFF"/>
          </a:solidFill>
        </p:spPr>
        <p:txBody>
          <a:bodyPr wrap="none" lIns="0" tIns="0" rIns="0" bIns="0">
            <a:noAutofit/>
          </a:bodyPr>
          <a:lstStyle/>
          <a:p>
            <a:pPr marL="0" marR="0" indent="0"/>
            <a:r>
              <a:rPr lang="en-US" sz="3600">
                <a:solidFill>
                  <a:srgbClr val="DC5B2B"/>
                </a:solidFill>
                <a:latin typeface="Arial"/>
              </a:rPr>
              <a:t>Step Nine: </a:t>
            </a:r>
            <a:r>
              <a:rPr lang="en-US" sz="2800">
                <a:solidFill>
                  <a:srgbClr val="DC5B2B"/>
                </a:solidFill>
                <a:latin typeface="Arial"/>
              </a:rPr>
              <a:t>Distributions &amp; Contributions</a:t>
            </a:r>
          </a:p>
        </p:txBody>
      </p:sp>
      <p:sp>
        <p:nvSpPr>
          <p:cNvPr id="4" name="Прямоугольник 3"/>
          <p:cNvSpPr/>
          <p:nvPr/>
        </p:nvSpPr>
        <p:spPr>
          <a:xfrm>
            <a:off x="560832" y="1176528"/>
            <a:ext cx="4864608" cy="1316736"/>
          </a:xfrm>
          <a:prstGeom prst="rect">
            <a:avLst/>
          </a:prstGeom>
          <a:solidFill>
            <a:srgbClr val="FFFFFF"/>
          </a:solidFill>
        </p:spPr>
        <p:txBody>
          <a:bodyPr lIns="0" tIns="0" rIns="0" bIns="0">
            <a:noAutofit/>
          </a:bodyPr>
          <a:lstStyle/>
          <a:p>
            <a:pPr marL="0" marR="0" indent="0" defTabSz="341376">
              <a:spcAft>
                <a:spcPts val="3150"/>
              </a:spcAft>
              <a:tabLst>
                <a:tab pos="341376" algn="l"/>
              </a:tabLst>
            </a:pPr>
            <a:r>
              <a:rPr lang="en-US" sz="1950">
                <a:solidFill>
                  <a:srgbClr val="DC5B2B"/>
                </a:solidFill>
                <a:latin typeface="Arial"/>
              </a:rPr>
              <a:t>■</a:t>
            </a:r>
            <a:r>
              <a:rPr lang="en-US" sz="2800">
                <a:latin typeface="Arial"/>
              </a:rPr>
              <a:t>	Include any Tax Distributions</a:t>
            </a:r>
          </a:p>
          <a:p>
            <a:pPr marL="0" marR="0" indent="0" defTabSz="341376">
              <a:tabLst>
                <a:tab pos="341376" algn="l"/>
              </a:tabLst>
            </a:pPr>
            <a:r>
              <a:rPr lang="en-US" sz="1950">
                <a:solidFill>
                  <a:srgbClr val="DC5B2B"/>
                </a:solidFill>
                <a:latin typeface="Arial"/>
              </a:rPr>
              <a:t>■</a:t>
            </a:r>
            <a:r>
              <a:rPr lang="en-US" sz="2800">
                <a:latin typeface="Arial"/>
              </a:rPr>
              <a:t>	STOP Profit Distributions</a:t>
            </a:r>
          </a:p>
        </p:txBody>
      </p:sp>
      <p:sp>
        <p:nvSpPr>
          <p:cNvPr id="5" name="Прямоугольник 4"/>
          <p:cNvSpPr/>
          <p:nvPr/>
        </p:nvSpPr>
        <p:spPr>
          <a:xfrm>
            <a:off x="560832" y="3221736"/>
            <a:ext cx="7165848" cy="295656"/>
          </a:xfrm>
          <a:prstGeom prst="rect">
            <a:avLst/>
          </a:prstGeom>
          <a:solidFill>
            <a:srgbClr val="FFFFFF"/>
          </a:solidFill>
        </p:spPr>
        <p:txBody>
          <a:bodyPr wrap="none" lIns="0" tIns="0" rIns="0" bIns="0">
            <a:noAutofit/>
          </a:bodyPr>
          <a:lstStyle/>
          <a:p>
            <a:pPr marL="0" marR="0" indent="0" defTabSz="341376">
              <a:tabLst>
                <a:tab pos="341376" algn="l"/>
              </a:tabLst>
            </a:pPr>
            <a:r>
              <a:rPr lang="en-US" sz="1950">
                <a:solidFill>
                  <a:srgbClr val="DC5B2B"/>
                </a:solidFill>
                <a:latin typeface="Arial"/>
              </a:rPr>
              <a:t>■</a:t>
            </a:r>
            <a:r>
              <a:rPr lang="en-US" sz="2800">
                <a:latin typeface="Arial"/>
              </a:rPr>
              <a:t>	Is there cash that can be Contributed to the</a:t>
            </a:r>
          </a:p>
        </p:txBody>
      </p:sp>
      <p:sp>
        <p:nvSpPr>
          <p:cNvPr id="6" name="Прямоугольник 5"/>
          <p:cNvSpPr/>
          <p:nvPr/>
        </p:nvSpPr>
        <p:spPr>
          <a:xfrm>
            <a:off x="871728" y="3648456"/>
            <a:ext cx="7025640" cy="777240"/>
          </a:xfrm>
          <a:prstGeom prst="rect">
            <a:avLst/>
          </a:prstGeom>
          <a:solidFill>
            <a:srgbClr val="FFFFFF"/>
          </a:solidFill>
        </p:spPr>
        <p:txBody>
          <a:bodyPr lIns="0" tIns="0" rIns="0" bIns="0">
            <a:noAutofit/>
          </a:bodyPr>
          <a:lstStyle/>
          <a:p>
            <a:pPr marL="0" marR="0" indent="0"/>
            <a:r>
              <a:rPr lang="en-US" sz="2800">
                <a:latin typeface="Arial"/>
              </a:rPr>
              <a:t>company from owner(s)? How much are you willing to invest?</a:t>
            </a: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551688" y="411480"/>
            <a:ext cx="7970520" cy="6074664"/>
          </a:xfrm>
          <a:prstGeom prst="rect">
            <a:avLst/>
          </a:prstGeom>
          <a:solidFill>
            <a:srgbClr val="FFFFFF"/>
          </a:solidFill>
        </p:spPr>
        <p:txBody>
          <a:bodyPr lIns="0" tIns="0" rIns="0" bIns="0">
            <a:noAutofit/>
          </a:bodyPr>
          <a:lstStyle/>
          <a:p>
            <a:pPr marL="0" marR="0" indent="0">
              <a:lnSpc>
                <a:spcPct val="81000"/>
              </a:lnSpc>
              <a:spcAft>
                <a:spcPts val="1190"/>
              </a:spcAft>
            </a:pPr>
            <a:r>
              <a:rPr lang="en-US" sz="3600">
                <a:solidFill>
                  <a:srgbClr val="DC5B2B"/>
                </a:solidFill>
                <a:latin typeface="Arial"/>
              </a:rPr>
              <a:t>Step Ten: </a:t>
            </a:r>
            <a:r>
              <a:rPr lang="en-US" sz="2800">
                <a:solidFill>
                  <a:srgbClr val="DC5B2B"/>
                </a:solidFill>
                <a:latin typeface="Arial"/>
              </a:rPr>
              <a:t>Stop. Analyze.</a:t>
            </a:r>
          </a:p>
          <a:p>
            <a:pPr marL="291152" marR="0" indent="-330200" defTabSz="632528">
              <a:spcAft>
                <a:spcPts val="280"/>
              </a:spcAft>
              <a:tabLst>
                <a:tab pos="632528" algn="l"/>
              </a:tabLst>
            </a:pPr>
            <a:r>
              <a:rPr lang="en-US" sz="1950">
                <a:solidFill>
                  <a:srgbClr val="DC5B2B"/>
                </a:solidFill>
                <a:latin typeface="Arial"/>
              </a:rPr>
              <a:t>■</a:t>
            </a:r>
            <a:r>
              <a:rPr lang="en-US" sz="2800">
                <a:latin typeface="Arial"/>
              </a:rPr>
              <a:t>	Look at debt incurred and determine how long it will take to repay? Delayed gratification because once operations return to normal, still repaying debt.</a:t>
            </a:r>
          </a:p>
          <a:p>
            <a:pPr marL="291152" marR="0" indent="-330200" defTabSz="632528">
              <a:lnSpc>
                <a:spcPct val="105000"/>
              </a:lnSpc>
              <a:spcAft>
                <a:spcPts val="280"/>
              </a:spcAft>
              <a:tabLst>
                <a:tab pos="632528" algn="l"/>
              </a:tabLst>
            </a:pPr>
            <a:r>
              <a:rPr lang="en-US" sz="1950">
                <a:solidFill>
                  <a:srgbClr val="DC5B2B"/>
                </a:solidFill>
                <a:latin typeface="Arial"/>
              </a:rPr>
              <a:t>■</a:t>
            </a:r>
            <a:r>
              <a:rPr lang="en-US" sz="2800">
                <a:latin typeface="Arial"/>
              </a:rPr>
              <a:t>	If you have cash, if you could get a loan, how long will it take of future normal operations to repay?</a:t>
            </a:r>
          </a:p>
          <a:p>
            <a:pPr marL="291152" marR="0" indent="-330200" defTabSz="632528">
              <a:lnSpc>
                <a:spcPct val="105000"/>
              </a:lnSpc>
              <a:spcAft>
                <a:spcPts val="280"/>
              </a:spcAft>
              <a:tabLst>
                <a:tab pos="632528" algn="l"/>
              </a:tabLst>
            </a:pPr>
            <a:r>
              <a:rPr lang="en-US" sz="1950">
                <a:solidFill>
                  <a:srgbClr val="DC5B2B"/>
                </a:solidFill>
                <a:latin typeface="Arial"/>
              </a:rPr>
              <a:t>■</a:t>
            </a:r>
            <a:r>
              <a:rPr lang="en-US" sz="2800">
                <a:latin typeface="Arial"/>
              </a:rPr>
              <a:t>	Is it better to go dark and relaunch business at future time (fixing all the things you would do differently)? Dark could be closing doors and liquidating OR just temporarily closing business.</a:t>
            </a:r>
          </a:p>
          <a:p>
            <a:pPr marL="0" marR="0" indent="0" defTabSz="341376">
              <a:lnSpc>
                <a:spcPct val="105000"/>
              </a:lnSpc>
              <a:tabLst>
                <a:tab pos="341376" algn="l"/>
              </a:tabLst>
            </a:pPr>
            <a:r>
              <a:rPr lang="en-US" sz="1950">
                <a:solidFill>
                  <a:srgbClr val="DC5B2B"/>
                </a:solidFill>
                <a:latin typeface="Arial"/>
              </a:rPr>
              <a:t>■</a:t>
            </a:r>
            <a:r>
              <a:rPr lang="en-US" sz="2800">
                <a:latin typeface="Arial"/>
              </a:rPr>
              <a:t>	Prepare 3 versions - best, worst, expected</a:t>
            </a:r>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2346</Words>
  <Application>Microsoft Office PowerPoint</Application>
  <PresentationFormat>Экран (4:3)</PresentationFormat>
  <Paragraphs>568</Paragraphs>
  <Slides>25</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25</vt:i4>
      </vt:variant>
    </vt:vector>
  </HeadingPairs>
  <TitlesOfParts>
    <vt:vector size="32" baseType="lpstr">
      <vt:lpstr>Arial</vt:lpstr>
      <vt:lpstr>Bookman Old Style</vt:lpstr>
      <vt:lpstr>Calibri</vt:lpstr>
      <vt:lpstr>Tahoma</vt:lpstr>
      <vt:lpstr>Times New Roman</vt:lpstr>
      <vt:lpstr>Verdana</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Veronica Cram</dc:creator>
  <cp:keywords/>
  <cp:lastModifiedBy>Алексей Левицкий</cp:lastModifiedBy>
  <cp:revision>2</cp:revision>
  <dcterms:modified xsi:type="dcterms:W3CDTF">2024-11-26T13:24:11Z</dcterms:modified>
</cp:coreProperties>
</file>